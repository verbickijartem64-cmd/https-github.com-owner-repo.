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9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Доклад (10 минут)" id="{6f3ba9ac-73a6-8b84-5435-a5638e3709be}">
          <p14:sldIdLst>
            <p14:sldId id="256"/>
            <p14:sldId id="257"/>
            <p14:sldId id="258"/>
            <p14:sldId id="259"/>
          </p14:sldIdLst>
        </p14:section>
        <p14:section name="Опыт и результаты" id="{81452e41-de6f-d259-7ea3-46b0cb6d2217}">
          <p14:sldIdLst>
            <p14:sldId id="260"/>
            <p14:sldId id="261"/>
          </p14:sldIdLst>
        </p14:section>
        <p14:section name="Доказательства" id="{1ace7957-31f8-6389-c128-1cc477b00170}">
          <p14:sldIdLst>
            <p14:sldId id="262"/>
            <p14:sldId id="263"/>
            <p14:sldId id="264"/>
          </p14:sldIdLst>
        </p14:section>
        <p14:section name="Что делать" id="{1cce929d-d7c0-7835-6d9c-fd70677d1d21}">
          <p14:sldIdLst>
            <p14:sldId id="265"/>
            <p14:sldId id="266"/>
            <p14:sldId id="267"/>
          </p14:sldIdLst>
        </p14:section>
        <p14:section name="Запасные слайды" id="{2bd8dc4c-f232-9b92-7299-228a89cd0c87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A1E1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A1E16"/>
                </a:solidFill>
                <a:latin typeface="+mn-lt"/>
              </a:rPr>
              <a:t>«Дорога» для волны: во сколько раз медленнее, чем в воздухе (√ε)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√ε</c:v>
                </c:pt>
              </c:strCache>
            </c:strRef>
          </c:tx>
          <c:spPr>
            <a:solidFill>
              <a:srgbClr val="1C7C8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A1E1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Воздух</c:v>
                  </c:pt>
                  <c:pt idx="1">
                    <c:v>Минералы</c:v>
                  </c:pt>
                  <c:pt idx="2">
                    <c:v>Вода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2.17</c:v>
                </c:pt>
                <c:pt idx="2">
                  <c:v>8.94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2A1E1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A1E1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A1E16"/>
                </a:solidFill>
                <a:latin typeface="+mn-lt"/>
              </a:rPr>
              <a:t>Схема: прибор срабатывает, как будильник по громкости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сильный сигнал (почва-изолятор)</c:v>
                </c:pt>
              </c:strCache>
            </c:strRef>
          </c:tx>
          <c:spPr>
            <a:solidFill>
              <a:srgbClr val="1C7C8C"/>
            </a:solidFill>
            <a:ln w="38100" cap="flat">
              <a:solidFill>
                <a:srgbClr val="1C7C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C7C8C"/>
              </a:solidFill>
              <a:ln w="9525" cap="flat">
                <a:solidFill>
                  <a:srgbClr val="1C7C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0</c:v>
                </c:pt>
                <c:pt idx="1">
                  <c:v>0.33</c:v>
                </c:pt>
                <c:pt idx="2">
                  <c:v>0.551</c:v>
                </c:pt>
                <c:pt idx="3">
                  <c:v>0.699</c:v>
                </c:pt>
                <c:pt idx="4">
                  <c:v>0.798</c:v>
                </c:pt>
                <c:pt idx="5">
                  <c:v>0.865</c:v>
                </c:pt>
                <c:pt idx="6">
                  <c:v>0.909</c:v>
                </c:pt>
                <c:pt idx="7">
                  <c:v>0.939</c:v>
                </c:pt>
                <c:pt idx="8">
                  <c:v>0.959</c:v>
                </c:pt>
                <c:pt idx="9">
                  <c:v>0.973</c:v>
                </c:pt>
                <c:pt idx="10">
                  <c:v>0.982</c:v>
                </c:pt>
                <c:pt idx="11">
                  <c:v>0.988</c:v>
                </c:pt>
                <c:pt idx="12">
                  <c:v>0.992</c:v>
                </c:pt>
                <c:pt idx="13">
                  <c:v>0.994</c:v>
                </c:pt>
                <c:pt idx="14">
                  <c:v>0.996</c:v>
                </c:pt>
                <c:pt idx="15">
                  <c:v>0.998</c:v>
                </c:pt>
                <c:pt idx="16">
                  <c:v>0.998</c:v>
                </c:pt>
                <c:pt idx="17">
                  <c:v>0.999</c:v>
                </c:pt>
                <c:pt idx="18">
                  <c:v>0.999</c:v>
                </c:pt>
                <c:pt idx="19">
                  <c:v>0.999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ослабленный сигнал (проводящая почва)</c:v>
                </c:pt>
              </c:strCache>
            </c:strRef>
          </c:tx>
          <c:spPr>
            <a:solidFill>
              <a:srgbClr val="B8552F"/>
            </a:solidFill>
            <a:ln w="38100" cap="flat">
              <a:solidFill>
                <a:srgbClr val="B8552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552F"/>
              </a:solidFill>
              <a:ln w="9525" cap="flat">
                <a:solidFill>
                  <a:srgbClr val="B8552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</c:lvl>
              </c:multiLvlStrCache>
            </c:multiLvl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0</c:v>
                </c:pt>
                <c:pt idx="1">
                  <c:v>0.133</c:v>
                </c:pt>
                <c:pt idx="2">
                  <c:v>0.236</c:v>
                </c:pt>
                <c:pt idx="3">
                  <c:v>0.317</c:v>
                </c:pt>
                <c:pt idx="4">
                  <c:v>0.379</c:v>
                </c:pt>
                <c:pt idx="5">
                  <c:v>0.428</c:v>
                </c:pt>
                <c:pt idx="6">
                  <c:v>0.466</c:v>
                </c:pt>
                <c:pt idx="7">
                  <c:v>0.496</c:v>
                </c:pt>
                <c:pt idx="8">
                  <c:v>0.519</c:v>
                </c:pt>
                <c:pt idx="9">
                  <c:v>0.537</c:v>
                </c:pt>
                <c:pt idx="10">
                  <c:v>0.551</c:v>
                </c:pt>
                <c:pt idx="11">
                  <c:v>0.562</c:v>
                </c:pt>
                <c:pt idx="12">
                  <c:v>0.57</c:v>
                </c:pt>
                <c:pt idx="13">
                  <c:v>0.577</c:v>
                </c:pt>
                <c:pt idx="14">
                  <c:v>0.582</c:v>
                </c:pt>
                <c:pt idx="15">
                  <c:v>0.586</c:v>
                </c:pt>
                <c:pt idx="16">
                  <c:v>0.589</c:v>
                </c:pt>
                <c:pt idx="17">
                  <c:v>0.591</c:v>
                </c:pt>
                <c:pt idx="18">
                  <c:v>0.593</c:v>
                </c:pt>
                <c:pt idx="19">
                  <c:v>0.595</c:v>
                </c:pt>
                <c:pt idx="20">
                  <c:v>0.596</c:v>
                </c:pt>
                <c:pt idx="21">
                  <c:v>0.597</c:v>
                </c:pt>
                <c:pt idx="22">
                  <c:v>0.598</c:v>
                </c:pt>
                <c:pt idx="23">
                  <c:v>0.598</c:v>
                </c:pt>
                <c:pt idx="24">
                  <c:v>0.599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порог срабатывания</c:v>
                </c:pt>
              </c:strCache>
            </c:strRef>
          </c:tx>
          <c:spPr>
            <a:solidFill>
              <a:srgbClr val="D9A441"/>
            </a:solidFill>
            <a:ln w="38100" cap="flat">
              <a:solidFill>
                <a:srgbClr val="D9A441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A441"/>
              </a:solidFill>
              <a:ln w="9525" cap="flat">
                <a:solidFill>
                  <a:srgbClr val="D9A4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</c:lvl>
              </c:multiLvlStrCache>
            </c:multiLvl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0.45</c:v>
                </c:pt>
                <c:pt idx="1">
                  <c:v>0.45</c:v>
                </c:pt>
                <c:pt idx="2">
                  <c:v>0.45</c:v>
                </c:pt>
                <c:pt idx="3">
                  <c:v>0.45</c:v>
                </c:pt>
                <c:pt idx="4">
                  <c:v>0.45</c:v>
                </c:pt>
                <c:pt idx="5">
                  <c:v>0.45</c:v>
                </c:pt>
                <c:pt idx="6">
                  <c:v>0.45</c:v>
                </c:pt>
                <c:pt idx="7">
                  <c:v>0.45</c:v>
                </c:pt>
                <c:pt idx="8">
                  <c:v>0.45</c:v>
                </c:pt>
                <c:pt idx="9">
                  <c:v>0.45</c:v>
                </c:pt>
                <c:pt idx="10">
                  <c:v>0.45</c:v>
                </c:pt>
                <c:pt idx="11">
                  <c:v>0.45</c:v>
                </c:pt>
                <c:pt idx="12">
                  <c:v>0.45</c:v>
                </c:pt>
                <c:pt idx="13">
                  <c:v>0.45</c:v>
                </c:pt>
                <c:pt idx="14">
                  <c:v>0.45</c:v>
                </c:pt>
                <c:pt idx="15">
                  <c:v>0.45</c:v>
                </c:pt>
                <c:pt idx="16">
                  <c:v>0.45</c:v>
                </c:pt>
                <c:pt idx="17">
                  <c:v>0.45</c:v>
                </c:pt>
                <c:pt idx="18">
                  <c:v>0.45</c:v>
                </c:pt>
                <c:pt idx="19">
                  <c:v>0.45</c:v>
                </c:pt>
                <c:pt idx="20">
                  <c:v>0.45</c:v>
                </c:pt>
                <c:pt idx="21">
                  <c:v>0.45</c:v>
                </c:pt>
                <c:pt idx="22">
                  <c:v>0.45</c:v>
                </c:pt>
                <c:pt idx="23">
                  <c:v>0.45</c:v>
                </c:pt>
                <c:pt idx="24">
                  <c:v>0.45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5B463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 (10–20 % физ. глины)</c:v>
                </c:pt>
              </c:strCache>
            </c:strRef>
          </c:tx>
          <c:spPr>
            <a:solidFill>
              <a:srgbClr val="1C7C8C"/>
            </a:solidFill>
            <a:ln w="28575" cap="flat">
              <a:solidFill>
                <a:srgbClr val="1C7C8C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1C7C8C"/>
              </a:solidFill>
              <a:ln w="9525" cap="flat">
                <a:solidFill>
                  <a:srgbClr val="1C7C8C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0.05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0.38</c:v>
                </c:pt>
                <c:pt idx="5">
                  <c:v>0.4</c:v>
                </c:pt>
                <c:pt idx="6">
                  <c:v>0.44</c:v>
                </c:pt>
                <c:pt idx="7">
                  <c:v>0.48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0.001</c:v>
                </c:pt>
                <c:pt idx="2">
                  <c:v>0.003</c:v>
                </c:pt>
                <c:pt idx="3">
                  <c:v>0.005</c:v>
                </c:pt>
                <c:pt idx="4">
                  <c:v>0.01</c:v>
                </c:pt>
                <c:pt idx="5">
                  <c:v>0.011</c:v>
                </c:pt>
                <c:pt idx="6">
                  <c:v/>
                </c:pt>
                <c:pt idx="7">
                  <c:v/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 (40–50 %)</c:v>
                </c:pt>
              </c:strCache>
            </c:strRef>
          </c:tx>
          <c:spPr>
            <a:solidFill>
              <a:srgbClr val="8C6A4F"/>
            </a:solidFill>
            <a:ln w="28575" cap="flat">
              <a:solidFill>
                <a:srgbClr val="8C6A4F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8C6A4F"/>
              </a:solidFill>
              <a:ln w="9525" cap="flat">
                <a:solidFill>
                  <a:srgbClr val="8C6A4F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0.05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0.38</c:v>
                </c:pt>
                <c:pt idx="5">
                  <c:v>0.4</c:v>
                </c:pt>
                <c:pt idx="6">
                  <c:v>0.44</c:v>
                </c:pt>
                <c:pt idx="7">
                  <c:v>0.48</c:v>
                </c:pt>
              </c:numCache>
            </c:numRef>
          </c:xVal>
          <c:yVal>
            <c:numRef>
              <c:f>Sheet1!$C$2:$C$9</c:f>
              <c:numCache>
                <c:formatCode>General</c:formatCode>
                <c:ptCount val="8"/>
                <c:pt idx="0">
                  <c:v>0.001</c:v>
                </c:pt>
                <c:pt idx="1">
                  <c:v>0.002</c:v>
                </c:pt>
                <c:pt idx="2">
                  <c:v>0.005</c:v>
                </c:pt>
                <c:pt idx="3">
                  <c:v>0.009</c:v>
                </c:pt>
                <c:pt idx="4">
                  <c:v>0.017</c:v>
                </c:pt>
                <c:pt idx="5">
                  <c:v>0.019</c:v>
                </c:pt>
                <c:pt idx="6">
                  <c:v/>
                </c:pt>
                <c:pt idx="7">
                  <c:v/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 (50–65 %)</c:v>
                </c:pt>
              </c:strCache>
            </c:strRef>
          </c:tx>
          <c:spPr>
            <a:solidFill>
              <a:srgbClr val="B8552F"/>
            </a:solidFill>
            <a:ln w="28575" cap="flat">
              <a:solidFill>
                <a:srgbClr val="B8552F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B8552F"/>
              </a:solidFill>
              <a:ln w="9525" cap="flat">
                <a:solidFill>
                  <a:srgbClr val="B8552F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0.05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0.38</c:v>
                </c:pt>
                <c:pt idx="5">
                  <c:v>0.4</c:v>
                </c:pt>
                <c:pt idx="6">
                  <c:v>0.44</c:v>
                </c:pt>
                <c:pt idx="7">
                  <c:v>0.48</c:v>
                </c:pt>
              </c:numCache>
            </c:numRef>
          </c:xVal>
          <c:yVal>
            <c:numRef>
              <c:f>Sheet1!$D$2:$D$9</c:f>
              <c:numCache>
                <c:formatCode>General</c:formatCode>
                <c:ptCount val="8"/>
                <c:pt idx="0">
                  <c:v>0.001</c:v>
                </c:pt>
                <c:pt idx="1">
                  <c:v>0.002</c:v>
                </c:pt>
                <c:pt idx="2">
                  <c:v>0.006</c:v>
                </c:pt>
                <c:pt idx="3">
                  <c:v>0.012</c:v>
                </c:pt>
                <c:pt idx="4">
                  <c:v>0.022</c:v>
                </c:pt>
                <c:pt idx="5">
                  <c:v>0.027</c:v>
                </c:pt>
                <c:pt idx="6">
                  <c:v/>
                </c:pt>
                <c:pt idx="7">
                  <c:v/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C: состояния вне анализа</c:v>
                </c:pt>
              </c:strCache>
            </c:strRef>
          </c:tx>
          <c:spPr>
            <a:solidFill>
              <a:srgbClr val="E3A98F"/>
            </a:solidFill>
            <a:ln w="28575" cap="flat">
              <a:solidFill>
                <a:srgbClr val="E3A98F"/>
              </a:solidFill>
              <a:prstDash val="sysDash"/>
              <a:round/>
            </a:ln>
            <a:effectLst/>
          </c:spPr>
          <c:marker>
            <c:symbol val="circle"/>
            <c:size val="8"/>
            <c:spPr>
              <a:solidFill>
                <a:srgbClr val="E3A98F"/>
              </a:solidFill>
              <a:ln w="9525" cap="flat">
                <a:solidFill>
                  <a:srgbClr val="E3A98F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0.05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0.38</c:v>
                </c:pt>
                <c:pt idx="5">
                  <c:v>0.4</c:v>
                </c:pt>
                <c:pt idx="6">
                  <c:v>0.44</c:v>
                </c:pt>
                <c:pt idx="7">
                  <c:v>0.48</c:v>
                </c:pt>
              </c:numCache>
            </c:numRef>
          </c:xVal>
          <c:yVal>
            <c:numRef>
              <c:f>Sheet1!$E$2:$E$9</c:f>
              <c:numCache>
                <c:formatCode>General</c:formatCode>
                <c:ptCount val="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0.027</c:v>
                </c:pt>
                <c:pt idx="6">
                  <c:v>0.031</c:v>
                </c:pt>
                <c:pt idx="7">
                  <c:v>0.038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Паспортный предел 0,025</c:v>
                </c:pt>
              </c:strCache>
            </c:strRef>
          </c:tx>
          <c:spPr>
            <a:solidFill>
              <a:srgbClr val="6E7F80"/>
            </a:solidFill>
            <a:ln w="28575" cap="flat">
              <a:solidFill>
                <a:srgbClr val="6E7F80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Sheet1!$A$2:$A$9</c:f>
              <c:numCache>
                <c:formatCode>General</c:formatCode>
                <c:ptCount val="8"/>
                <c:pt idx="0">
                  <c:v>0.05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0.38</c:v>
                </c:pt>
                <c:pt idx="5">
                  <c:v>0.4</c:v>
                </c:pt>
                <c:pt idx="6">
                  <c:v>0.44</c:v>
                </c:pt>
                <c:pt idx="7">
                  <c:v>0.48</c:v>
                </c:pt>
              </c:numCache>
            </c:numRef>
          </c:xVal>
          <c:yVal>
            <c:numRef>
              <c:f>Sheet1!$F$2:$F$9</c:f>
              <c:numCache>
                <c:formatCode>General</c:formatCode>
                <c:ptCount val="8"/>
                <c:pt idx="0">
                  <c:v>0.025</c:v>
                </c:pt>
                <c:pt idx="1">
                  <c:v>0.025</c:v>
                </c:pt>
                <c:pt idx="2">
                  <c:v>0.025</c:v>
                </c:pt>
                <c:pt idx="3">
                  <c:v>0.025</c:v>
                </c:pt>
                <c:pt idx="4">
                  <c:v>0.025</c:v>
                </c:pt>
                <c:pt idx="5">
                  <c:v>0.025</c:v>
                </c:pt>
                <c:pt idx="6">
                  <c:v>0.025</c:v>
                </c:pt>
                <c:pt idx="7">
                  <c:v>0.025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0.5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4636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B4636"/>
                    </a:solidFill>
                    <a:latin typeface="+mn-lt"/>
                  </a:rPr>
                  <a:t>влажность по эталону θ, м³/м³ (плотность 1,35 г/см³)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0.1"/>
      </c:valAx>
      <c:valAx>
        <c:axId val="2094734552"/>
        <c:scaling>
          <c:orientation val="minMax"/>
          <c:max val="0.04"/>
          <c:min val="0"/>
        </c:scaling>
        <c:delete val="0"/>
        <c:axPos val="l"/>
        <c:majorGridlines>
          <c:spPr>
            <a:ln w="6350" cap="flat">
              <a:solidFill>
                <a:srgbClr val="D9DE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4636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B4636"/>
                    </a:solidFill>
                    <a:latin typeface="+mn-lt"/>
                  </a:rPr>
                  <a:t>ошибка Δθ, м³/м³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  <c:majorUnit val="0.00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463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A1E1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A1E16"/>
                </a:solidFill>
                <a:latin typeface="+mn-lt"/>
              </a:rPr>
              <a:t>Доли разброса ошибки (60 средних по колонкам)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Почва 9,1 %</c:v>
                </c:pt>
              </c:strCache>
            </c:strRef>
          </c:tx>
          <c:spPr>
            <a:solidFill>
              <a:srgbClr val="B855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/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9.1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Плотность 1,0 %</c:v>
                </c:pt>
              </c:strCache>
            </c:strRef>
          </c:tx>
          <c:spPr>
            <a:solidFill>
              <a:srgbClr val="8C6A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/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Взаимодействие 0,1 %</c:v>
                </c:pt>
              </c:strCache>
            </c:strRef>
          </c:tx>
          <c:spPr>
            <a:solidFill>
              <a:srgbClr val="D9A4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/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0.1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Внутри вариантов 89,8 %</c:v>
                </c:pt>
              </c:strCache>
            </c:strRef>
          </c:tx>
          <c:spPr>
            <a:solidFill>
              <a:srgbClr val="C9D1C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/>
                  </c:pt>
                </c:lvl>
              </c:multiLvlStrCache>
            </c:multiLvl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89.8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463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A1E1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A1E16"/>
                </a:solidFill>
                <a:latin typeface="+mn-lt"/>
              </a:rPr>
              <a:t>Равная влажность (1,35 г/см³): ни одна линия не идёт вниз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θ = 0,05</c:v>
                </c:pt>
              </c:strCache>
            </c:strRef>
          </c:tx>
          <c:spPr>
            <a:solidFill>
              <a:srgbClr val="9FD0D6"/>
            </a:solidFill>
            <a:ln w="38100" cap="flat">
              <a:solidFill>
                <a:srgbClr val="9FD0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9FD0D6"/>
              </a:solidFill>
              <a:ln w="9525" cap="flat">
                <a:solidFill>
                  <a:srgbClr val="9FD0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0.001</c:v>
                </c:pt>
                <c:pt idx="2">
                  <c:v>0.001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θ = 0,10</c:v>
                </c:pt>
              </c:strCache>
            </c:strRef>
          </c:tx>
          <c:spPr>
            <a:solidFill>
              <a:srgbClr val="72BAC3"/>
            </a:solidFill>
            <a:ln w="38100" cap="flat">
              <a:solidFill>
                <a:srgbClr val="72BAC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72BAC3"/>
              </a:solidFill>
              <a:ln w="9525" cap="flat">
                <a:solidFill>
                  <a:srgbClr val="72BAC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0.001</c:v>
                </c:pt>
                <c:pt idx="1">
                  <c:v>0.002</c:v>
                </c:pt>
                <c:pt idx="2">
                  <c:v>0.002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θ = 0,20</c:v>
                </c:pt>
              </c:strCache>
            </c:strRef>
          </c:tx>
          <c:spPr>
            <a:solidFill>
              <a:srgbClr val="4CA3AF"/>
            </a:solidFill>
            <a:ln w="38100" cap="flat">
              <a:solidFill>
                <a:srgbClr val="4CA3A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4CA3AF"/>
              </a:solidFill>
              <a:ln w="9525" cap="flat">
                <a:solidFill>
                  <a:srgbClr val="4CA3A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0.003</c:v>
                </c:pt>
                <c:pt idx="1">
                  <c:v>0.005</c:v>
                </c:pt>
                <c:pt idx="2">
                  <c:v>0.006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θ = 0,30</c:v>
                </c:pt>
              </c:strCache>
            </c:strRef>
          </c:tx>
          <c:spPr>
            <a:solidFill>
              <a:srgbClr val="2C8C9A"/>
            </a:solidFill>
            <a:ln w="38100" cap="flat">
              <a:solidFill>
                <a:srgbClr val="2C8C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C8C9A"/>
              </a:solidFill>
              <a:ln w="9525" cap="flat">
                <a:solidFill>
                  <a:srgbClr val="2C8C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0.005</c:v>
                </c:pt>
                <c:pt idx="1">
                  <c:v>0.009</c:v>
                </c:pt>
                <c:pt idx="2">
                  <c:v>0.012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θ = 0,38</c:v>
                </c:pt>
              </c:strCache>
            </c:strRef>
          </c:tx>
          <c:spPr>
            <a:solidFill>
              <a:srgbClr val="1C7484"/>
            </a:solidFill>
            <a:ln w="38100" cap="flat">
              <a:solidFill>
                <a:srgbClr val="1C748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C7484"/>
              </a:solidFill>
              <a:ln w="9525" cap="flat">
                <a:solidFill>
                  <a:srgbClr val="1C748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0.01</c:v>
                </c:pt>
                <c:pt idx="1">
                  <c:v>0.017</c:v>
                </c:pt>
                <c:pt idx="2">
                  <c:v>0.022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θ = 0,40</c:v>
                </c:pt>
              </c:strCache>
            </c:strRef>
          </c:tx>
          <c:spPr>
            <a:solidFill>
              <a:srgbClr val="0E4F5A"/>
            </a:solidFill>
            <a:ln w="38100" cap="flat">
              <a:solidFill>
                <a:srgbClr val="0E4F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E4F5A"/>
              </a:solidFill>
              <a:ln w="9525" cap="flat">
                <a:solidFill>
                  <a:srgbClr val="0E4F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Sheet1!$G$2:$G$4</c:f>
              <c:numCache>
                <c:formatCode>General</c:formatCode>
                <c:ptCount val="3"/>
                <c:pt idx="0">
                  <c:v>0.011</c:v>
                </c:pt>
                <c:pt idx="1">
                  <c:v>0.019</c:v>
                </c:pt>
                <c:pt idx="2">
                  <c:v>0.027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3"/>
          <c:min val="0"/>
        </c:scaling>
        <c:delete val="0"/>
        <c:axPos val="l"/>
        <c:majorGridlines>
          <c:spPr>
            <a:ln w="6350" cap="flat">
              <a:solidFill>
                <a:srgbClr val="D9DE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1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5B463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A1E1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A1E16"/>
                </a:solidFill>
                <a:latin typeface="+mn-lt"/>
              </a:rPr>
              <a:t>Следы глины и солей растут вместе: r = 0,88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шесть вариантов</c:v>
                </c:pt>
              </c:strCache>
            </c:strRef>
          </c:tx>
          <c:spPr>
            <a:solidFill>
              <a:srgbClr val="B8552F"/>
            </a:solidFill>
            <a:ln>
              <a:noFill/>
            </a:ln>
            <a:effectLst/>
          </c:spPr>
          <c:marker>
            <c:symbol val="circle"/>
            <c:size val="12"/>
            <c:spPr>
              <a:solidFill>
                <a:srgbClr val="B8552F"/>
              </a:solidFill>
              <a:ln w="9525" cap="flat">
                <a:solidFill>
                  <a:srgbClr val="B8552F"/>
                </a:solidFill>
                <a:prstDash val="solid"/>
                <a:round/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2.1</c:v>
                </c:pt>
                <c:pt idx="1">
                  <c:v>2.3</c:v>
                </c:pt>
                <c:pt idx="2">
                  <c:v>6.5</c:v>
                </c:pt>
                <c:pt idx="3">
                  <c:v>6.8</c:v>
                </c:pt>
                <c:pt idx="4">
                  <c:v>11.4</c:v>
                </c:pt>
                <c:pt idx="5">
                  <c:v>11.1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0.35</c:v>
                </c:pt>
                <c:pt idx="1">
                  <c:v>0.28</c:v>
                </c:pt>
                <c:pt idx="2">
                  <c:v>0.52</c:v>
                </c:pt>
                <c:pt idx="3">
                  <c:v>0.45</c:v>
                </c:pt>
                <c:pt idx="4">
                  <c:v>0.61</c:v>
                </c:pt>
                <c:pt idx="5">
                  <c:v>0.49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2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4636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B4636"/>
                    </a:solidFill>
                    <a:latin typeface="+mn-lt"/>
                  </a:rPr>
                  <a:t>гигроскопичность MH, % — след глины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2"/>
      </c:valAx>
      <c:valAx>
        <c:axId val="2094734552"/>
        <c:scaling>
          <c:orientation val="minMax"/>
          <c:max val="0.7"/>
          <c:min val="0"/>
        </c:scaling>
        <c:delete val="0"/>
        <c:axPos val="l"/>
        <c:majorGridlines>
          <c:spPr>
            <a:ln w="6350" cap="flat">
              <a:solidFill>
                <a:srgbClr val="D9DE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4636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B4636"/>
                    </a:solidFill>
                    <a:latin typeface="+mn-lt"/>
                  </a:rPr>
                  <a:t>ECe, дСм/м — след солей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  <c:majorUnit val="0.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A1E1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A1E16"/>
                </a:solidFill>
                <a:latin typeface="+mn-lt"/>
              </a:rPr>
              <a:t>Плотность: сдвиг при уплотнении 1,35 → 1,52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Прогноз модели смеси</c:v>
                </c:pt>
              </c:strCache>
            </c:strRef>
          </c:tx>
          <c:spPr>
            <a:solidFill>
              <a:srgbClr val="6E7F80"/>
            </a:solidFill>
            <a:effectLst/>
          </c:spPr>
          <c:invertIfNegative val="0"/>
          <c:dLbls>
            <c:numFmt formatCode="+0.0;−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A1E1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9.5</c:v>
                </c:pt>
                <c:pt idx="1">
                  <c:v>9.5</c:v>
                </c:pt>
                <c:pt idx="2">
                  <c:v>9.5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Наблюдалось</c:v>
                </c:pt>
              </c:strCache>
            </c:strRef>
          </c:tx>
          <c:spPr>
            <a:solidFill>
              <a:srgbClr val="B8552F"/>
            </a:solidFill>
            <a:effectLst/>
          </c:spPr>
          <c:invertIfNegative val="0"/>
          <c:dLbls>
            <c:numFmt formatCode="+0.0;−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A1E1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-2</c:v>
                </c:pt>
                <c:pt idx="1">
                  <c:v>-1</c:v>
                </c:pt>
                <c:pt idx="2">
                  <c:v>-2</c:v>
                </c:pt>
              </c:numCache>
            </c:numRef>
          </c:val>
        </c:ser>
        <c:dLbls>
          <c:numFmt formatCode="+0.0;−0.0" sourceLinked="0"/>
          <c:txPr>
            <a:bodyPr/>
            <a:lstStyle/>
            <a:p>
              <a:pPr>
                <a:defRPr b="0" i="0" strike="noStrike" sz="1300" u="none">
                  <a:solidFill>
                    <a:srgbClr val="2A1E1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-4"/>
        </c:scaling>
        <c:delete val="0"/>
        <c:axPos val="l"/>
        <c:majorGridlines>
          <c:spPr>
            <a:ln w="6350" cap="flat">
              <a:solidFill>
                <a:srgbClr val="D9DE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4636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B4636"/>
                    </a:solidFill>
                    <a:latin typeface="+mn-lt"/>
                  </a:rPr>
                  <a:t>мм в метровом слое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5B463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A1E1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A1E16"/>
                </a:solidFill>
                <a:latin typeface="+mn-lt"/>
              </a:rPr>
              <a:t>Постоянная поправка +0,010 (почва C, 1,35 г/см³)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Ошибка в почве C</c:v>
                </c:pt>
              </c:strCache>
            </c:strRef>
          </c:tx>
          <c:spPr>
            <a:solidFill>
              <a:srgbClr val="B8552F"/>
            </a:solidFill>
            <a:ln w="31750" cap="flat">
              <a:solidFill>
                <a:srgbClr val="B8552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B8552F"/>
              </a:solidFill>
              <a:ln w="9525" cap="flat">
                <a:solidFill>
                  <a:srgbClr val="B8552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0,05</c:v>
                  </c:pt>
                  <c:pt idx="1">
                    <c:v>0,10</c:v>
                  </c:pt>
                  <c:pt idx="2">
                    <c:v>0,20</c:v>
                  </c:pt>
                  <c:pt idx="3">
                    <c:v>0,30</c:v>
                  </c:pt>
                  <c:pt idx="4">
                    <c:v>0,38</c:v>
                  </c:pt>
                  <c:pt idx="5">
                    <c:v>0,40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0.001</c:v>
                </c:pt>
                <c:pt idx="1">
                  <c:v>0.002</c:v>
                </c:pt>
                <c:pt idx="2">
                  <c:v>0.006</c:v>
                </c:pt>
                <c:pt idx="3">
                  <c:v>0.012</c:v>
                </c:pt>
                <c:pt idx="4">
                  <c:v>0.022</c:v>
                </c:pt>
                <c:pt idx="5">
                  <c:v>0.027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Остаток после вычитания +0,010</c:v>
                </c:pt>
              </c:strCache>
            </c:strRef>
          </c:tx>
          <c:spPr>
            <a:solidFill>
              <a:srgbClr val="1C7C8C"/>
            </a:solidFill>
            <a:ln w="31750" cap="flat">
              <a:solidFill>
                <a:srgbClr val="1C7C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C7C8C"/>
              </a:solidFill>
              <a:ln w="9525" cap="flat">
                <a:solidFill>
                  <a:srgbClr val="1C7C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0,05</c:v>
                  </c:pt>
                  <c:pt idx="1">
                    <c:v>0,10</c:v>
                  </c:pt>
                  <c:pt idx="2">
                    <c:v>0,20</c:v>
                  </c:pt>
                  <c:pt idx="3">
                    <c:v>0,30</c:v>
                  </c:pt>
                  <c:pt idx="4">
                    <c:v>0,38</c:v>
                  </c:pt>
                  <c:pt idx="5">
                    <c:v>0,40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-0.009</c:v>
                </c:pt>
                <c:pt idx="1">
                  <c:v>-0.008</c:v>
                </c:pt>
                <c:pt idx="2">
                  <c:v>-0.004</c:v>
                </c:pt>
                <c:pt idx="3">
                  <c:v>0.002</c:v>
                </c:pt>
                <c:pt idx="4">
                  <c:v>0.012</c:v>
                </c:pt>
                <c:pt idx="5">
                  <c:v>0.017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4636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B4636"/>
                    </a:solidFill>
                    <a:latin typeface="+mn-lt"/>
                  </a:rPr>
                  <a:t>θ, м³/м³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3"/>
          <c:min val="-0.01"/>
        </c:scaling>
        <c:delete val="0"/>
        <c:axPos val="l"/>
        <c:majorGridlines>
          <c:spPr>
            <a:ln w="6350" cap="flat">
              <a:solidFill>
                <a:srgbClr val="D9DE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463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A1E1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A1E16"/>
                </a:solidFill>
                <a:latin typeface="+mn-lt"/>
              </a:rPr>
              <a:t>Доли объёма при θ = 0,25 (ρs = 2,63 г/см³)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Твёрдая фаза</c:v>
                </c:pt>
              </c:strCache>
            </c:strRef>
          </c:tx>
          <c:spPr>
            <a:solidFill>
              <a:srgbClr val="B9C3C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A1E16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1,35 г/см³</c:v>
                  </c:pt>
                  <c:pt idx="1">
                    <c:v>1,52 г/см³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0.513</c:v>
                </c:pt>
                <c:pt idx="1">
                  <c:v>0.578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Вода (θ = 0,25)</c:v>
                </c:pt>
              </c:strCache>
            </c:strRef>
          </c:tx>
          <c:spPr>
            <a:solidFill>
              <a:srgbClr val="8FC5C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A1E16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1,35 г/см³</c:v>
                  </c:pt>
                  <c:pt idx="1">
                    <c:v>1,52 г/см³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0.25</c:v>
                </c:pt>
                <c:pt idx="1">
                  <c:v>0.25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Воздух</c:v>
                </c:pt>
              </c:strCache>
            </c:strRef>
          </c:tx>
          <c:spPr>
            <a:solidFill>
              <a:srgbClr val="EEF1F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A1E16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1,35 г/см³</c:v>
                  </c:pt>
                  <c:pt idx="1">
                    <c:v>1,52 г/см³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0.237</c:v>
                </c:pt>
                <c:pt idx="1">
                  <c:v>0.172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400" u="none">
                  <a:solidFill>
                    <a:srgbClr val="2A1E16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9DEDC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463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20 с · к концу слайда ≈ 0:24 из 10:00]
Показать: Сделайте паузу после вопроса «а если он льстит почве?» — дайте залу секунду.
Главная мысль: Мы выяснили, когда и насколько датчик CS616 завышает влажность в трёх почвах Кубани, и как это доказать.
Уважаемые коллеги! Датчик влажности говорит: воды достаточно, поливать рано. А если он «льстит» почве и видит воду, которой нет? Сегодня — короткое расследование: кто заставляет датчик CS616 завышать влажность в трёх почвах Кубани, как мы это доказали и что с этим делать.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40 с · к концу слайда ≈ 1:08 из 10:00]
Показать: Покажите на схеме: пунктир датчика пересекает порог правее сплошной линии — это и есть запаздывание полива.
Главная мысль: Ошибка в одну сотую — это 10 мм воды в метровом слое; если датчик завышает, полив запаздывает.
Сначала — цена вопроса. Влажность в одну сотую — это литр воды на сто литров почвы, или десять миллиметров воды в метровом слое.
Посмотрите на схему. Почва сохнет, и когда влажность опускается до порога, включается полив. Но если датчик завышает, его пунктир доходит до порога позже, и полив начинается, когда воды уже меньше, чем задумано.
Это не теория. В самой тяжёлой из наших почв у влажного края датчик показывал 0,427 вместо 0,40 — двадцать семь миллиметров воды в метровом слое, которых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41 с · к концу слайда ≈ 1:53 из 10:00]
Показать: Проведите рукой по столбикам «воздух — минералы — вода»; на двух допущениях сделайте паузу: это ключ ко всему докладу.
Главная мысль: Датчик измеряет время пробега импульса и переводит его во влажность по «словарю», проверенному на других почвах.
Почему? Датчик не видит воду. По двум штангам бежит импульс, и прибор измеряет время пробега. Представьте дорогу из участков с разными ограничениями скорости: через минералы волна идёт примерно вдвое медленнее, чем через воздух, через воду — почти в девять раз. Больше воды — дольше дорога. А заводское уравнение, как переводчик, превращает время во влажность.
У переводчика два скрытых допущения. Первое: время пробега меняет только вода, почва — изолятор. Второе: словарь, проверенный в основном на супесях, годится для любой почвы. В наших тяжёлых почвах ни одно из них не гарантировано.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48 с · к концу слайда ≈ 2:45 из 10:00]
Показать: Укажите на облако ионов, затем на графике — точку, где слабый сигнал позже пересекает порог.
Главная мысль: Проводимость глин и солей ослабляет импульс, он позже пересекает порог — датчик «видит» лишнюю воду; отсюда три проверяемых предсказания.
Где первое допущение ломается? Частица глины заряжена, вокруг неё облако подвижных ионов; в порах ещё и раствор солей. Всё это проводит ток. А поверхность у глины огромная, как у сахарной пудры по сравнению с куском сахара.
Ток отнимает у импульса энергию. А прибор срабатывает по порогу, как будильник, который реагирует на громкость: тихий звонок услышишь позже. Прибор решает, что дорога была длиннее, и «видит» лишнюю воду. Связанная вода тянет в обратную сторону, поэтому решает опыт.
Отсюда три предсказания, и каждое можно опровергнуть: ошибка больше в тяжёлой почве; она растёт к насыщению; а ещё её меняет плотность — ведь при уплотнении минералы вытесняют воздух.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54 с · к концу слайда ≈ 3:43 из 10:00]
Показать: Покажите схему 3 × 2 и цепочку шагов слева направо; «60 средних» понадобятся на слайде 7.
Главная мысль: Датчик сдавал экзамен по весовому эталону в 18 колонках на 10 равновесных ступенях влажности.
Проверяли как на экзамене. Датчик — студент, ключ с ответами — весовой метод: почву сушат и по потере массы узнают, сколько было воды. Сам ключ точен до 0,005.
Три почвы виноградников: лёгкая, где физической глины — частиц мельче сотой миллиметра — 10–20 процентов, и две тяжёлые, до 65 процентов. Две плотности, по три колонки. Колонки насыщали и ступенями подсушивали при 20 градусах, на каждой из десяти ступеней ждали равновесия: 180 измерений, 60 средних. Так мы убрали пестроту поля, температуру и перетекание воды.
Оценивали два числа: насколько сбит прицел — систематический сдвиг — и типичный промах. Критерий: промах не больше 0,02.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50 с · к концу слайда ≈ 4:37 из 10:00]
Показать: Проведите по веерным линиям от сухой почвы к влажной; бледные точки — состояния вне анализа.
Главная мысль: Типичная ошибка в норме, но средний сдвиг направлен вверх и растёт с влажностью — сильнее всего в тяжёлой почве.
Хорошая новость: типичный промах везде меньше 0,02. Но прицел сбит вверх: в лёгкой почве — на уровне погрешности, в тяжёлых, по описательной оценке, — на 6–10 миллиметров воды в метровом слое.
Главное — форма кривых. В сухой почве ошибка почти нулевая, а с увлажнением линии расходятся веером. Ошибка — не число, а функция влажности, как у спидометра, который чем быстрее едешь, тем сильнее завышает. Между влажностью 0,2 и 0,4 в самой тяжёлой почве она растёт в 2,6 раза быстрее, чем в лёгкой, и у влажного края выходит чуть за паспортный предел. Значит, постоянная поправка не сработает.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53 с · к концу слайда ≈ 5:34 из 10:00]
Показать: Сначала левая полоса (почти вся серая — это «музыка»), затем правый график: ни одна линия не идёт вниз.
Главная мысль: Общий тест заглушён ростом ошибки с влажностью; на равной влажности порядок почв устойчив — вывод описательный.
Как доказать роль почвы? Здесь ловушка. Если смешать все данные, почва объясняет лишь 9 процентов разброса ошибки, остальное — в основном рост с влажностью. Тест говорит: «не значимо». Но «нет доказательств» — не значит «невиновен». Это как разговор на концерте: он идёт, но его заглушает музыка.
Выключим музыку — сравним почвы при одной и той же влажности. Каждая линия справа — один уровень влажности, и ни одна не идёт вниз: лёгкая почва всегда ниже тяжёлых. Два разных теста — по уровням и по одному лишь порядку — согласны. Интуиция: если бы уровни были независимы, такой порядок случайно выпал бы один раз из 729. Но это состояния одних колонок, поэтому вывод описательный.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53 с · к концу слайда ≈ 6:31 из 10:00]
Показать: Слева облако «след глины × след солей» вытянуто по диагонали; справа серые столбики прогноза против красных фактических, затем цепь из трёх звеньев.
Главная мысль: Глина и соли в наших почвах растут вместе — их не разделить; прогноз для плотности не сбылся — порвалось хотя бы одно звено.
Мы подозревали глину и мерили её след — гигроскопичность. Сдвиг с ней растёт. Но рядом всё время оказывались соли: на графике слева глинистость и электропроводность растут вместе. Сдвиг объясняют обе, электропроводность даже чуть лучше, — но всего по шести точкам: три почвы, две плотности. Два подозреваемых, которых камера всегда снимает вместе: кто виноват, данные не скажут.
С плотностью — поучительная неудача. Теория смеси предсказала: уплотнение заменит воздух минералами и прибавит почти десять миллиметров. Мы увидели около минус двух. Прогноз — это цепь: модель, та же влажность, та же проводимость. Если все звенья целы, прогноз сбывается; не сбылся — значит, порвалось хотя бы одно. Кандидаты на слайде, но полностью разрыв они не объясняют — вопрос открыт.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30 с · к концу слайда ≈ 7:05 из 10:00]
Показать: Читайте таблицу сверху вниз: от «видим прямо» к «судим по следам».
Главная мысль: Прямые наблюдения твёрды, статистические выводы — средней прочности, причина — пока гипотеза; у каждого типа связи своё слабое место.
Чтобы было честно — насколько твёрд каждый вывод. Связи бывают разной природы. Прямое наблюдение: промах в норме, ошибка растёт с влажностью — твёрдо. Статистический вывод: порядок почв на равной влажности — средне, ведь почва в группе одна. Модель: прогноз для плотности не сбылся — средне, условия сравнения не были равными. Косвенный показатель: виновата именно глина — слабо. Слабые места — это адреса следующих опытов.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36 с · к концу слайда ≈ 7:45 из 10:00]
Показать: Пройдите светофор сверху вниз; на графике покажите, что после вычитания константы синяя линия всё равно уходит вверх.
Главная мысль: Лёгкие незасолённые почвы — без поправки; тяжёлые — калибровка или весовая проверка; постоянная поправка не годится.
Что делать уже сейчас? Зелёный: в лёгких незасолённых почвах, похожих на нашу, заводская калибровка годится. Жёлтый: в тяжёлых почвах, если порог полива стоит у наименьшей влагоёмкости, калибруйте датчик под почву или проверяйте весовым методом раз-два за сезон. Красный: постоянная поправка ошибается и в сухой, и во влажной почве. Наше предложение, в поле пока не проверенное: брать пробы в двух точках, после полива и перед поливом. Серое: средние почвы мы не испытывали, а в поле нужна температурная поправка.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38 с · к концу слайда ≈ 8:27 из 10:00]
Показать: Задайте залу вопрос «какой опыт решающий?» и выдержите паузу 2–3 секунды.
Главная мысль: Следующие шаги — проверяемые прогнозы; самый дешёвый — переанализ уже имеющихся 180 значений.
Как закрыть дело? Каждый шаг — прогноз, который может не сбыться. Если виноваты соли, ошибка вырастет с электропроводностью; засолённые варианты мы разбираем в отдельной статье. Если глина — при равной электропроводности ошибка будет больше там, где больше смектита. Если эффект почвы реален, он переживёт смешанную модель, которая учтёт разброс между колонками, по всем 180 измерениям, а данные уже есть. И идея: поправка по двум входам, время пробега плюс электропроводность. Так же стоит проверять любой датчик, который судит о воде по проницаемости.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29 с · к концу слайда ≈ 9:00 из 10:00]
Показать: Закончите на «Спасибо» и переходите к вопросам; запасные слайды 13–21 под рукой.
Главная мысль: Калибровка годится, но в тяжёлых почвах завышает, и сильнее во влажной; доказывать нужно устойчивость; механизм пока открыт.
Три мысли напоследок. Первая: по критерию 0,02 заводская калибровка годится, но не бесплатно — в тяжёлых почвах датчик завышает, и тем сильнее, чем влажнее почва. Вторая: доказывать нужно устойчивость, а не только «p меньше 0,05». Третья: гипотеза подтвердилась частично — связь с почвой и влажностью есть, механизм не разделён, плотность не подтвердилась. Именно это показывает, куда идти дальше. Спасибо!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[Запасной слайд — показывать только при вопросах; во время доклада не используется]
Показывать, если спрашивают, на чём стоит работа и как связаны теории. Связи четырёх типов: механизм, количественная модель, косвенный показатель, статистический вывод; у каждого своё слабое место.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[Запасной слайд — показывать только при вопросах; во время доклада не используется]
Показывать, если спрашивают о надёжности эталона, статистики или колонок. Эта таблица объясняет, почему p-значения названы описательными, а выводы относятся к изученным почвам.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[Запасной слайд — показывать только при вопросах; во время доклада не используется]
Показывать, если просят объяснить, откуда +0,0095. Модель: время пробега складывается из времён через фазы; уплотнение при той же влажности заменяет воздух минералами; заводская шкала читает удлинение пробега как воду вместо воздуха.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[Запасной слайд — показывать только при вопросах; во время доклада не используется]
Показывать, если спрашивают о набухании. Почва C при 1,52 г/см³ набухла: подъём ≈ 25 мм, объёмная деформация 8,3 %, θmax 0,460 &gt; исходной пористости 0,415. Эталон считали по реальному объёму; дополнительной ошибки не нашли, но сравнение смешано с плотностью и ECe, а почва поднималась выше штанг.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[Запасной слайд — показывать только при вопросах; во время доклада не используется]
Показывать, если спрашивают о сравнении с паспортом и зарубежными работами. Физическая глина по Качинскому — частицы &lt; 0,01 мм; глина по USDA и в паспорте — &lt; 0,002 мм. В группе A условие паспорта (&lt; 30 % глины) выполнено заведомо; для B и C проверить нельзя.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[Запасной слайд — показывать только при вопросах; во время доклада не используется]
Показывать при вопросах о точности, доверительных интервалах и асимметрии. MB и RMSE — по средним трёх колонок, n = 10 уровней влажности; ДИ и p описательные (уровни — состояния одних колонок). J_nl &lt; 0 — правосторонняя асимметрия: крупные положительные ошибки приходятся на влажную часть диапазона.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[Запасной слайд — показывать только при вопросах; во время доклада не используется]
Показывать при вопросах о p = 0,074 и долях изменчивости. Суммы квадратов восстановлены по MB и RMSE вариантов; внутривариантный член включает зависимость ошибки от влажности. 20 000 симуляций ошибки округления: центральные 95 % для p эффекта почвы — 0,04–0,12, для η² — 0,07–0,11.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[Запасной слайд — показывать только при вопросах; во время доклада не используется]
Показывать при вопросах о засолённости, плотности частиц и гигроскопичности. Все ECe ниже 1 дСм/м и в 6,6–14 раз ниже порога засоления 4 дСм/м. В плотных вариантах ECe ниже на 0,07–0,12 дСм/м — это важно для слайда о плотности.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[Запасной слайд — показывать только при вопросах; во время доклада не используется]
Показывать, если спрашивают о переносе на поле, о статистике или о методике. Каждое ограничение сформулировано так, как в статье.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51560"/>
            <a:ext cx="72237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51560"/>
            <a:ext cx="7223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Когда датчик влажности «льстит» почве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20040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2"/>
                </a:solidFill>
              </a:rPr>
              <a:t>Систематическая погрешность заводской калибровки датчиков влажности CS616 в незасолённых почвах разного гранулометрического состава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7091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Вербицкий А. Ю., Приходько И. А., Болдырева Л. М., Кесафоти Х. Е.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120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Кубанский государственный аграрный университет имени И. Т. Трубилина · Краснодар, 2026</a:t>
            </a:r>
            <a:endParaRPr lang="en-US" sz="1400" dirty="0"/>
          </a:p>
        </p:txBody>
      </p:sp>
      <p:sp>
        <p:nvSpPr>
          <p:cNvPr id="7" name="soil-A"/>
          <p:cNvSpPr/>
          <p:nvPr/>
        </p:nvSpPr>
        <p:spPr>
          <a:xfrm>
            <a:off x="8229600" y="2057400"/>
            <a:ext cx="3291840" cy="109728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58200" y="205740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9098280" y="20574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чернозём обыкновенный</a:t>
            </a:r>
            <a:endParaRPr lang="en-US" sz="1300" dirty="0"/>
          </a:p>
        </p:txBody>
      </p:sp>
      <p:sp>
        <p:nvSpPr>
          <p:cNvPr id="10" name="soil-B"/>
          <p:cNvSpPr/>
          <p:nvPr/>
        </p:nvSpPr>
        <p:spPr>
          <a:xfrm>
            <a:off x="8229600" y="3291840"/>
            <a:ext cx="3291840" cy="1097280"/>
          </a:xfrm>
          <a:prstGeom prst="roundRect">
            <a:avLst>
              <a:gd name="adj" fmla="val 6667"/>
            </a:avLst>
          </a:prstGeom>
          <a:solidFill>
            <a:schemeClr val="accent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458200" y="329184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B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9098280" y="32918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чернозём типичный</a:t>
            </a:r>
            <a:endParaRPr lang="en-US" sz="1300" dirty="0"/>
          </a:p>
        </p:txBody>
      </p:sp>
      <p:sp>
        <p:nvSpPr>
          <p:cNvPr id="13" name="soil-C"/>
          <p:cNvSpPr/>
          <p:nvPr/>
        </p:nvSpPr>
        <p:spPr>
          <a:xfrm>
            <a:off x="8229600" y="4526280"/>
            <a:ext cx="3291840" cy="1097280"/>
          </a:xfrm>
          <a:prstGeom prst="roundRect">
            <a:avLst>
              <a:gd name="adj" fmla="val 6667"/>
            </a:avLst>
          </a:prstGeom>
          <a:solidFill>
            <a:schemeClr val="accent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458200" y="452628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9098280" y="452628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лугово-чернозёмная</a:t>
            </a:r>
            <a:endParaRPr lang="en-US" sz="1300" dirty="0"/>
          </a:p>
        </p:txBody>
      </p:sp>
      <p:sp>
        <p:nvSpPr>
          <p:cNvPr id="16" name="probe-head"/>
          <p:cNvSpPr/>
          <p:nvPr/>
        </p:nvSpPr>
        <p:spPr>
          <a:xfrm>
            <a:off x="10424160" y="1097280"/>
            <a:ext cx="822960" cy="59436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424160" y="109728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CS616</a:t>
            </a:r>
            <a:endParaRPr lang="en-US" sz="1200" dirty="0"/>
          </a:p>
        </p:txBody>
      </p:sp>
      <p:sp>
        <p:nvSpPr>
          <p:cNvPr id="18" name="rod"/>
          <p:cNvSpPr/>
          <p:nvPr/>
        </p:nvSpPr>
        <p:spPr>
          <a:xfrm>
            <a:off x="10524744" y="1691640"/>
            <a:ext cx="73152" cy="39319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9" name="rod"/>
          <p:cNvSpPr/>
          <p:nvPr/>
        </p:nvSpPr>
        <p:spPr>
          <a:xfrm>
            <a:off x="11073384" y="1691640"/>
            <a:ext cx="73152" cy="3931920"/>
          </a:xfrm>
          <a:prstGeom prst="rect">
            <a:avLst/>
          </a:prstGeom>
          <a:solidFill>
            <a:schemeClr val="accent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Зачем: 0,01 — это 10 мм воды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делать</a:t>
            </a:r>
            <a:endParaRPr lang="en-US" sz="1100" dirty="0"/>
          </a:p>
        </p:txBody>
      </p:sp>
      <p:sp>
        <p:nvSpPr>
          <p:cNvPr id="5" name="units"/>
          <p:cNvSpPr/>
          <p:nvPr/>
        </p:nvSpPr>
        <p:spPr>
          <a:xfrm>
            <a:off x="548640" y="1417320"/>
            <a:ext cx="502920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0,01 м³/м³</a:t>
            </a:r>
            <a:endParaRPr lang="en-US" sz="16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= 1 л воды на 100 л почвы</a:t>
            </a:r>
            <a:endParaRPr lang="en-US" sz="16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= 10 мм воды в метровом слое</a:t>
            </a:r>
            <a:endParaRPr lang="en-US" sz="1600" dirty="0"/>
          </a:p>
        </p:txBody>
      </p:sp>
      <p:sp>
        <p:nvSpPr>
          <p:cNvPr id="7" name="case"/>
          <p:cNvSpPr/>
          <p:nvPr/>
        </p:nvSpPr>
        <p:spPr>
          <a:xfrm>
            <a:off x="548640" y="3429000"/>
            <a:ext cx="5029200" cy="1417320"/>
          </a:xfrm>
          <a:prstGeom prst="roundRect">
            <a:avLst>
              <a:gd name="adj" fmla="val 5161"/>
            </a:avLst>
          </a:prstGeom>
          <a:solidFill>
            <a:schemeClr val="tx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3474720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Наш опыт, самая тяжёлая почва</a:t>
            </a:r>
            <a:endParaRPr lang="en-US" sz="16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эталон 0,40 → датчик 0,427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≈ 27 мм воды в метровом слое, которой нет</a:t>
            </a:r>
            <a:endParaRPr lang="en-US" sz="1600" dirty="0"/>
          </a:p>
        </p:txBody>
      </p:sp>
      <p:sp>
        <p:nvSpPr>
          <p:cNvPr id="9" name="passport"/>
          <p:cNvSpPr/>
          <p:nvPr/>
        </p:nvSpPr>
        <p:spPr>
          <a:xfrm>
            <a:off x="548640" y="5029200"/>
            <a:ext cx="502920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502920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Паспорт ±0,025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проверен в основном на супесях; </a:t>
            </a:r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у нас физической глины (&lt; 0,01 мм) до 65 %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035040" y="13716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Почему завышение опасно для полива (схема)</a:t>
            </a:r>
            <a:endParaRPr lang="en-US" sz="1600" dirty="0"/>
          </a:p>
        </p:txBody>
      </p:sp>
      <p:sp>
        <p:nvSpPr>
          <p:cNvPr id="12" name="line"/>
          <p:cNvSpPr/>
          <p:nvPr/>
        </p:nvSpPr>
        <p:spPr>
          <a:xfrm flipV="1">
            <a:off x="6309360" y="1828800"/>
            <a:ext cx="0" cy="31546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line"/>
          <p:cNvSpPr/>
          <p:nvPr/>
        </p:nvSpPr>
        <p:spPr>
          <a:xfrm>
            <a:off x="6309360" y="4983480"/>
            <a:ext cx="52578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 rot="16200000">
            <a:off x="5440680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влажность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778240" y="5029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время: почва подсыхает →</a:t>
            </a:r>
            <a:endParaRPr lang="en-US" sz="1200" dirty="0"/>
          </a:p>
        </p:txBody>
      </p:sp>
      <p:sp>
        <p:nvSpPr>
          <p:cNvPr id="16" name="threshold"/>
          <p:cNvSpPr/>
          <p:nvPr/>
        </p:nvSpPr>
        <p:spPr>
          <a:xfrm>
            <a:off x="6309360" y="3931920"/>
            <a:ext cx="512064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6400800" y="3611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порог полива</a:t>
            </a:r>
            <a:endParaRPr lang="en-US" sz="1300" dirty="0"/>
          </a:p>
        </p:txBody>
      </p:sp>
      <p:sp>
        <p:nvSpPr>
          <p:cNvPr id="18" name="true-theta"/>
          <p:cNvSpPr/>
          <p:nvPr/>
        </p:nvSpPr>
        <p:spPr>
          <a:xfrm>
            <a:off x="6400800" y="2377440"/>
            <a:ext cx="4846320" cy="246888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19" name="sensor-theta"/>
          <p:cNvSpPr/>
          <p:nvPr/>
        </p:nvSpPr>
        <p:spPr>
          <a:xfrm>
            <a:off x="6400800" y="2057400"/>
            <a:ext cx="4846320" cy="265176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dash"/>
          </a:ln>
        </p:spPr>
      </p:sp>
      <p:sp>
        <p:nvSpPr>
          <p:cNvPr id="20" name="badge"/>
          <p:cNvSpPr/>
          <p:nvPr/>
        </p:nvSpPr>
        <p:spPr>
          <a:xfrm>
            <a:off x="9360713" y="384048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badge"/>
          <p:cNvSpPr/>
          <p:nvPr/>
        </p:nvSpPr>
        <p:spPr>
          <a:xfrm>
            <a:off x="9734702" y="3840480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680960" y="40416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пора поливать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9921240" y="34747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датчик разрешает полив</a:t>
            </a:r>
            <a:endParaRPr lang="en-US" sz="1300" dirty="0"/>
          </a:p>
        </p:txBody>
      </p:sp>
      <p:sp>
        <p:nvSpPr>
          <p:cNvPr id="24" name="line"/>
          <p:cNvSpPr/>
          <p:nvPr/>
        </p:nvSpPr>
        <p:spPr>
          <a:xfrm>
            <a:off x="8503920" y="1965960"/>
            <a:ext cx="45720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05256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фактическая влажность (эталон)</a:t>
            </a:r>
            <a:endParaRPr lang="en-US" sz="1200" dirty="0"/>
          </a:p>
        </p:txBody>
      </p:sp>
      <p:sp>
        <p:nvSpPr>
          <p:cNvPr id="26" name="line"/>
          <p:cNvSpPr/>
          <p:nvPr/>
        </p:nvSpPr>
        <p:spPr>
          <a:xfrm>
            <a:off x="8503920" y="2286000"/>
            <a:ext cx="457200" cy="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dash"/>
          </a:ln>
        </p:spPr>
      </p:sp>
      <p:sp>
        <p:nvSpPr>
          <p:cNvPr id="27" name="Text 24"/>
          <p:cNvSpPr txBox="1"/>
          <p:nvPr/>
        </p:nvSpPr>
        <p:spPr>
          <a:xfrm>
            <a:off x="9052560" y="2148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показания датчика</a:t>
            </a:r>
            <a:endParaRPr lang="en-US" sz="1200" dirty="0"/>
          </a:p>
        </p:txBody>
      </p:sp>
      <p:sp>
        <p:nvSpPr>
          <p:cNvPr id="28" name="late"/>
          <p:cNvSpPr/>
          <p:nvPr/>
        </p:nvSpPr>
        <p:spPr>
          <a:xfrm>
            <a:off x="6035040" y="5440680"/>
            <a:ext cx="557784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263640" y="544068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Порог задан по датчику → полив запаздывает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Датчик измеряет время, а не воду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делать</a:t>
            </a:r>
            <a:endParaRPr lang="en-US" sz="1100" dirty="0"/>
          </a:p>
        </p:txBody>
      </p:sp>
      <p:sp>
        <p:nvSpPr>
          <p:cNvPr id="5" name="soil-block"/>
          <p:cNvSpPr/>
          <p:nvPr/>
        </p:nvSpPr>
        <p:spPr>
          <a:xfrm>
            <a:off x="548640" y="1417320"/>
            <a:ext cx="5303520" cy="1600200"/>
          </a:xfrm>
          <a:prstGeom prst="roundRect">
            <a:avLst>
              <a:gd name="adj" fmla="val 4571"/>
            </a:avLst>
          </a:prstGeom>
          <a:solidFill>
            <a:schemeClr val="accent4"/>
          </a:solidFill>
          <a:ln/>
        </p:spPr>
      </p:sp>
      <p:sp>
        <p:nvSpPr>
          <p:cNvPr id="6" name="probe-head"/>
          <p:cNvSpPr/>
          <p:nvPr/>
        </p:nvSpPr>
        <p:spPr>
          <a:xfrm>
            <a:off x="868680" y="1417320"/>
            <a:ext cx="1188720" cy="45720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4173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датчик</a:t>
            </a:r>
            <a:endParaRPr lang="en-US" sz="1300" dirty="0"/>
          </a:p>
        </p:txBody>
      </p:sp>
      <p:sp>
        <p:nvSpPr>
          <p:cNvPr id="8" name="rod"/>
          <p:cNvSpPr/>
          <p:nvPr/>
        </p:nvSpPr>
        <p:spPr>
          <a:xfrm>
            <a:off x="1097280" y="1874520"/>
            <a:ext cx="64008" cy="10058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rod"/>
          <p:cNvSpPr/>
          <p:nvPr/>
        </p:nvSpPr>
        <p:spPr>
          <a:xfrm>
            <a:off x="1828800" y="1874520"/>
            <a:ext cx="64008" cy="10058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" name="line"/>
          <p:cNvSpPr/>
          <p:nvPr/>
        </p:nvSpPr>
        <p:spPr>
          <a:xfrm>
            <a:off x="2377440" y="1920240"/>
            <a:ext cx="3108960" cy="0"/>
          </a:xfrm>
          <a:prstGeom prst="line">
            <a:avLst/>
          </a:prstGeom>
          <a:noFill/>
          <a:ln w="31750">
            <a:solidFill>
              <a:schemeClr val="bg1"/>
            </a:solidFill>
            <a:prstDash val="dash"/>
            <a:tailEnd type="triangle"/>
          </a:ln>
        </p:spPr>
      </p:sp>
      <p:sp>
        <p:nvSpPr>
          <p:cNvPr id="11" name="line"/>
          <p:cNvSpPr/>
          <p:nvPr/>
        </p:nvSpPr>
        <p:spPr>
          <a:xfrm flipH="1">
            <a:off x="2377440" y="2606040"/>
            <a:ext cx="310896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2377440" y="20299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импульс бежит по штангам и возвращается: прибор меряет время</a:t>
            </a:r>
            <a:endParaRPr lang="en-US" sz="13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48640" y="3154680"/>
          <a:ext cx="53035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6217920" y="1371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Переводчик и его скрытые допущения</a:t>
            </a:r>
            <a:endParaRPr lang="en-US" sz="1600" dirty="0"/>
          </a:p>
        </p:txBody>
      </p:sp>
      <p:sp>
        <p:nvSpPr>
          <p:cNvPr id="15" name="assumption-0"/>
          <p:cNvSpPr/>
          <p:nvPr/>
        </p:nvSpPr>
        <p:spPr>
          <a:xfrm>
            <a:off x="6217920" y="1783080"/>
            <a:ext cx="53949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16" name="badge"/>
          <p:cNvSpPr/>
          <p:nvPr/>
        </p:nvSpPr>
        <p:spPr>
          <a:xfrm>
            <a:off x="6400800" y="21031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4008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18" name="Text 14"/>
          <p:cNvSpPr txBox="1"/>
          <p:nvPr/>
        </p:nvSpPr>
        <p:spPr>
          <a:xfrm>
            <a:off x="7223760" y="1783080"/>
            <a:ext cx="4251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Почва для волны — изолятор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время пробега меняет только вода; сигнал по пути не теряет энергию</a:t>
            </a:r>
            <a:endParaRPr lang="en-US" sz="1600" dirty="0"/>
          </a:p>
        </p:txBody>
      </p:sp>
      <p:sp>
        <p:nvSpPr>
          <p:cNvPr id="19" name="assumption-1"/>
          <p:cNvSpPr/>
          <p:nvPr/>
        </p:nvSpPr>
        <p:spPr>
          <a:xfrm>
            <a:off x="6217920" y="3246120"/>
            <a:ext cx="53949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20" name="badge"/>
          <p:cNvSpPr/>
          <p:nvPr/>
        </p:nvSpPr>
        <p:spPr>
          <a:xfrm>
            <a:off x="6400800" y="35661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40080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22" name="Text 18"/>
          <p:cNvSpPr txBox="1"/>
          <p:nvPr/>
        </p:nvSpPr>
        <p:spPr>
          <a:xfrm>
            <a:off x="7223760" y="3246120"/>
            <a:ext cx="4251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Словарь универсален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заводское уравнение, проверенное в основном на супесях, верно для любой почвы</a:t>
            </a:r>
            <a:endParaRPr lang="en-US" sz="1600" dirty="0"/>
          </a:p>
        </p:txBody>
      </p:sp>
      <p:sp>
        <p:nvSpPr>
          <p:cNvPr id="23" name="passport"/>
          <p:cNvSpPr/>
          <p:nvPr/>
        </p:nvSpPr>
        <p:spPr>
          <a:xfrm>
            <a:off x="6217920" y="4754880"/>
            <a:ext cx="539496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446520" y="4800600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Производитель гарантирует шкалу при: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объёмной электропроводности &lt; 0,5 дСм/м, плотности &lt; 1,55 г/см³, глине (&lt; 0,002 мм) &lt; 30 %.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В наших тяжёлых почвах это не гарантировано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Главный подозреваемый — глина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делать</a:t>
            </a:r>
            <a:endParaRPr lang="en-US" sz="1100" dirty="0"/>
          </a:p>
        </p:txBody>
      </p:sp>
      <p:sp>
        <p:nvSpPr>
          <p:cNvPr id="5" name="dl-card"/>
          <p:cNvSpPr/>
          <p:nvPr/>
        </p:nvSpPr>
        <p:spPr>
          <a:xfrm>
            <a:off x="548640" y="1417320"/>
            <a:ext cx="5029200" cy="2880360"/>
          </a:xfrm>
          <a:prstGeom prst="roundRect">
            <a:avLst>
              <a:gd name="adj" fmla="val 2540"/>
            </a:avLst>
          </a:prstGeom>
          <a:solidFill>
            <a:schemeClr val="bg2"/>
          </a:solidFill>
          <a:ln/>
        </p:spPr>
      </p:sp>
      <p:sp>
        <p:nvSpPr>
          <p:cNvPr id="6" name="badge"/>
          <p:cNvSpPr/>
          <p:nvPr/>
        </p:nvSpPr>
        <p:spPr>
          <a:xfrm>
            <a:off x="1143000" y="2148840"/>
            <a:ext cx="1097280" cy="10972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43000" y="21488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− − 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− − −</a:t>
            </a:r>
            <a:endParaRPr lang="en-US" sz="1300" dirty="0"/>
          </a:p>
        </p:txBody>
      </p:sp>
      <p:sp>
        <p:nvSpPr>
          <p:cNvPr id="8" name="badge"/>
          <p:cNvSpPr/>
          <p:nvPr/>
        </p:nvSpPr>
        <p:spPr>
          <a:xfrm>
            <a:off x="2368296" y="2569464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2569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+</a:t>
            </a:r>
            <a:endParaRPr lang="en-US" sz="1200" dirty="0"/>
          </a:p>
        </p:txBody>
      </p:sp>
      <p:sp>
        <p:nvSpPr>
          <p:cNvPr id="10" name="badge"/>
          <p:cNvSpPr/>
          <p:nvPr/>
        </p:nvSpPr>
        <p:spPr>
          <a:xfrm>
            <a:off x="2214617" y="3042438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214617" y="304243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+</a:t>
            </a:r>
            <a:endParaRPr lang="en-US" sz="1200" dirty="0"/>
          </a:p>
        </p:txBody>
      </p:sp>
      <p:sp>
        <p:nvSpPr>
          <p:cNvPr id="12" name="badge"/>
          <p:cNvSpPr/>
          <p:nvPr/>
        </p:nvSpPr>
        <p:spPr>
          <a:xfrm>
            <a:off x="1812281" y="3334753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812281" y="333475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+</a:t>
            </a:r>
            <a:endParaRPr lang="en-US" sz="1200" dirty="0"/>
          </a:p>
        </p:txBody>
      </p:sp>
      <p:sp>
        <p:nvSpPr>
          <p:cNvPr id="14" name="badge"/>
          <p:cNvSpPr/>
          <p:nvPr/>
        </p:nvSpPr>
        <p:spPr>
          <a:xfrm>
            <a:off x="1314967" y="3334753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314967" y="333475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+</a:t>
            </a:r>
            <a:endParaRPr lang="en-US" sz="1200" dirty="0"/>
          </a:p>
        </p:txBody>
      </p:sp>
      <p:sp>
        <p:nvSpPr>
          <p:cNvPr id="16" name="badge"/>
          <p:cNvSpPr/>
          <p:nvPr/>
        </p:nvSpPr>
        <p:spPr>
          <a:xfrm>
            <a:off x="912631" y="3042438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12631" y="304243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+</a:t>
            </a:r>
            <a:endParaRPr lang="en-US" sz="1200" dirty="0"/>
          </a:p>
        </p:txBody>
      </p:sp>
      <p:sp>
        <p:nvSpPr>
          <p:cNvPr id="18" name="badge"/>
          <p:cNvSpPr/>
          <p:nvPr/>
        </p:nvSpPr>
        <p:spPr>
          <a:xfrm>
            <a:off x="758952" y="2569464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58952" y="2569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+</a:t>
            </a:r>
            <a:endParaRPr lang="en-US" sz="1200" dirty="0"/>
          </a:p>
        </p:txBody>
      </p:sp>
      <p:sp>
        <p:nvSpPr>
          <p:cNvPr id="20" name="badge"/>
          <p:cNvSpPr/>
          <p:nvPr/>
        </p:nvSpPr>
        <p:spPr>
          <a:xfrm>
            <a:off x="912631" y="2096490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912631" y="209649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+</a:t>
            </a:r>
            <a:endParaRPr lang="en-US" sz="1200" dirty="0"/>
          </a:p>
        </p:txBody>
      </p:sp>
      <p:sp>
        <p:nvSpPr>
          <p:cNvPr id="22" name="badge"/>
          <p:cNvSpPr/>
          <p:nvPr/>
        </p:nvSpPr>
        <p:spPr>
          <a:xfrm>
            <a:off x="1314967" y="1804175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314967" y="180417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+</a:t>
            </a:r>
            <a:endParaRPr lang="en-US" sz="1200" dirty="0"/>
          </a:p>
        </p:txBody>
      </p:sp>
      <p:sp>
        <p:nvSpPr>
          <p:cNvPr id="24" name="badge"/>
          <p:cNvSpPr/>
          <p:nvPr/>
        </p:nvSpPr>
        <p:spPr>
          <a:xfrm>
            <a:off x="1812281" y="1804175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812281" y="180417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+</a:t>
            </a:r>
            <a:endParaRPr lang="en-US" sz="1200" dirty="0"/>
          </a:p>
        </p:txBody>
      </p:sp>
      <p:sp>
        <p:nvSpPr>
          <p:cNvPr id="26" name="badge"/>
          <p:cNvSpPr/>
          <p:nvPr/>
        </p:nvSpPr>
        <p:spPr>
          <a:xfrm>
            <a:off x="2214617" y="2096490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2214617" y="209649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+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2880360" y="1554480"/>
            <a:ext cx="2560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Частица глины (−) с облаком ионов (+) и соли в порах проводят ток. Поверхность смектита — 600–800 м²/г: как сахарная пудра против куска сахара.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77240" y="37033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Обратная сила: связанная вода тянет показания вниз</a:t>
            </a:r>
            <a:endParaRPr lang="en-US" sz="140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5760720" y="1371600"/>
          <a:ext cx="585216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1" name="mech-result"/>
          <p:cNvSpPr/>
          <p:nvPr/>
        </p:nvSpPr>
        <p:spPr>
          <a:xfrm>
            <a:off x="5760720" y="3840480"/>
            <a:ext cx="585216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5897880" y="3840480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Слабый сигнал позже пересекает порог → τ длиннее → «лишняя вода»</a:t>
            </a:r>
            <a:endParaRPr lang="en-US" sz="1400" dirty="0"/>
          </a:p>
        </p:txBody>
      </p:sp>
      <p:sp>
        <p:nvSpPr>
          <p:cNvPr id="33" name="h-0"/>
          <p:cNvSpPr/>
          <p:nvPr/>
        </p:nvSpPr>
        <p:spPr>
          <a:xfrm>
            <a:off x="548640" y="4480560"/>
            <a:ext cx="35661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34" name="badge"/>
          <p:cNvSpPr/>
          <p:nvPr/>
        </p:nvSpPr>
        <p:spPr>
          <a:xfrm>
            <a:off x="731520" y="46177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73152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36" name="Text 32"/>
          <p:cNvSpPr txBox="1"/>
          <p:nvPr/>
        </p:nvSpPr>
        <p:spPr>
          <a:xfrm>
            <a:off x="1417320" y="4572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Тяжелее почва → больше ошибка</a:t>
            </a:r>
            <a:endParaRPr lang="en-US" sz="1600" dirty="0"/>
          </a:p>
        </p:txBody>
      </p:sp>
      <p:sp>
        <p:nvSpPr>
          <p:cNvPr id="37" name="Text 33"/>
          <p:cNvSpPr txBox="1"/>
          <p:nvPr/>
        </p:nvSpPr>
        <p:spPr>
          <a:xfrm>
            <a:off x="731520" y="5349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опровергнет: ошибка одинакова в лёгкой и тяжёлой</a:t>
            </a:r>
            <a:endParaRPr lang="en-US" sz="1400" dirty="0"/>
          </a:p>
        </p:txBody>
      </p:sp>
      <p:sp>
        <p:nvSpPr>
          <p:cNvPr id="38" name="h-1"/>
          <p:cNvSpPr/>
          <p:nvPr/>
        </p:nvSpPr>
        <p:spPr>
          <a:xfrm>
            <a:off x="4297680" y="4480560"/>
            <a:ext cx="35661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39" name="badge"/>
          <p:cNvSpPr/>
          <p:nvPr/>
        </p:nvSpPr>
        <p:spPr>
          <a:xfrm>
            <a:off x="4480560" y="46177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448056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41" name="Text 37"/>
          <p:cNvSpPr txBox="1"/>
          <p:nvPr/>
        </p:nvSpPr>
        <p:spPr>
          <a:xfrm>
            <a:off x="5166360" y="4572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Влажнее → ошибка растёт всё быстрее</a:t>
            </a:r>
            <a:endParaRPr lang="en-US" sz="1600" dirty="0"/>
          </a:p>
        </p:txBody>
      </p:sp>
      <p:sp>
        <p:nvSpPr>
          <p:cNvPr id="42" name="Text 38"/>
          <p:cNvSpPr txBox="1"/>
          <p:nvPr/>
        </p:nvSpPr>
        <p:spPr>
          <a:xfrm>
            <a:off x="4480560" y="5349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опровергнет: ошибка постоянна или растёт по прямой</a:t>
            </a:r>
            <a:endParaRPr lang="en-US" sz="1400" dirty="0"/>
          </a:p>
        </p:txBody>
      </p:sp>
      <p:sp>
        <p:nvSpPr>
          <p:cNvPr id="43" name="h-2"/>
          <p:cNvSpPr/>
          <p:nvPr/>
        </p:nvSpPr>
        <p:spPr>
          <a:xfrm>
            <a:off x="8046720" y="4480560"/>
            <a:ext cx="35661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44" name="badge"/>
          <p:cNvSpPr/>
          <p:nvPr/>
        </p:nvSpPr>
        <p:spPr>
          <a:xfrm>
            <a:off x="8229600" y="461772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5" name="Text 41"/>
          <p:cNvSpPr txBox="1"/>
          <p:nvPr/>
        </p:nvSpPr>
        <p:spPr>
          <a:xfrm>
            <a:off x="822960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46" name="Text 42"/>
          <p:cNvSpPr txBox="1"/>
          <p:nvPr/>
        </p:nvSpPr>
        <p:spPr>
          <a:xfrm>
            <a:off x="8915400" y="4572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Плотнее → минералы вместо воздуха</a:t>
            </a:r>
            <a:endParaRPr lang="en-US" sz="1600" dirty="0"/>
          </a:p>
        </p:txBody>
      </p:sp>
      <p:sp>
        <p:nvSpPr>
          <p:cNvPr id="47" name="Text 43"/>
          <p:cNvSpPr txBox="1"/>
          <p:nvPr/>
        </p:nvSpPr>
        <p:spPr>
          <a:xfrm>
            <a:off x="8229600" y="5349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опровергнет: плотность не сдвигает показания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Эксперимент: экзамен для датчика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делать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Схема опыта: 3 почвы × 2 плотности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737360" y="178308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10–20 % физ. глины</a:t>
            </a:r>
            <a:endParaRPr lang="en-US" sz="1600" dirty="0"/>
          </a:p>
        </p:txBody>
      </p:sp>
      <p:sp>
        <p:nvSpPr>
          <p:cNvPr id="7" name="cell"/>
          <p:cNvSpPr/>
          <p:nvPr/>
        </p:nvSpPr>
        <p:spPr>
          <a:xfrm>
            <a:off x="1737360" y="2514600"/>
            <a:ext cx="146304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737360" y="2514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1,35 г/см³</a:t>
            </a:r>
            <a:endParaRPr lang="en-US" sz="1500" dirty="0"/>
          </a:p>
        </p:txBody>
      </p:sp>
      <p:sp>
        <p:nvSpPr>
          <p:cNvPr id="9" name="cell"/>
          <p:cNvSpPr/>
          <p:nvPr/>
        </p:nvSpPr>
        <p:spPr>
          <a:xfrm>
            <a:off x="1737360" y="3291840"/>
            <a:ext cx="146304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737360" y="32918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1,52 г/см³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291840" y="178308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40–50 %</a:t>
            </a:r>
            <a:endParaRPr lang="en-US" sz="1600" dirty="0"/>
          </a:p>
        </p:txBody>
      </p:sp>
      <p:sp>
        <p:nvSpPr>
          <p:cNvPr id="12" name="cell"/>
          <p:cNvSpPr/>
          <p:nvPr/>
        </p:nvSpPr>
        <p:spPr>
          <a:xfrm>
            <a:off x="3291840" y="2514600"/>
            <a:ext cx="1463040" cy="685800"/>
          </a:xfrm>
          <a:prstGeom prst="roundRect">
            <a:avLst>
              <a:gd name="adj" fmla="val 10667"/>
            </a:avLst>
          </a:prstGeom>
          <a:solidFill>
            <a:schemeClr val="accent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291840" y="2514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1,35 г/см³</a:t>
            </a:r>
            <a:endParaRPr lang="en-US" sz="1500" dirty="0"/>
          </a:p>
        </p:txBody>
      </p:sp>
      <p:sp>
        <p:nvSpPr>
          <p:cNvPr id="14" name="cell"/>
          <p:cNvSpPr/>
          <p:nvPr/>
        </p:nvSpPr>
        <p:spPr>
          <a:xfrm>
            <a:off x="3291840" y="3291840"/>
            <a:ext cx="1463040" cy="685800"/>
          </a:xfrm>
          <a:prstGeom prst="roundRect">
            <a:avLst>
              <a:gd name="adj" fmla="val 10667"/>
            </a:avLst>
          </a:prstGeom>
          <a:solidFill>
            <a:schemeClr val="accent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291840" y="32918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1,52 г/см³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846320" y="178308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50–65 %</a:t>
            </a:r>
            <a:endParaRPr lang="en-US" sz="1600" dirty="0"/>
          </a:p>
        </p:txBody>
      </p:sp>
      <p:sp>
        <p:nvSpPr>
          <p:cNvPr id="17" name="cell"/>
          <p:cNvSpPr/>
          <p:nvPr/>
        </p:nvSpPr>
        <p:spPr>
          <a:xfrm>
            <a:off x="4846320" y="2514600"/>
            <a:ext cx="1463040" cy="685800"/>
          </a:xfrm>
          <a:prstGeom prst="roundRect">
            <a:avLst>
              <a:gd name="adj" fmla="val 10667"/>
            </a:avLst>
          </a:prstGeom>
          <a:solidFill>
            <a:schemeClr val="accent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846320" y="2514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1,35 г/см³</a:t>
            </a:r>
            <a:endParaRPr lang="en-US" sz="1500" dirty="0"/>
          </a:p>
        </p:txBody>
      </p:sp>
      <p:sp>
        <p:nvSpPr>
          <p:cNvPr id="19" name="cell"/>
          <p:cNvSpPr/>
          <p:nvPr/>
        </p:nvSpPr>
        <p:spPr>
          <a:xfrm>
            <a:off x="4846320" y="3291840"/>
            <a:ext cx="1463040" cy="685800"/>
          </a:xfrm>
          <a:prstGeom prst="roundRect">
            <a:avLst>
              <a:gd name="adj" fmla="val 10667"/>
            </a:avLst>
          </a:prstGeom>
          <a:solidFill>
            <a:schemeClr val="accent3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846320" y="32918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1,52 г/см³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25146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плотность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737360" y="4069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физическая глина — частицы мельче 0,01 мм; все почвы незасолённые</a:t>
            </a:r>
            <a:endParaRPr lang="en-US" sz="1300" dirty="0"/>
          </a:p>
        </p:txBody>
      </p:sp>
      <p:sp>
        <p:nvSpPr>
          <p:cNvPr id="23" name="count"/>
          <p:cNvSpPr/>
          <p:nvPr/>
        </p:nvSpPr>
        <p:spPr>
          <a:xfrm>
            <a:off x="6675120" y="1371600"/>
            <a:ext cx="4937760" cy="1188720"/>
          </a:xfrm>
          <a:prstGeom prst="roundRect">
            <a:avLst>
              <a:gd name="adj" fmla="val 6154"/>
            </a:avLst>
          </a:prstGeom>
          <a:solidFill>
            <a:schemeClr val="tx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903720" y="138988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6 × 3 × 10 = 180</a:t>
            </a:r>
            <a:endParaRPr lang="en-US" sz="3400" dirty="0"/>
          </a:p>
        </p:txBody>
      </p:sp>
      <p:sp>
        <p:nvSpPr>
          <p:cNvPr id="25" name="Text 22"/>
          <p:cNvSpPr txBox="1"/>
          <p:nvPr/>
        </p:nvSpPr>
        <p:spPr>
          <a:xfrm>
            <a:off x="6903720" y="207568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измерений → 60 средних по трём колонкам</a:t>
            </a:r>
            <a:endParaRPr lang="en-US" sz="1500" dirty="0"/>
          </a:p>
        </p:txBody>
      </p:sp>
      <p:sp>
        <p:nvSpPr>
          <p:cNvPr id="26" name="key"/>
          <p:cNvSpPr/>
          <p:nvPr/>
        </p:nvSpPr>
        <p:spPr>
          <a:xfrm>
            <a:off x="6675120" y="2697480"/>
            <a:ext cx="49377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858000" y="26974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Ключ ответов: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весовой метод (сушка при 105 °C), точность ±0,005</a:t>
            </a:r>
            <a:endParaRPr lang="en-US" sz="1500" dirty="0"/>
          </a:p>
        </p:txBody>
      </p:sp>
      <p:sp>
        <p:nvSpPr>
          <p:cNvPr id="28" name="metrics"/>
          <p:cNvSpPr/>
          <p:nvPr/>
        </p:nvSpPr>
        <p:spPr>
          <a:xfrm>
            <a:off x="6675120" y="3703320"/>
            <a:ext cx="49377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858000" y="37033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Сдвиг прицела (MB) и типичный промах (RMSE)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критерий: RMSE ≤ 0,02</a:t>
            </a:r>
            <a:endParaRPr lang="en-US" sz="1500" dirty="0"/>
          </a:p>
        </p:txBody>
      </p:sp>
      <p:sp>
        <p:nvSpPr>
          <p:cNvPr id="30" name="proc-0"/>
          <p:cNvSpPr/>
          <p:nvPr/>
        </p:nvSpPr>
        <p:spPr>
          <a:xfrm>
            <a:off x="548640" y="489204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31520" y="489204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Насыщение снизу, 48 ч</a:t>
            </a:r>
            <a:endParaRPr lang="en-US" sz="1700" dirty="0"/>
          </a:p>
        </p:txBody>
      </p:sp>
      <p:sp>
        <p:nvSpPr>
          <p:cNvPr id="32" name="arrow"/>
          <p:cNvSpPr/>
          <p:nvPr/>
        </p:nvSpPr>
        <p:spPr>
          <a:xfrm>
            <a:off x="3182112" y="5303520"/>
            <a:ext cx="219456" cy="32004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33" name="proc-1"/>
          <p:cNvSpPr/>
          <p:nvPr/>
        </p:nvSpPr>
        <p:spPr>
          <a:xfrm>
            <a:off x="3383280" y="489204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3566160" y="489204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Ступенчатое иссушение при 20 °C</a:t>
            </a:r>
            <a:endParaRPr lang="en-US" sz="1700" dirty="0"/>
          </a:p>
        </p:txBody>
      </p:sp>
      <p:sp>
        <p:nvSpPr>
          <p:cNvPr id="35" name="arrow"/>
          <p:cNvSpPr/>
          <p:nvPr/>
        </p:nvSpPr>
        <p:spPr>
          <a:xfrm>
            <a:off x="6016752" y="5303520"/>
            <a:ext cx="219456" cy="32004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36" name="proc-2"/>
          <p:cNvSpPr/>
          <p:nvPr/>
        </p:nvSpPr>
        <p:spPr>
          <a:xfrm>
            <a:off x="6217920" y="489204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400800" y="489204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Равновесие 8–36 ч</a:t>
            </a:r>
            <a:endParaRPr lang="en-US" sz="1700" dirty="0"/>
          </a:p>
        </p:txBody>
      </p:sp>
      <p:sp>
        <p:nvSpPr>
          <p:cNvPr id="38" name="arrow"/>
          <p:cNvSpPr/>
          <p:nvPr/>
        </p:nvSpPr>
        <p:spPr>
          <a:xfrm>
            <a:off x="8851392" y="5303520"/>
            <a:ext cx="219456" cy="32004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39" name="proc-3"/>
          <p:cNvSpPr/>
          <p:nvPr/>
        </p:nvSpPr>
        <p:spPr>
          <a:xfrm>
            <a:off x="9052560" y="489204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accent1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9235440" y="489204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Снимок: время пробега + масса</a:t>
            </a:r>
            <a:endParaRPr lang="en-US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Колонка 152 × 300 мм. Каждое решение убирает постороннюю причину: пестроту поля, температуру, перетекание воды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Чем влажнее почва, тем сильнее завышение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делать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371600"/>
          <a:ext cx="704088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kpi-0"/>
          <p:cNvSpPr/>
          <p:nvPr/>
        </p:nvSpPr>
        <p:spPr>
          <a:xfrm>
            <a:off x="7818120" y="1371600"/>
            <a:ext cx="3794760" cy="1124712"/>
          </a:xfrm>
          <a:prstGeom prst="roundRect">
            <a:avLst>
              <a:gd name="adj" fmla="val 6504"/>
            </a:avLst>
          </a:prstGeom>
          <a:solidFill>
            <a:schemeClr val="bg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8001000" y="1417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≤ 0,014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8001000" y="187452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типичный промах (RMSE) везде ниже критерия 0,02</a:t>
            </a:r>
            <a:endParaRPr lang="en-US" sz="1250" dirty="0"/>
          </a:p>
        </p:txBody>
      </p:sp>
      <p:sp>
        <p:nvSpPr>
          <p:cNvPr id="9" name="kpi-1"/>
          <p:cNvSpPr/>
          <p:nvPr/>
        </p:nvSpPr>
        <p:spPr>
          <a:xfrm>
            <a:off x="7818120" y="2606040"/>
            <a:ext cx="3794760" cy="1124712"/>
          </a:xfrm>
          <a:prstGeom prst="roundRect">
            <a:avLst>
              <a:gd name="adj" fmla="val 6504"/>
            </a:avLst>
          </a:prstGeom>
          <a:solidFill>
            <a:schemeClr val="bg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8001000" y="2651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+6…10 мм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8001000" y="310896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средний сдвиг вверх в тяжёлых почвах, на метровый слой (MB +0,006…+0,010, описательно); в лёгкой — на уровне погрешности</a:t>
            </a:r>
            <a:endParaRPr lang="en-US" sz="1250" dirty="0"/>
          </a:p>
        </p:txBody>
      </p:sp>
      <p:sp>
        <p:nvSpPr>
          <p:cNvPr id="12" name="kpi-2"/>
          <p:cNvSpPr/>
          <p:nvPr/>
        </p:nvSpPr>
        <p:spPr>
          <a:xfrm>
            <a:off x="7818120" y="3840480"/>
            <a:ext cx="3794760" cy="1124712"/>
          </a:xfrm>
          <a:prstGeom prst="roundRect">
            <a:avLst>
              <a:gd name="adj" fmla="val 6504"/>
            </a:avLst>
          </a:prstGeom>
          <a:solidFill>
            <a:schemeClr val="bg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001000" y="3886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× 2,6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8001000" y="434340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во столько раз быстрее растёт ошибка при θ 0,20 → 0,40 в самой тяжёлой почве, чем в лёгкой</a:t>
            </a:r>
            <a:endParaRPr lang="en-US" sz="1250" dirty="0"/>
          </a:p>
        </p:txBody>
      </p:sp>
      <p:sp>
        <p:nvSpPr>
          <p:cNvPr id="15" name="analogy"/>
          <p:cNvSpPr/>
          <p:nvPr/>
        </p:nvSpPr>
        <p:spPr>
          <a:xfrm>
            <a:off x="7818120" y="5074920"/>
            <a:ext cx="3794760" cy="1188720"/>
          </a:xfrm>
          <a:prstGeom prst="roundRect">
            <a:avLst>
              <a:gd name="adj" fmla="val 6154"/>
            </a:avLst>
          </a:prstGeom>
          <a:solidFill>
            <a:schemeClr val="tx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001000" y="50749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Как спидометр: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чем быстрее едешь, тем сильнее завышает. Постоянная поправка не сработает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«Не значимо» — не значит «невиновен»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делать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325880"/>
          <a:ext cx="512064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verdict"/>
          <p:cNvSpPr/>
          <p:nvPr/>
        </p:nvSpPr>
        <p:spPr>
          <a:xfrm>
            <a:off x="548640" y="3154680"/>
            <a:ext cx="5120640" cy="1188720"/>
          </a:xfrm>
          <a:prstGeom prst="roundRect">
            <a:avLst>
              <a:gd name="adj" fmla="val 6154"/>
            </a:avLst>
          </a:prstGeom>
          <a:solidFill>
            <a:schemeClr val="tx1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777240" y="3154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Почва: p = 0,074 → «не значимо»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но «нет доказательств» ≠ «невиновен»: эффект заглушает рост ошибки с влажностью</a:t>
            </a:r>
            <a:endParaRPr lang="en-US" sz="1500" dirty="0"/>
          </a:p>
        </p:txBody>
      </p:sp>
      <p:sp>
        <p:nvSpPr>
          <p:cNvPr id="8" name="analogy"/>
          <p:cNvSpPr/>
          <p:nvPr/>
        </p:nvSpPr>
        <p:spPr>
          <a:xfrm>
            <a:off x="548640" y="4480560"/>
            <a:ext cx="51206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77240" y="44805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Разговор на концерте →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выключить музыку: сравнить почвы при равной влажности</a:t>
            </a:r>
            <a:endParaRPr lang="en-US" sz="1500" dirty="0"/>
          </a:p>
        </p:txBody>
      </p:sp>
      <p:sp>
        <p:nvSpPr>
          <p:cNvPr id="10" name="caveat"/>
          <p:cNvSpPr/>
          <p:nvPr/>
        </p:nvSpPr>
        <p:spPr>
          <a:xfrm>
            <a:off x="548640" y="5394960"/>
            <a:ext cx="512064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539496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Граница вывода: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уровни — состояния одних колонок, почва в группе одна → вывод описательный</a:t>
            </a:r>
            <a:endParaRPr lang="en-US" sz="14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5943600" y="1325880"/>
          <a:ext cx="56692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st-0"/>
          <p:cNvSpPr/>
          <p:nvPr/>
        </p:nvSpPr>
        <p:spPr>
          <a:xfrm>
            <a:off x="5943600" y="4892040"/>
            <a:ext cx="1828800" cy="13716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6080760" y="489204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По уровням (блоки)</a:t>
            </a:r>
            <a:endParaRPr lang="en-US" sz="16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 = 0,013</a:t>
            </a:r>
            <a:endParaRPr lang="en-US" sz="1600" dirty="0"/>
          </a:p>
        </p:txBody>
      </p:sp>
      <p:sp>
        <p:nvSpPr>
          <p:cNvPr id="15" name="test-1"/>
          <p:cNvSpPr/>
          <p:nvPr/>
        </p:nvSpPr>
        <p:spPr>
          <a:xfrm>
            <a:off x="7863840" y="4892040"/>
            <a:ext cx="1828800" cy="13716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8001000" y="489204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Только порядок (Фридман)</a:t>
            </a:r>
            <a:endParaRPr lang="en-US" sz="16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 = 0,004</a:t>
            </a:r>
            <a:endParaRPr lang="en-US" sz="1600" dirty="0"/>
          </a:p>
        </p:txBody>
      </p:sp>
      <p:sp>
        <p:nvSpPr>
          <p:cNvPr id="17" name="test-2"/>
          <p:cNvSpPr/>
          <p:nvPr/>
        </p:nvSpPr>
        <p:spPr>
          <a:xfrm>
            <a:off x="9784080" y="4892040"/>
            <a:ext cx="18288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9921240" y="489204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Если бы уровни были независимы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(1/3)⁶ ≈ 1 из 729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Второй подозреваемый и несбывшийся прогноз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делать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325880"/>
          <a:ext cx="539496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r2-0"/>
          <p:cNvSpPr/>
          <p:nvPr/>
        </p:nvSpPr>
        <p:spPr>
          <a:xfrm>
            <a:off x="548640" y="4617720"/>
            <a:ext cx="265176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85800" y="46177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сдвиг ~ MH: R² = 0,88</a:t>
            </a:r>
            <a:endParaRPr lang="en-US" sz="1700" dirty="0"/>
          </a:p>
        </p:txBody>
      </p:sp>
      <p:sp>
        <p:nvSpPr>
          <p:cNvPr id="8" name="r2-1"/>
          <p:cNvSpPr/>
          <p:nvPr/>
        </p:nvSpPr>
        <p:spPr>
          <a:xfrm>
            <a:off x="3291840" y="4617720"/>
            <a:ext cx="265176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3429000" y="46177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сдвиг ~ ECe: R² = 0,96</a:t>
            </a:r>
            <a:endParaRPr lang="en-US" sz="1700" dirty="0"/>
          </a:p>
        </p:txBody>
      </p:sp>
      <p:sp>
        <p:nvSpPr>
          <p:cNvPr id="10" name="two-suspects"/>
          <p:cNvSpPr/>
          <p:nvPr/>
        </p:nvSpPr>
        <p:spPr>
          <a:xfrm>
            <a:off x="548640" y="5440680"/>
            <a:ext cx="539496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77240" y="54406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Всего 6 точек (3 почвы × 2 плотности): два подозреваемых всегда вместе — не разделить</a:t>
            </a:r>
            <a:endParaRPr lang="en-US" sz="15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6217920" y="1325880"/>
          <a:ext cx="539496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link-0"/>
          <p:cNvSpPr/>
          <p:nvPr/>
        </p:nvSpPr>
        <p:spPr>
          <a:xfrm>
            <a:off x="6217920" y="4160520"/>
            <a:ext cx="16459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309360" y="416052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модель смеси</a:t>
            </a:r>
            <a:endParaRPr lang="en-US" sz="1300" dirty="0"/>
          </a:p>
        </p:txBody>
      </p:sp>
      <p:sp>
        <p:nvSpPr>
          <p:cNvPr id="15" name="badge"/>
          <p:cNvSpPr/>
          <p:nvPr/>
        </p:nvSpPr>
        <p:spPr>
          <a:xfrm>
            <a:off x="7434072" y="434340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34072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?</a:t>
            </a:r>
            <a:endParaRPr lang="en-US" sz="1400" dirty="0"/>
          </a:p>
        </p:txBody>
      </p:sp>
      <p:sp>
        <p:nvSpPr>
          <p:cNvPr id="17" name="line"/>
          <p:cNvSpPr/>
          <p:nvPr/>
        </p:nvSpPr>
        <p:spPr>
          <a:xfrm>
            <a:off x="7863840" y="4526280"/>
            <a:ext cx="228600" cy="0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</a:ln>
        </p:spPr>
      </p:sp>
      <p:sp>
        <p:nvSpPr>
          <p:cNvPr id="18" name="link-1"/>
          <p:cNvSpPr/>
          <p:nvPr/>
        </p:nvSpPr>
        <p:spPr>
          <a:xfrm>
            <a:off x="8092440" y="4160520"/>
            <a:ext cx="16459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183880" y="416052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та же влажность</a:t>
            </a:r>
            <a:endParaRPr lang="en-US" sz="1300" dirty="0"/>
          </a:p>
        </p:txBody>
      </p:sp>
      <p:sp>
        <p:nvSpPr>
          <p:cNvPr id="20" name="badge"/>
          <p:cNvSpPr/>
          <p:nvPr/>
        </p:nvSpPr>
        <p:spPr>
          <a:xfrm>
            <a:off x="9308592" y="434340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9308592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×</a:t>
            </a:r>
            <a:endParaRPr lang="en-US" sz="1400" dirty="0"/>
          </a:p>
        </p:txBody>
      </p:sp>
      <p:sp>
        <p:nvSpPr>
          <p:cNvPr id="22" name="line"/>
          <p:cNvSpPr/>
          <p:nvPr/>
        </p:nvSpPr>
        <p:spPr>
          <a:xfrm>
            <a:off x="9738360" y="4526280"/>
            <a:ext cx="228600" cy="0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</a:ln>
        </p:spPr>
      </p:sp>
      <p:sp>
        <p:nvSpPr>
          <p:cNvPr id="23" name="link-2"/>
          <p:cNvSpPr/>
          <p:nvPr/>
        </p:nvSpPr>
        <p:spPr>
          <a:xfrm>
            <a:off x="9966960" y="4160520"/>
            <a:ext cx="16459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10058400" y="416052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та же проводимость</a:t>
            </a:r>
            <a:endParaRPr lang="en-US" sz="1300" dirty="0"/>
          </a:p>
        </p:txBody>
      </p:sp>
      <p:sp>
        <p:nvSpPr>
          <p:cNvPr id="25" name="badge"/>
          <p:cNvSpPr/>
          <p:nvPr/>
        </p:nvSpPr>
        <p:spPr>
          <a:xfrm>
            <a:off x="11183112" y="434340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11183112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×</a:t>
            </a:r>
            <a:endParaRPr lang="en-US" sz="1400" dirty="0"/>
          </a:p>
        </p:txBody>
      </p:sp>
      <p:sp>
        <p:nvSpPr>
          <p:cNvPr id="27" name="chain-logic"/>
          <p:cNvSpPr/>
          <p:nvPr/>
        </p:nvSpPr>
        <p:spPr>
          <a:xfrm>
            <a:off x="6217920" y="5029200"/>
            <a:ext cx="5394960" cy="1234440"/>
          </a:xfrm>
          <a:prstGeom prst="roundRect">
            <a:avLst>
              <a:gd name="adj" fmla="val 5926"/>
            </a:avLst>
          </a:prstGeom>
          <a:solidFill>
            <a:schemeClr val="tx1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6400800" y="502920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Все звенья целы ⇒ прогноз сбывается. Не сбылся ⇒ порвалось хотя бы одно. </a:t>
            </a:r>
            <a:pPr indent="0" marL="0">
              <a:buNone/>
            </a:pPr>
            <a:r>
              <a:rPr lang="en-US" sz="1350" dirty="0">
                <a:solidFill>
                  <a:schemeClr val="accent2"/>
                </a:solidFill>
              </a:rPr>
              <a:t>Кандидаты: у плотных ECe ниже на 0,07–0,12 дСм/м, диапазоны влажности разные — но разрыв полностью не объясняют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Насколько твёрды улики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делать</a:t>
            </a:r>
            <a:endParaRPr lang="en-US" sz="1100" dirty="0"/>
          </a:p>
        </p:txBody>
      </p:sp>
      <p:graphicFrame>
        <p:nvGraphicFramePr>
          <p:cNvPr id="10" name="ledge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194560"/>
                <a:gridCol w="1280160"/>
                <a:gridCol w="3931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Утверждение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Тип связи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Твёрдость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Слабое место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Типичный промах (RMSE) &lt; 0,02 везде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прямое измерение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</a:rPr>
                        <a:t>●●●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лаборатория; средние трёх колонок, без разброса между датчиками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Ошибка растёт с влажностью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прямое наблюдение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</a:rPr>
                        <a:t>●●●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до θ 0,40 (и два состояния вне анализа); только иссушение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На равной влажности A &lt; B ≤ C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статистический вывод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</a:rPr>
                        <a:t>●●○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уровни — состояния одних колонок; одна почва на группу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Прогноз смеси для плотности не сбылся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количественная модель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</a:rPr>
                        <a:t>●●○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ECe и диапазоны влажности вариантов различались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Виновата именно поверхность глин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косвенный показатель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3"/>
                          </a:solidFill>
                        </a:rPr>
                        <a:t>●○○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не отделена от солей (r = 0,88); всего три почвы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link-types"/>
          <p:cNvSpPr/>
          <p:nvPr/>
        </p:nvSpPr>
        <p:spPr>
          <a:xfrm>
            <a:off x="548640" y="5440680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5440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Типы связей: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измерение и наблюдение — видим прямо; статистический вывод — обобщаем; модель — предсказываем; косвенный показатель — судим по следам. Слабые места — адреса следующих опытов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Что делать, пока дело не закрыто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Что делать</a:t>
            </a:r>
            <a:endParaRPr lang="en-US" sz="1100" dirty="0"/>
          </a:p>
        </p:txBody>
      </p:sp>
      <p:sp>
        <p:nvSpPr>
          <p:cNvPr id="5" name="tl-0"/>
          <p:cNvSpPr/>
          <p:nvPr/>
        </p:nvSpPr>
        <p:spPr>
          <a:xfrm>
            <a:off x="548640" y="1417320"/>
            <a:ext cx="630936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/>
        </p:spPr>
      </p:sp>
      <p:sp>
        <p:nvSpPr>
          <p:cNvPr id="6" name="light"/>
          <p:cNvSpPr/>
          <p:nvPr/>
        </p:nvSpPr>
        <p:spPr>
          <a:xfrm>
            <a:off x="731520" y="1655064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600200" y="1417320"/>
            <a:ext cx="5120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Лёгкие незасолённые, как наша (10–20 % физ. глины)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заводская калибровка без поправки</a:t>
            </a:r>
            <a:endParaRPr lang="en-US" sz="1600" dirty="0"/>
          </a:p>
        </p:txBody>
      </p:sp>
      <p:sp>
        <p:nvSpPr>
          <p:cNvPr id="8" name="tl-1"/>
          <p:cNvSpPr/>
          <p:nvPr/>
        </p:nvSpPr>
        <p:spPr>
          <a:xfrm>
            <a:off x="548640" y="2651760"/>
            <a:ext cx="630936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/>
        </p:spPr>
      </p:sp>
      <p:sp>
        <p:nvSpPr>
          <p:cNvPr id="9" name="light"/>
          <p:cNvSpPr/>
          <p:nvPr/>
        </p:nvSpPr>
        <p:spPr>
          <a:xfrm>
            <a:off x="731520" y="2889504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600200" y="2651760"/>
            <a:ext cx="5120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Тяжёлые, 40–65 %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завышение 6–10 мм воды в метровом слое, до 27 мм во влажной: калибровка под почву или 1–2 весовые проверки за сезон</a:t>
            </a:r>
            <a:endParaRPr lang="en-US" sz="1600" dirty="0"/>
          </a:p>
        </p:txBody>
      </p:sp>
      <p:sp>
        <p:nvSpPr>
          <p:cNvPr id="11" name="tl-2"/>
          <p:cNvSpPr/>
          <p:nvPr/>
        </p:nvSpPr>
        <p:spPr>
          <a:xfrm>
            <a:off x="548640" y="3886200"/>
            <a:ext cx="630936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/>
        </p:spPr>
      </p:sp>
      <p:sp>
        <p:nvSpPr>
          <p:cNvPr id="12" name="light"/>
          <p:cNvSpPr/>
          <p:nvPr/>
        </p:nvSpPr>
        <p:spPr>
          <a:xfrm>
            <a:off x="731520" y="4123944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600200" y="3886200"/>
            <a:ext cx="5120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Постоянная поправка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не годится: ошибается и в сухой, и во влажной почве (график)</a:t>
            </a:r>
            <a:endParaRPr lang="en-US" sz="1600" dirty="0"/>
          </a:p>
        </p:txBody>
      </p:sp>
      <p:sp>
        <p:nvSpPr>
          <p:cNvPr id="14" name="tl-3"/>
          <p:cNvSpPr/>
          <p:nvPr/>
        </p:nvSpPr>
        <p:spPr>
          <a:xfrm>
            <a:off x="548640" y="5120640"/>
            <a:ext cx="630936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/>
        </p:spPr>
      </p:sp>
      <p:sp>
        <p:nvSpPr>
          <p:cNvPr id="15" name="light"/>
          <p:cNvSpPr/>
          <p:nvPr/>
        </p:nvSpPr>
        <p:spPr>
          <a:xfrm>
            <a:off x="731520" y="5358384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600200" y="5120640"/>
            <a:ext cx="5120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Серая зона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20–40 % физ. глины не испытаны; в поле нужна температурная поправка</a:t>
            </a:r>
            <a:endParaRPr lang="en-US" sz="16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7132320" y="1371600"/>
          <a:ext cx="44805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wo-point"/>
          <p:cNvSpPr/>
          <p:nvPr/>
        </p:nvSpPr>
        <p:spPr>
          <a:xfrm>
            <a:off x="7132320" y="4709160"/>
            <a:ext cx="4480560" cy="1554480"/>
          </a:xfrm>
          <a:prstGeom prst="roundRect">
            <a:avLst>
              <a:gd name="adj" fmla="val 4706"/>
            </a:avLst>
          </a:prstGeom>
          <a:solidFill>
            <a:schemeClr val="tx1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7315200" y="470916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Наше предложение (в поле не проверено):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пробы после полива и перед поливом — одна точка даёт сдвиг, две — ещё и наклон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Как закрыть дело: решающие опыты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Что делать</a:t>
            </a:r>
            <a:endParaRPr lang="en-US" sz="1100" dirty="0"/>
          </a:p>
        </p:txBody>
      </p:sp>
      <p:graphicFrame>
        <p:nvGraphicFramePr>
          <p:cNvPr id="12" name="if-th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023360"/>
                <a:gridCol w="3657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Если верно…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…то увидим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Решающий опыт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Виноваты соли (проводимость раствора)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ошибка растёт вместе с ECe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засолённые варианты, ECe 1–4 дСм/м (отдельная статья)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Виновата поверхность глин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при равной ECe ошибка больше там, где больше смектита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минералогия глин; пары почв с равной ECe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Плотность «спрятана» разницей ECe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при выровненной ECe сдвиг ближе к прогнозу +0,009…+0,010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уплотнение одной почвы при одинаковой ECe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Эффект почвы реален, а не артефакт колонок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сохранится в смешанной модели, учитывающей разброс колонок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переанализ 180 измерений — данные уже есть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Идея: завышение задаёт проводимость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поправка по двум входам (время пробега + объёмная ЭП) уберёт большую часть ошибки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мерить объёмную ЭП рядом с датчиком (в опыте не мерили)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Ваш ход: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какой опыт различит гипотезы дешевле всего? Так же стоит проверять любой датчик, который судит о воде по проницаемости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Три мысли, которые стоит унести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   ·   </a:t>
            </a:r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Что делать</a:t>
            </a:r>
            <a:endParaRPr lang="en-US" sz="1100" dirty="0"/>
          </a:p>
        </p:txBody>
      </p:sp>
      <p:sp>
        <p:nvSpPr>
          <p:cNvPr id="5" name="take-0"/>
          <p:cNvSpPr/>
          <p:nvPr/>
        </p:nvSpPr>
        <p:spPr>
          <a:xfrm>
            <a:off x="548640" y="1417320"/>
            <a:ext cx="3566160" cy="2697480"/>
          </a:xfrm>
          <a:prstGeom prst="roundRect">
            <a:avLst>
              <a:gd name="adj" fmla="val 2712"/>
            </a:avLst>
          </a:prstGeom>
          <a:solidFill>
            <a:srgbClr val="3D2E22"/>
          </a:solidFill>
          <a:ln/>
        </p:spPr>
      </p:sp>
      <p:sp>
        <p:nvSpPr>
          <p:cNvPr id="6" name="badge"/>
          <p:cNvSpPr/>
          <p:nvPr/>
        </p:nvSpPr>
        <p:spPr>
          <a:xfrm>
            <a:off x="822960" y="1627632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627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77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Годится, но не бесплатно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09067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по критерию 0,02 — да; но при 40–65 % физ. глины средний сдвиг вверх, и сильнее во влажной почве</a:t>
            </a:r>
            <a:endParaRPr lang="en-US" sz="1500" dirty="0"/>
          </a:p>
        </p:txBody>
      </p:sp>
      <p:sp>
        <p:nvSpPr>
          <p:cNvPr id="10" name="take-1"/>
          <p:cNvSpPr/>
          <p:nvPr/>
        </p:nvSpPr>
        <p:spPr>
          <a:xfrm>
            <a:off x="4297680" y="1417320"/>
            <a:ext cx="3566160" cy="2697480"/>
          </a:xfrm>
          <a:prstGeom prst="roundRect">
            <a:avLst>
              <a:gd name="adj" fmla="val 2712"/>
            </a:avLst>
          </a:prstGeom>
          <a:solidFill>
            <a:srgbClr val="3D2E22"/>
          </a:solidFill>
          <a:ln/>
        </p:spPr>
      </p:sp>
      <p:sp>
        <p:nvSpPr>
          <p:cNvPr id="11" name="badge"/>
          <p:cNvSpPr/>
          <p:nvPr/>
        </p:nvSpPr>
        <p:spPr>
          <a:xfrm>
            <a:off x="4572000" y="1627632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72000" y="1627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2377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Доказывать устойчивость, а не только p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309067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порядок почв сохранялся на каждом уровне влажности, два разных теста согласны; слабые места названы</a:t>
            </a:r>
            <a:endParaRPr lang="en-US" sz="1500" dirty="0"/>
          </a:p>
        </p:txBody>
      </p:sp>
      <p:sp>
        <p:nvSpPr>
          <p:cNvPr id="15" name="take-2"/>
          <p:cNvSpPr/>
          <p:nvPr/>
        </p:nvSpPr>
        <p:spPr>
          <a:xfrm>
            <a:off x="8046720" y="1417320"/>
            <a:ext cx="3566160" cy="2697480"/>
          </a:xfrm>
          <a:prstGeom prst="roundRect">
            <a:avLst>
              <a:gd name="adj" fmla="val 2712"/>
            </a:avLst>
          </a:prstGeom>
          <a:solidFill>
            <a:srgbClr val="3D2E22"/>
          </a:solidFill>
          <a:ln/>
        </p:spPr>
      </p:sp>
      <p:sp>
        <p:nvSpPr>
          <p:cNvPr id="16" name="badge"/>
          <p:cNvSpPr/>
          <p:nvPr/>
        </p:nvSpPr>
        <p:spPr>
          <a:xfrm>
            <a:off x="8321040" y="1627632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321040" y="1627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8321040" y="2377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Гипотеза подтверждена частично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8321040" y="309067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связь с почвой и влажностью — есть; механизм (глина или соли) не разделён; плотность — нет</a:t>
            </a:r>
            <a:endParaRPr lang="en-US" sz="1500" dirty="0"/>
          </a:p>
        </p:txBody>
      </p:sp>
      <p:sp>
        <p:nvSpPr>
          <p:cNvPr id="20" name="verdict-0"/>
          <p:cNvSpPr/>
          <p:nvPr/>
        </p:nvSpPr>
        <p:spPr>
          <a:xfrm>
            <a:off x="548640" y="4297680"/>
            <a:ext cx="3566160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31520" y="42976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H1 · почва: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частично</a:t>
            </a:r>
            <a:endParaRPr lang="en-US" sz="1700" dirty="0"/>
          </a:p>
        </p:txBody>
      </p:sp>
      <p:sp>
        <p:nvSpPr>
          <p:cNvPr id="22" name="verdict-1"/>
          <p:cNvSpPr/>
          <p:nvPr/>
        </p:nvSpPr>
        <p:spPr>
          <a:xfrm>
            <a:off x="4297680" y="4297680"/>
            <a:ext cx="3566160" cy="685800"/>
          </a:xfrm>
          <a:prstGeom prst="roundRect">
            <a:avLst>
              <a:gd name="adj" fmla="val 10667"/>
            </a:avLst>
          </a:prstGeom>
          <a:solidFill>
            <a:schemeClr val="accent6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480560" y="42976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H2 · влажность: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подтверждена</a:t>
            </a:r>
            <a:endParaRPr lang="en-US" sz="1700" dirty="0"/>
          </a:p>
        </p:txBody>
      </p:sp>
      <p:sp>
        <p:nvSpPr>
          <p:cNvPr id="24" name="verdict-2"/>
          <p:cNvSpPr/>
          <p:nvPr/>
        </p:nvSpPr>
        <p:spPr>
          <a:xfrm>
            <a:off x="8046720" y="4297680"/>
            <a:ext cx="3566160" cy="685800"/>
          </a:xfrm>
          <a:prstGeom prst="roundRect">
            <a:avLst>
              <a:gd name="adj" fmla="val 10667"/>
            </a:avLst>
          </a:prstGeom>
          <a:solidFill>
            <a:schemeClr val="accent3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229600" y="42976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H3 · плотность: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не подтверждена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Дело не закрыто — и теперь понятно, какой опыт его закроет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Спасибо за внимание!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Запасной: шесть теорий и типы связей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Запасные слайды — для вопросов</a:t>
            </a:r>
            <a:endParaRPr lang="en-US" sz="1100" dirty="0"/>
          </a:p>
        </p:txBody>
      </p:sp>
      <p:sp>
        <p:nvSpPr>
          <p:cNvPr id="5" name="node"/>
          <p:cNvSpPr/>
          <p:nvPr/>
        </p:nvSpPr>
        <p:spPr>
          <a:xfrm>
            <a:off x="548640" y="1463040"/>
            <a:ext cx="1920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58368" y="150876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Физика почв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доли фаз, плотность, набухание</a:t>
            </a:r>
            <a:endParaRPr lang="en-US" sz="1600" dirty="0"/>
          </a:p>
        </p:txBody>
      </p:sp>
      <p:sp>
        <p:nvSpPr>
          <p:cNvPr id="7" name="node"/>
          <p:cNvSpPr/>
          <p:nvPr/>
        </p:nvSpPr>
        <p:spPr>
          <a:xfrm>
            <a:off x="548640" y="3063240"/>
            <a:ext cx="1920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58368" y="310896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Химия глин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двойной слой, соли; прокси: MH, ECe</a:t>
            </a:r>
            <a:endParaRPr lang="en-US" sz="1600" dirty="0"/>
          </a:p>
        </p:txBody>
      </p:sp>
      <p:sp>
        <p:nvSpPr>
          <p:cNvPr id="9" name="node"/>
          <p:cNvSpPr/>
          <p:nvPr/>
        </p:nvSpPr>
        <p:spPr>
          <a:xfrm>
            <a:off x="2834640" y="1463040"/>
            <a:ext cx="1920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944368" y="150876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Теория смеси (CRIM)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√ε смеси = Σ доля × √ε</a:t>
            </a:r>
            <a:endParaRPr lang="en-US" sz="1600" dirty="0"/>
          </a:p>
        </p:txBody>
      </p:sp>
      <p:sp>
        <p:nvSpPr>
          <p:cNvPr id="11" name="node"/>
          <p:cNvSpPr/>
          <p:nvPr/>
        </p:nvSpPr>
        <p:spPr>
          <a:xfrm>
            <a:off x="2834640" y="3063240"/>
            <a:ext cx="1920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944368" y="310896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Электро­динамика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скорость ∝ 1/√ε; потери сигнала</a:t>
            </a:r>
            <a:endParaRPr lang="en-US" sz="1600" dirty="0"/>
          </a:p>
        </p:txBody>
      </p:sp>
      <p:sp>
        <p:nvSpPr>
          <p:cNvPr id="13" name="node"/>
          <p:cNvSpPr/>
          <p:nvPr/>
        </p:nvSpPr>
        <p:spPr>
          <a:xfrm>
            <a:off x="5120640" y="2263140"/>
            <a:ext cx="1920240" cy="128016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230368" y="230886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Датчик + уравнение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τ → θ: эмпирический перевод</a:t>
            </a:r>
            <a:endParaRPr lang="en-US" sz="1600" dirty="0"/>
          </a:p>
        </p:txBody>
      </p:sp>
      <p:sp>
        <p:nvSpPr>
          <p:cNvPr id="15" name="node"/>
          <p:cNvSpPr/>
          <p:nvPr/>
        </p:nvSpPr>
        <p:spPr>
          <a:xfrm>
            <a:off x="7406640" y="1463040"/>
            <a:ext cx="1920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516368" y="150876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Метрология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эталон U = 0,005; MB, RMSE</a:t>
            </a:r>
            <a:endParaRPr lang="en-US" sz="1600" dirty="0"/>
          </a:p>
        </p:txBody>
      </p:sp>
      <p:sp>
        <p:nvSpPr>
          <p:cNvPr id="17" name="node"/>
          <p:cNvSpPr/>
          <p:nvPr/>
        </p:nvSpPr>
        <p:spPr>
          <a:xfrm>
            <a:off x="7406640" y="3063240"/>
            <a:ext cx="1920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516368" y="310896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Статистика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дисперсионный анализ, блоки, регрессия</a:t>
            </a:r>
            <a:endParaRPr lang="en-US" sz="1600" dirty="0"/>
          </a:p>
        </p:txBody>
      </p:sp>
      <p:sp>
        <p:nvSpPr>
          <p:cNvPr id="19" name="node"/>
          <p:cNvSpPr/>
          <p:nvPr/>
        </p:nvSpPr>
        <p:spPr>
          <a:xfrm>
            <a:off x="9692640" y="2263140"/>
            <a:ext cx="1920240" cy="128016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802368" y="230886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Мелиорация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решение: порог полива</a:t>
            </a:r>
            <a:endParaRPr lang="en-US" sz="1600" dirty="0"/>
          </a:p>
        </p:txBody>
      </p:sp>
      <p:sp>
        <p:nvSpPr>
          <p:cNvPr id="21" name="line"/>
          <p:cNvSpPr/>
          <p:nvPr/>
        </p:nvSpPr>
        <p:spPr>
          <a:xfrm>
            <a:off x="2468880" y="2103120"/>
            <a:ext cx="36576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2" name="line"/>
          <p:cNvSpPr/>
          <p:nvPr/>
        </p:nvSpPr>
        <p:spPr>
          <a:xfrm>
            <a:off x="2468880" y="3703320"/>
            <a:ext cx="36576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3" name="line"/>
          <p:cNvSpPr/>
          <p:nvPr/>
        </p:nvSpPr>
        <p:spPr>
          <a:xfrm flipV="1">
            <a:off x="3794760" y="2743200"/>
            <a:ext cx="0" cy="32004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4" name="line"/>
          <p:cNvSpPr/>
          <p:nvPr/>
        </p:nvSpPr>
        <p:spPr>
          <a:xfrm>
            <a:off x="4754880" y="2103120"/>
            <a:ext cx="365760" cy="54864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5" name="line"/>
          <p:cNvSpPr/>
          <p:nvPr/>
        </p:nvSpPr>
        <p:spPr>
          <a:xfrm flipV="1">
            <a:off x="4754880" y="3154680"/>
            <a:ext cx="365760" cy="54864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6" name="line"/>
          <p:cNvSpPr/>
          <p:nvPr/>
        </p:nvSpPr>
        <p:spPr>
          <a:xfrm flipV="1">
            <a:off x="7040880" y="2103120"/>
            <a:ext cx="365760" cy="54864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7" name="line"/>
          <p:cNvSpPr/>
          <p:nvPr/>
        </p:nvSpPr>
        <p:spPr>
          <a:xfrm>
            <a:off x="8366760" y="2743200"/>
            <a:ext cx="0" cy="32004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line"/>
          <p:cNvSpPr/>
          <p:nvPr/>
        </p:nvSpPr>
        <p:spPr>
          <a:xfrm flipV="1">
            <a:off x="9326880" y="3154680"/>
            <a:ext cx="365760" cy="54864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9" name="legend-0"/>
          <p:cNvSpPr/>
          <p:nvPr/>
        </p:nvSpPr>
        <p:spPr>
          <a:xfrm>
            <a:off x="548640" y="4572000"/>
            <a:ext cx="2670048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30" name="line"/>
          <p:cNvSpPr/>
          <p:nvPr/>
        </p:nvSpPr>
        <p:spPr>
          <a:xfrm>
            <a:off x="731520" y="4846320"/>
            <a:ext cx="54864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371600" y="470001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Механизм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731520" y="5102352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причина → следствие. Подводит, если есть обратная сила (связанная вода)</a:t>
            </a:r>
            <a:endParaRPr lang="en-US" sz="1400" dirty="0"/>
          </a:p>
        </p:txBody>
      </p:sp>
      <p:sp>
        <p:nvSpPr>
          <p:cNvPr id="33" name="legend-1"/>
          <p:cNvSpPr/>
          <p:nvPr/>
        </p:nvSpPr>
        <p:spPr>
          <a:xfrm>
            <a:off x="3355848" y="4572000"/>
            <a:ext cx="2670048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34" name="line"/>
          <p:cNvSpPr/>
          <p:nvPr/>
        </p:nvSpPr>
        <p:spPr>
          <a:xfrm>
            <a:off x="3538728" y="4846320"/>
            <a:ext cx="548640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178808" y="470001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Модель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3538728" y="5102352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даёт число, его можно проверить. Подводит, если нарушены допущения (плотность)</a:t>
            </a:r>
            <a:endParaRPr lang="en-US" sz="1400" dirty="0"/>
          </a:p>
        </p:txBody>
      </p:sp>
      <p:sp>
        <p:nvSpPr>
          <p:cNvPr id="37" name="legend-2"/>
          <p:cNvSpPr/>
          <p:nvPr/>
        </p:nvSpPr>
        <p:spPr>
          <a:xfrm>
            <a:off x="6163056" y="4572000"/>
            <a:ext cx="2670048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38" name="line"/>
          <p:cNvSpPr/>
          <p:nvPr/>
        </p:nvSpPr>
        <p:spPr>
          <a:xfrm>
            <a:off x="6345936" y="4846320"/>
            <a:ext cx="548640" cy="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dash"/>
          </a:ln>
        </p:spPr>
      </p:sp>
      <p:sp>
        <p:nvSpPr>
          <p:cNvPr id="39" name="Text 36"/>
          <p:cNvSpPr txBox="1"/>
          <p:nvPr/>
        </p:nvSpPr>
        <p:spPr>
          <a:xfrm>
            <a:off x="6986016" y="470001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Косвенный показатель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6345936" y="5102352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судим о скрытом по видимому (MH, ECe). Подводит, если прокси ходят парой</a:t>
            </a:r>
            <a:endParaRPr lang="en-US" sz="1400" dirty="0"/>
          </a:p>
        </p:txBody>
      </p:sp>
      <p:sp>
        <p:nvSpPr>
          <p:cNvPr id="41" name="legend-3"/>
          <p:cNvSpPr/>
          <p:nvPr/>
        </p:nvSpPr>
        <p:spPr>
          <a:xfrm>
            <a:off x="8970264" y="4572000"/>
            <a:ext cx="2670048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42" name="line"/>
          <p:cNvSpPr/>
          <p:nvPr/>
        </p:nvSpPr>
        <p:spPr>
          <a:xfrm>
            <a:off x="9153144" y="4846320"/>
            <a:ext cx="548640" cy="0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793224" y="470001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Статистический вывод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9153144" y="5102352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от колонок к общему. Подводит, если наблюдения не независимы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Запасной: допущения нашего опыта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Запасные слайды — для вопросов</a:t>
            </a:r>
            <a:endParaRPr lang="en-US" sz="1100" dirty="0"/>
          </a:p>
        </p:txBody>
      </p:sp>
      <p:graphicFrame>
        <p:nvGraphicFramePr>
          <p:cNvPr id="15" name="own-assumption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5486400"/>
                <a:gridCol w="2286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Допущение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Что мы сделали или знаем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Статус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«Эталон — это истина»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Два способа (вся колонка и микрокерны): расхождение ≤ 0,008, в среднем 0,003; U = 0,005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частично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«Десять уровней — независимые наблюдения»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Нет: это последовательные состояния одних и тех же колонок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 описательные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«Одна почва представляет группу»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В каждой группе одна почва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экстраполяция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«Колонка не мешает датчику»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До стенки 59–73 мм (рекомендуется ≥ 100), штанги доходят до дна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не проверено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«Объём почвы постоянен»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Нарушено при набухании (почва C, 1,52 г/см³) — эталон по реальному объёму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учтено частично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«Округление опубликованных чисел не меняет выводов»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20 000 симуляций: доля эффекта почвы 0,07–0,11 держится; граница A–B неустойчива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проверено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Запасной: расчёт прогноза модели смеси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Запасные слайды — для вопросов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417320"/>
          <a:ext cx="51206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tep-0"/>
          <p:cNvSpPr/>
          <p:nvPr/>
        </p:nvSpPr>
        <p:spPr>
          <a:xfrm>
            <a:off x="6035040" y="1417320"/>
            <a:ext cx="55778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7" name="badge"/>
          <p:cNvSpPr/>
          <p:nvPr/>
        </p:nvSpPr>
        <p:spPr>
          <a:xfrm>
            <a:off x="6172200" y="15727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17220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766560" y="14173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Модель: √ε смеси = φтв·√4,7 + θ·√80 + φвозд·√1</a:t>
            </a:r>
            <a:endParaRPr lang="en-US" sz="1500" dirty="0"/>
          </a:p>
        </p:txBody>
      </p:sp>
      <p:sp>
        <p:nvSpPr>
          <p:cNvPr id="10" name="step-1"/>
          <p:cNvSpPr/>
          <p:nvPr/>
        </p:nvSpPr>
        <p:spPr>
          <a:xfrm>
            <a:off x="6035040" y="2304288"/>
            <a:ext cx="55778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1" name="badge"/>
          <p:cNvSpPr/>
          <p:nvPr/>
        </p:nvSpPr>
        <p:spPr>
          <a:xfrm>
            <a:off x="6172200" y="245973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172200" y="2459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766560" y="230428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Уплотнение 1,35 → 1,52: твёрдого больше на 0,17 / 2,63 ≈ 0,065 — вместо воздуха</a:t>
            </a:r>
            <a:endParaRPr lang="en-US" sz="1500" dirty="0"/>
          </a:p>
        </p:txBody>
      </p:sp>
      <p:sp>
        <p:nvSpPr>
          <p:cNvPr id="14" name="step-2"/>
          <p:cNvSpPr/>
          <p:nvPr/>
        </p:nvSpPr>
        <p:spPr>
          <a:xfrm>
            <a:off x="6035040" y="3191256"/>
            <a:ext cx="55778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5" name="badge"/>
          <p:cNvSpPr/>
          <p:nvPr/>
        </p:nvSpPr>
        <p:spPr>
          <a:xfrm>
            <a:off x="6172200" y="334670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17220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6766560" y="3191256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Пробег растёт: 0,065 × (√4,7 − 1) = 0,065 × 1,17 ≈ 0,076</a:t>
            </a:r>
            <a:endParaRPr lang="en-US" sz="1500" dirty="0"/>
          </a:p>
        </p:txBody>
      </p:sp>
      <p:sp>
        <p:nvSpPr>
          <p:cNvPr id="18" name="step-3"/>
          <p:cNvSpPr/>
          <p:nvPr/>
        </p:nvSpPr>
        <p:spPr>
          <a:xfrm>
            <a:off x="6035040" y="4078224"/>
            <a:ext cx="55778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9" name="badge"/>
          <p:cNvSpPr/>
          <p:nvPr/>
        </p:nvSpPr>
        <p:spPr>
          <a:xfrm>
            <a:off x="6172200" y="42336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172200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6766560" y="4078224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Датчик читает это как воду вместо воздуха: 0,076 / (√80 − 1) = 0,076 / 7,94 ≈ 0,0095</a:t>
            </a:r>
            <a:endParaRPr lang="en-US" sz="1500" dirty="0"/>
          </a:p>
        </p:txBody>
      </p:sp>
      <p:sp>
        <p:nvSpPr>
          <p:cNvPr id="22" name="prediction"/>
          <p:cNvSpPr/>
          <p:nvPr/>
        </p:nvSpPr>
        <p:spPr>
          <a:xfrm>
            <a:off x="6035040" y="5029200"/>
            <a:ext cx="5577840" cy="777240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263640" y="50292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Прогноз: ≈ +0,0095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(при ρs 2,60–2,67: +0,0094…+0,0096)</a:t>
            </a:r>
            <a:endParaRPr lang="en-US" sz="1700" dirty="0"/>
          </a:p>
        </p:txBody>
      </p:sp>
      <p:sp>
        <p:nvSpPr>
          <p:cNvPr id="24" name="Text 20"/>
          <p:cNvSpPr txBox="1"/>
          <p:nvPr/>
        </p:nvSpPr>
        <p:spPr>
          <a:xfrm>
            <a:off x="6035040" y="589788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Скрыто: та же θ, та же проводимость, нет потерь в пути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Запасной: набухание и пересчёт эталона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Запасные слайды — для вопросов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Сухая: 300 мм</a:t>
            </a:r>
            <a:endParaRPr lang="en-US" sz="1700" dirty="0"/>
          </a:p>
        </p:txBody>
      </p:sp>
      <p:sp>
        <p:nvSpPr>
          <p:cNvPr id="6" name="soil"/>
          <p:cNvSpPr/>
          <p:nvPr/>
        </p:nvSpPr>
        <p:spPr>
          <a:xfrm>
            <a:off x="1188720" y="2148840"/>
            <a:ext cx="2194560" cy="29260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" name="column"/>
          <p:cNvSpPr/>
          <p:nvPr/>
        </p:nvSpPr>
        <p:spPr>
          <a:xfrm>
            <a:off x="1188720" y="2148840"/>
            <a:ext cx="2194560" cy="2926080"/>
          </a:xfrm>
          <a:prstGeom prst="rect">
            <a:avLst/>
          </a:prstGeom>
          <a:ln w="25400">
            <a:solidFill>
              <a:schemeClr val="accent5"/>
            </a:solidFill>
            <a:prstDash val="solid"/>
          </a:ln>
        </p:spPr>
      </p:sp>
      <p:sp>
        <p:nvSpPr>
          <p:cNvPr id="8" name="rod"/>
          <p:cNvSpPr/>
          <p:nvPr/>
        </p:nvSpPr>
        <p:spPr>
          <a:xfrm>
            <a:off x="1828800" y="2148840"/>
            <a:ext cx="64008" cy="29260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rod"/>
          <p:cNvSpPr/>
          <p:nvPr/>
        </p:nvSpPr>
        <p:spPr>
          <a:xfrm>
            <a:off x="2743200" y="2148840"/>
            <a:ext cx="64008" cy="29260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29768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Влажная: ≈ 325 мм</a:t>
            </a:r>
            <a:endParaRPr lang="en-US" sz="1700" dirty="0"/>
          </a:p>
        </p:txBody>
      </p:sp>
      <p:sp>
        <p:nvSpPr>
          <p:cNvPr id="11" name="soil"/>
          <p:cNvSpPr/>
          <p:nvPr/>
        </p:nvSpPr>
        <p:spPr>
          <a:xfrm>
            <a:off x="4937760" y="2148840"/>
            <a:ext cx="2194560" cy="29260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2" name="column"/>
          <p:cNvSpPr/>
          <p:nvPr/>
        </p:nvSpPr>
        <p:spPr>
          <a:xfrm>
            <a:off x="4937760" y="2148840"/>
            <a:ext cx="2194560" cy="2926080"/>
          </a:xfrm>
          <a:prstGeom prst="rect">
            <a:avLst/>
          </a:prstGeom>
          <a:ln w="25400">
            <a:solidFill>
              <a:schemeClr val="accent5"/>
            </a:solidFill>
            <a:prstDash val="solid"/>
          </a:ln>
        </p:spPr>
      </p:sp>
      <p:sp>
        <p:nvSpPr>
          <p:cNvPr id="13" name="rod"/>
          <p:cNvSpPr/>
          <p:nvPr/>
        </p:nvSpPr>
        <p:spPr>
          <a:xfrm>
            <a:off x="5577840" y="2148840"/>
            <a:ext cx="64008" cy="29260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4" name="rod"/>
          <p:cNvSpPr/>
          <p:nvPr/>
        </p:nvSpPr>
        <p:spPr>
          <a:xfrm>
            <a:off x="6492240" y="2148840"/>
            <a:ext cx="64008" cy="29260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5" name="swollen-top"/>
          <p:cNvSpPr/>
          <p:nvPr/>
        </p:nvSpPr>
        <p:spPr>
          <a:xfrm>
            <a:off x="4937760" y="1901952"/>
            <a:ext cx="2194560" cy="24688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5166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почва = длина штанг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297680" y="5166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почва выше штанг на ≈ 25 мм</a:t>
            </a:r>
            <a:endParaRPr lang="en-US" sz="1500" dirty="0"/>
          </a:p>
        </p:txBody>
      </p:sp>
      <p:sp>
        <p:nvSpPr>
          <p:cNvPr id="18" name="swell-0"/>
          <p:cNvSpPr/>
          <p:nvPr/>
        </p:nvSpPr>
        <p:spPr>
          <a:xfrm>
            <a:off x="8138160" y="1371600"/>
            <a:ext cx="34747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321040" y="1417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≈ 25 мм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8321040" y="19659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подъём поверхности</a:t>
            </a:r>
            <a:endParaRPr lang="en-US" sz="1500" dirty="0"/>
          </a:p>
        </p:txBody>
      </p:sp>
      <p:sp>
        <p:nvSpPr>
          <p:cNvPr id="21" name="swell-1"/>
          <p:cNvSpPr/>
          <p:nvPr/>
        </p:nvSpPr>
        <p:spPr>
          <a:xfrm>
            <a:off x="8138160" y="2560320"/>
            <a:ext cx="34747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321040" y="2606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8,3 %</a:t>
            </a:r>
            <a:endParaRPr lang="en-US" sz="2600" dirty="0"/>
          </a:p>
        </p:txBody>
      </p:sp>
      <p:sp>
        <p:nvSpPr>
          <p:cNvPr id="23" name="Text 20"/>
          <p:cNvSpPr txBox="1"/>
          <p:nvPr/>
        </p:nvSpPr>
        <p:spPr>
          <a:xfrm>
            <a:off x="8321040" y="31546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объёмная деформация</a:t>
            </a:r>
            <a:endParaRPr lang="en-US" sz="1500" dirty="0"/>
          </a:p>
        </p:txBody>
      </p:sp>
      <p:sp>
        <p:nvSpPr>
          <p:cNvPr id="24" name="swell-2"/>
          <p:cNvSpPr/>
          <p:nvPr/>
        </p:nvSpPr>
        <p:spPr>
          <a:xfrm>
            <a:off x="8138160" y="3749040"/>
            <a:ext cx="34747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321040" y="3794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0,460 &gt; 0,415</a:t>
            </a:r>
            <a:endParaRPr lang="en-US" sz="2600" dirty="0"/>
          </a:p>
        </p:txBody>
      </p:sp>
      <p:sp>
        <p:nvSpPr>
          <p:cNvPr id="26" name="Text 23"/>
          <p:cNvSpPr txBox="1"/>
          <p:nvPr/>
        </p:nvSpPr>
        <p:spPr>
          <a:xfrm>
            <a:off x="8321040" y="43434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θmax больше исходной пористости</a:t>
            </a:r>
            <a:endParaRPr lang="en-US" sz="1500" dirty="0"/>
          </a:p>
        </p:txBody>
      </p:sp>
      <p:sp>
        <p:nvSpPr>
          <p:cNvPr id="27" name="swell-note"/>
          <p:cNvSpPr/>
          <p:nvPr/>
        </p:nvSpPr>
        <p:spPr>
          <a:xfrm>
            <a:off x="548640" y="5596128"/>
            <a:ext cx="1106424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7240" y="559612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Делить воду на прежний объём — значит завысить эталон и занизить видимую ошибку датчика. Эталон считали по реальному объёму: дополнительной ошибки не нашли.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Запасной: ловушка терминов «глина»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Запасные слайды — для вопросов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Размер частиц, мм (в масштабе)</a:t>
            </a:r>
            <a:endParaRPr lang="en-US" sz="1400" dirty="0"/>
          </a:p>
        </p:txBody>
      </p:sp>
      <p:sp>
        <p:nvSpPr>
          <p:cNvPr id="6" name="size-bar"/>
          <p:cNvSpPr/>
          <p:nvPr/>
        </p:nvSpPr>
        <p:spPr>
          <a:xfrm>
            <a:off x="548640" y="1828800"/>
            <a:ext cx="822960" cy="54864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554480" y="18288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глина по Качинскому &lt; 0,001</a:t>
            </a:r>
            <a:endParaRPr lang="en-US" sz="1700" dirty="0"/>
          </a:p>
        </p:txBody>
      </p:sp>
      <p:sp>
        <p:nvSpPr>
          <p:cNvPr id="8" name="size-bar"/>
          <p:cNvSpPr/>
          <p:nvPr/>
        </p:nvSpPr>
        <p:spPr>
          <a:xfrm>
            <a:off x="548640" y="2697480"/>
            <a:ext cx="1645920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26974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«clay» по USDA и в паспорте &lt; 0,002</a:t>
            </a:r>
            <a:endParaRPr lang="en-US" sz="1700" dirty="0"/>
          </a:p>
        </p:txBody>
      </p:sp>
      <p:sp>
        <p:nvSpPr>
          <p:cNvPr id="10" name="size-bar"/>
          <p:cNvSpPr/>
          <p:nvPr/>
        </p:nvSpPr>
        <p:spPr>
          <a:xfrm>
            <a:off x="548640" y="3566160"/>
            <a:ext cx="8229600" cy="54864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7240" y="3566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физическая глина по Качинскому &lt; 0,01</a:t>
            </a:r>
            <a:endParaRPr lang="en-US" sz="1700" dirty="0"/>
          </a:p>
        </p:txBody>
      </p:sp>
      <p:sp>
        <p:nvSpPr>
          <p:cNvPr id="12" name="trap"/>
          <p:cNvSpPr/>
          <p:nvPr/>
        </p:nvSpPr>
        <p:spPr>
          <a:xfrm>
            <a:off x="548640" y="4480560"/>
            <a:ext cx="53949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" y="457200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Ловушка перевода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30 % «clay» из паспорта и 30 % физической глины — разные почвы. «Лёгкая глина» по Качинскому ≠ «clay» по USDA.</a:t>
            </a:r>
            <a:endParaRPr lang="en-US" sz="1700" dirty="0"/>
          </a:p>
        </p:txBody>
      </p:sp>
      <p:sp>
        <p:nvSpPr>
          <p:cNvPr id="14" name="consequence"/>
          <p:cNvSpPr/>
          <p:nvPr/>
        </p:nvSpPr>
        <p:spPr>
          <a:xfrm>
            <a:off x="6217920" y="4480560"/>
            <a:ext cx="53949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446520" y="457200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Что из этого следует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В группе A физической глины ≤ 20 %, значит, и USDA-глины ≤ 20 %: условие паспорта выполнено. Для B и C проверить нельзя.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Запасной: статистика ошибки по вариантам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Запасные слайды — для вопросов</a:t>
            </a:r>
            <a:endParaRPr lang="en-US" sz="1100" dirty="0"/>
          </a:p>
        </p:txBody>
      </p:sp>
      <p:graphicFrame>
        <p:nvGraphicFramePr>
          <p:cNvPr id="19" name="table-III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005840"/>
                <a:gridCol w="1005840"/>
                <a:gridCol w="1828800"/>
                <a:gridCol w="228600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Вариант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ECe, дСм/м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MB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RMSE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Δθ min / max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95 % ДИ для MB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 (MB = 0)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J_nl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A1-n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0,35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+0,004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0,007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−0,002 / +0,013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−0,0003…+0,0083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0,066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−0,263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A2-n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0,28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+0,002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0,006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−0,004 / +0,011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−0,0023…+0,0063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0,32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−0,268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B1-n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0,52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+0,007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0,011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−0,003 / +0,019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+0,0006…+0,0134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0,035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−0,118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B2-n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0,45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+0,006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0,009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−0,004 / +0,016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+0,0009…+0,0111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0,025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0,000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C1-n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0,61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+0,010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0,014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−0,001 / +0,027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+0,0026…+0,0174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0,014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−0,306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C2-n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0,49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+0,008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0,012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−0,002 / +0,022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+0,0013…+0,0147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0,025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−0,225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1206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м³/м³; MB и RMSE — по средним трёх колонок, n = 10 уровней влажности. ДИ и p описательные (уровни — состояния одних колонок). J_nl &lt; 0 — правосторонняя асимметрия: крупные положительные ошибки во влажной части. Код варианта: группа, плотность (1 — 1,35; 2 — 1,52 г/см³), n — незасолённая.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Запасной: дисперсионный анализ ошибки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Запасные слайды — для вопросов</a:t>
            </a:r>
            <a:endParaRPr lang="en-US" sz="1100" dirty="0"/>
          </a:p>
        </p:txBody>
      </p:sp>
      <p:graphicFrame>
        <p:nvGraphicFramePr>
          <p:cNvPr id="20" name="table-IV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737360"/>
                <a:gridCol w="822960"/>
                <a:gridCol w="1737360"/>
                <a:gridCol w="1097280"/>
                <a:gridCol w="118872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Источник изменчивости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SS, (м³/м³)²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df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MS, (м³/м³)²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η²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Почва (T)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3,63·10⁻⁴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1,82·10⁻⁴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2,74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0,074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0,091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Плотность (ρb)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4,17·10⁻⁵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4,17·10⁻⁵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0,63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0,43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0,010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Взаимодействие T × ρb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3,3·10⁻⁶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1,7·10⁻⁶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0,03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0,98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0,001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Внутри вариантов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3,58·10⁻³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54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6,63·10⁻⁵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0,898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Всего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3,99·10⁻³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59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1,000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57200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N = 60 значений (6 вариантов × 10 уровней, средние трёх колонок); SS восстановлены по MB и RMSE вариантов. Внутривариантный член включает рост ошибки с влажностью. 20 000 симуляций округления: p для почвы 0,04–0,12, η² 0,07–0,11. Эффект плотности −0,0017, 95 % ДИ −0,006…+0,003.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Запасной: свойства почв в вариантах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Запасные слайды — для вопросов</a:t>
            </a:r>
            <a:endParaRPr lang="en-US" sz="1100" dirty="0"/>
          </a:p>
        </p:txBody>
      </p:sp>
      <p:graphicFrame>
        <p:nvGraphicFramePr>
          <p:cNvPr id="21" name="table-II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94560"/>
                <a:gridCol w="1463040"/>
                <a:gridCol w="1371600"/>
                <a:gridCol w="155448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Вариант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Группа (физ. глина, %)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ρs, г/см³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MH, %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ρb, г/см³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σ1:5, дСм/м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ECe, дСм/м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A1-n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 (10–20)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2,67 ± 0,01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2,1 ± 0,2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1,35 ± 0,02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0,044 ± 0,003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0,35 ± 0,02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A2-n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 (10–20)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2,67 ± 0,01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2,3 ± 0,2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1,52 ± 0,02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0,036 ± 0,002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0,28 ± 0,02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B1-n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 (40–50)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2,63 ± 0,01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6,5 ± 0,3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1,35 ± 0,03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0,066 ± 0,004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0,52 ± 0,03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B2-n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 (40–50)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2,63 ± 0,01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6,8 ± 0,4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1,52 ± 0,03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0,058 ± 0,004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0,45 ± 0,03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C1-n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 (50–65)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2,60 ± 0,02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11,4 ± 0,6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1,35 ± 0,03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0,078 ± 0,005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0,61 ± 0,04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C2-n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 (50–65)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2,60 ± 0,02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11,1 ± 0,6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1,52 ± 0,03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0,062 ± 0,004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0,49 ± 0,03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n = 3, среднее ± SD. Все ECe ниже 1 дСм/м и в 6,6–14 раз ниже порога засоления 4 дСм/м. В плотных вариантах ECe ниже на 0,07–0,12 дСм/м. Почва C2-n набухала при θ &gt; 0,40.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Запасной: ограничения исследования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Запасные слайды — для вопросов</a:t>
            </a:r>
            <a:endParaRPr lang="en-US" sz="1100" dirty="0"/>
          </a:p>
        </p:txBody>
      </p:sp>
      <p:sp>
        <p:nvSpPr>
          <p:cNvPr id="5" name="limits-0"/>
          <p:cNvSpPr/>
          <p:nvPr/>
        </p:nvSpPr>
        <p:spPr>
          <a:xfrm>
            <a:off x="548640" y="1463040"/>
            <a:ext cx="5394960" cy="420624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164592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1. Минеральные почвы, Cорг &lt; 3 %, 20,0 ± 0,5 °C; к органогенным горизонтам выводы не относятся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2. Испытана только ветвь иссушения; при увлажнении показания могут отличаться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3. В поле нужна температурная поправка: 10 °C меняют показания на 0,02–0,08 при θ 0,2–0,4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4. До стенки колонки 59–73 мм (рекомендуется ≥ 100), штанги до дна; микрокерны в 35 мм от оси — эффекты не измерены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5. Объёмная электропроводность не измерялась; глину &lt; 0,002 мм для групп B и C оценить нельзя</a:t>
            </a:r>
            <a:endParaRPr lang="en-US" sz="1600" dirty="0"/>
          </a:p>
        </p:txBody>
      </p:sp>
      <p:sp>
        <p:nvSpPr>
          <p:cNvPr id="7" name="limits-1"/>
          <p:cNvSpPr/>
          <p:nvPr/>
        </p:nvSpPr>
        <p:spPr>
          <a:xfrm>
            <a:off x="6217920" y="1463040"/>
            <a:ext cx="5394960" cy="420624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46520" y="164592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6. RMSE по средним трёх колонок — без разброса между датчиками (±0,005…±0,015)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7. Дисперсионный анализ и регрессии — по сводным статистикам вариантов; нужна смешанная модель по 180 значениям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8. Систематическая часть неопределённости эталона (U = 0,005) не входит в ДИ и p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9. Засолённые варианты (ECe 1–4 дСм/м) рассмотрены в отдельной статье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10. Одна почва на группу; минералогия глин не определялась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616 Chernozem">
  <a:themeElements>
    <a:clrScheme name="CS616 Chernozem">
      <a:dk1>
        <a:srgbClr val="2A1E16"/>
      </a:dk1>
      <a:lt1>
        <a:srgbClr val="FFFFFF"/>
      </a:lt1>
      <a:dk2>
        <a:srgbClr val="5B4636"/>
      </a:dk2>
      <a:lt2>
        <a:srgbClr val="F1F3F2"/>
      </a:lt2>
      <a:accent1>
        <a:srgbClr val="1C7C8C"/>
      </a:accent1>
      <a:accent2>
        <a:srgbClr val="D9A441"/>
      </a:accent2>
      <a:accent3>
        <a:srgbClr val="B8552F"/>
      </a:accent3>
      <a:accent4>
        <a:srgbClr val="8C6A4F"/>
      </a:accent4>
      <a:accent5>
        <a:srgbClr val="6E7F80"/>
      </a:accent5>
      <a:accent6>
        <a:srgbClr val="4E8A5B"/>
      </a:accent6>
      <a:hlink>
        <a:srgbClr val="1C7C8C"/>
      </a:hlink>
      <a:folHlink>
        <a:srgbClr val="8C6A4F"/>
      </a:folHlink>
    </a:clrScheme>
    <a:fontScheme name="CS616 Chernoze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Кубанский ГАУ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Когда датчик влажности «льстит» почве: CS616 в незасолённых почвах (доклад 10 минут)</dc:title>
  <dc:subject>PptxGenJS Presentation</dc:subject>
  <dc:creator>Вербицкий А. Ю., Приходько И. А., Болдырева Л. М., Кесафоти Х. Е.</dc:creator>
  <cp:lastModifiedBy>Вербицкий А. Ю., Приходько И. А., Болдырева Л. М., Кесафоти Х. Е.</cp:lastModifiedBy>
  <cp:revision>1</cp:revision>
  <dcterms:created xsi:type="dcterms:W3CDTF">2026-10-08T05:58:46Z</dcterms:created>
  <dcterms:modified xsi:type="dcterms:W3CDTF">2026-10-08T05:58:46Z</dcterms:modified>
</cp:coreProperties>
</file>
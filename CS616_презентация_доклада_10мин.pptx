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оклад (10 минут)" id="{2b841d47-635f-6e1e-8357-40604453ba26}">
          <p14:sldIdLst>
            <p14:sldId id="256"/>
            <p14:sldId id="257"/>
            <p14:sldId id="258"/>
            <p14:sldId id="259"/>
          </p14:sldIdLst>
        </p14:section>
        <p14:section name="Опыт и результаты" id="{592c949b-2461-3039-3068-3a3edcb3072b}">
          <p14:sldIdLst>
            <p14:sldId id="260"/>
            <p14:sldId id="261"/>
          </p14:sldIdLst>
        </p14:section>
        <p14:section name="Доказательства" id="{70a2d7e1-6524-a3aa-b598-5bc54cad8699}">
          <p14:sldIdLst>
            <p14:sldId id="262"/>
            <p14:sldId id="263"/>
            <p14:sldId id="264"/>
          </p14:sldIdLst>
        </p14:section>
        <p14:section name="Что делать" id="{cfe27d1b-3048-2fac-0cbb-e6283a842164}">
          <p14:sldIdLst>
            <p14:sldId id="265"/>
            <p14:sldId id="266"/>
            <p14:sldId id="267"/>
          </p14:sldIdLst>
        </p14:section>
        <p14:section name="Запасные слайды" id="{2613a183-8f81-a4cd-cf40-8820bb02be80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Во сколько раз волна медленнее, чем в воздухе (√ε)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√ε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Воздух</c:v>
                  </c:pt>
                  <c:pt idx="1">
                    <c:v>Минералы</c:v>
                  </c:pt>
                  <c:pt idx="2">
                    <c:v>Вода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2.17</c:v>
                </c:pt>
                <c:pt idx="2">
                  <c:v>8.94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2A1E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Схема: прибор срабатывает, когда сигнал пересекает порог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сильный сигнал (почва-изолятор)</c:v>
                </c:pt>
              </c:strCache>
            </c:strRef>
          </c:tx>
          <c:spPr>
            <a:solidFill>
              <a:srgbClr val="1C7C8C"/>
            </a:solidFill>
            <a:ln w="38100" cap="flat">
              <a:solidFill>
                <a:srgbClr val="1C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0.33</c:v>
                </c:pt>
                <c:pt idx="2">
                  <c:v>0.551</c:v>
                </c:pt>
                <c:pt idx="3">
                  <c:v>0.699</c:v>
                </c:pt>
                <c:pt idx="4">
                  <c:v>0.798</c:v>
                </c:pt>
                <c:pt idx="5">
                  <c:v>0.865</c:v>
                </c:pt>
                <c:pt idx="6">
                  <c:v>0.909</c:v>
                </c:pt>
                <c:pt idx="7">
                  <c:v>0.939</c:v>
                </c:pt>
                <c:pt idx="8">
                  <c:v>0.959</c:v>
                </c:pt>
                <c:pt idx="9">
                  <c:v>0.973</c:v>
                </c:pt>
                <c:pt idx="10">
                  <c:v>0.982</c:v>
                </c:pt>
                <c:pt idx="11">
                  <c:v>0.988</c:v>
                </c:pt>
                <c:pt idx="12">
                  <c:v>0.992</c:v>
                </c:pt>
                <c:pt idx="13">
                  <c:v>0.994</c:v>
                </c:pt>
                <c:pt idx="14">
                  <c:v>0.996</c:v>
                </c:pt>
                <c:pt idx="15">
                  <c:v>0.998</c:v>
                </c:pt>
                <c:pt idx="16">
                  <c:v>0.998</c:v>
                </c:pt>
                <c:pt idx="17">
                  <c:v>0.999</c:v>
                </c:pt>
                <c:pt idx="18">
                  <c:v>0.999</c:v>
                </c:pt>
                <c:pt idx="19">
                  <c:v>0.999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ослабленный сигнал (проводящая почва)</c:v>
                </c:pt>
              </c:strCache>
            </c:strRef>
          </c:tx>
          <c:spPr>
            <a:solidFill>
              <a:srgbClr val="B8552F"/>
            </a:solidFill>
            <a:ln w="38100" cap="flat">
              <a:solidFill>
                <a:srgbClr val="B85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0.133</c:v>
                </c:pt>
                <c:pt idx="2">
                  <c:v>0.236</c:v>
                </c:pt>
                <c:pt idx="3">
                  <c:v>0.317</c:v>
                </c:pt>
                <c:pt idx="4">
                  <c:v>0.379</c:v>
                </c:pt>
                <c:pt idx="5">
                  <c:v>0.428</c:v>
                </c:pt>
                <c:pt idx="6">
                  <c:v>0.466</c:v>
                </c:pt>
                <c:pt idx="7">
                  <c:v>0.496</c:v>
                </c:pt>
                <c:pt idx="8">
                  <c:v>0.519</c:v>
                </c:pt>
                <c:pt idx="9">
                  <c:v>0.537</c:v>
                </c:pt>
                <c:pt idx="10">
                  <c:v>0.551</c:v>
                </c:pt>
                <c:pt idx="11">
                  <c:v>0.562</c:v>
                </c:pt>
                <c:pt idx="12">
                  <c:v>0.57</c:v>
                </c:pt>
                <c:pt idx="13">
                  <c:v>0.577</c:v>
                </c:pt>
                <c:pt idx="14">
                  <c:v>0.582</c:v>
                </c:pt>
                <c:pt idx="15">
                  <c:v>0.586</c:v>
                </c:pt>
                <c:pt idx="16">
                  <c:v>0.589</c:v>
                </c:pt>
                <c:pt idx="17">
                  <c:v>0.591</c:v>
                </c:pt>
                <c:pt idx="18">
                  <c:v>0.593</c:v>
                </c:pt>
                <c:pt idx="19">
                  <c:v>0.595</c:v>
                </c:pt>
                <c:pt idx="20">
                  <c:v>0.596</c:v>
                </c:pt>
                <c:pt idx="21">
                  <c:v>0.597</c:v>
                </c:pt>
                <c:pt idx="22">
                  <c:v>0.598</c:v>
                </c:pt>
                <c:pt idx="23">
                  <c:v>0.598</c:v>
                </c:pt>
                <c:pt idx="24">
                  <c:v>0.599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порог срабатывания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0.45</c:v>
                </c:pt>
                <c:pt idx="1">
                  <c:v>0.45</c:v>
                </c:pt>
                <c:pt idx="2">
                  <c:v>0.45</c:v>
                </c:pt>
                <c:pt idx="3">
                  <c:v>0.45</c:v>
                </c:pt>
                <c:pt idx="4">
                  <c:v>0.45</c:v>
                </c:pt>
                <c:pt idx="5">
                  <c:v>0.45</c:v>
                </c:pt>
                <c:pt idx="6">
                  <c:v>0.45</c:v>
                </c:pt>
                <c:pt idx="7">
                  <c:v>0.45</c:v>
                </c:pt>
                <c:pt idx="8">
                  <c:v>0.45</c:v>
                </c:pt>
                <c:pt idx="9">
                  <c:v>0.45</c:v>
                </c:pt>
                <c:pt idx="10">
                  <c:v>0.45</c:v>
                </c:pt>
                <c:pt idx="11">
                  <c:v>0.45</c:v>
                </c:pt>
                <c:pt idx="12">
                  <c:v>0.45</c:v>
                </c:pt>
                <c:pt idx="13">
                  <c:v>0.45</c:v>
                </c:pt>
                <c:pt idx="14">
                  <c:v>0.45</c:v>
                </c:pt>
                <c:pt idx="15">
                  <c:v>0.45</c:v>
                </c:pt>
                <c:pt idx="16">
                  <c:v>0.45</c:v>
                </c:pt>
                <c:pt idx="17">
                  <c:v>0.45</c:v>
                </c:pt>
                <c:pt idx="18">
                  <c:v>0.45</c:v>
                </c:pt>
                <c:pt idx="19">
                  <c:v>0.45</c:v>
                </c:pt>
                <c:pt idx="20">
                  <c:v>0.45</c:v>
                </c:pt>
                <c:pt idx="21">
                  <c:v>0.45</c:v>
                </c:pt>
                <c:pt idx="22">
                  <c:v>0.45</c:v>
                </c:pt>
                <c:pt idx="23">
                  <c:v>0.45</c:v>
                </c:pt>
                <c:pt idx="24">
                  <c:v>0.45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(10–20 % физ. глины)</c:v>
                </c:pt>
              </c:strCache>
            </c:strRef>
          </c:tx>
          <c:spPr>
            <a:solidFill>
              <a:srgbClr val="1C7C8C"/>
            </a:solidFill>
            <a:ln w="28575" cap="flat">
              <a:solidFill>
                <a:srgbClr val="1C7C8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0.001</c:v>
                </c:pt>
                <c:pt idx="2">
                  <c:v>0.003</c:v>
                </c:pt>
                <c:pt idx="3">
                  <c:v>0.005</c:v>
                </c:pt>
                <c:pt idx="4">
                  <c:v>0.01</c:v>
                </c:pt>
                <c:pt idx="5">
                  <c:v>0.011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(40–50 %)</c:v>
                </c:pt>
              </c:strCache>
            </c:strRef>
          </c:tx>
          <c:spPr>
            <a:solidFill>
              <a:srgbClr val="8C6A4F"/>
            </a:solidFill>
            <a:ln w="28575" cap="flat">
              <a:solidFill>
                <a:srgbClr val="8C6A4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C6A4F"/>
              </a:solidFill>
              <a:ln w="9525" cap="flat">
                <a:solidFill>
                  <a:srgbClr val="8C6A4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0.001</c:v>
                </c:pt>
                <c:pt idx="1">
                  <c:v>0.002</c:v>
                </c:pt>
                <c:pt idx="2">
                  <c:v>0.005</c:v>
                </c:pt>
                <c:pt idx="3">
                  <c:v>0.009</c:v>
                </c:pt>
                <c:pt idx="4">
                  <c:v>0.017</c:v>
                </c:pt>
                <c:pt idx="5">
                  <c:v>0.019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(50–65 %)</c:v>
                </c:pt>
              </c:strCache>
            </c:strRef>
          </c:tx>
          <c:spPr>
            <a:solidFill>
              <a:srgbClr val="B8552F"/>
            </a:solidFill>
            <a:ln w="28575" cap="flat">
              <a:solidFill>
                <a:srgbClr val="B8552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0.001</c:v>
                </c:pt>
                <c:pt idx="1">
                  <c:v>0.002</c:v>
                </c:pt>
                <c:pt idx="2">
                  <c:v>0.006</c:v>
                </c:pt>
                <c:pt idx="3">
                  <c:v>0.012</c:v>
                </c:pt>
                <c:pt idx="4">
                  <c:v>0.022</c:v>
                </c:pt>
                <c:pt idx="5">
                  <c:v>0.027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C: состояния вне анализа</c:v>
                </c:pt>
              </c:strCache>
            </c:strRef>
          </c:tx>
          <c:spPr>
            <a:solidFill>
              <a:srgbClr val="E3A98F"/>
            </a:solidFill>
            <a:ln w="28575" cap="flat">
              <a:solidFill>
                <a:srgbClr val="E3A98F"/>
              </a:solidFill>
              <a:prstDash val="sysDash"/>
              <a:round/>
            </a:ln>
            <a:effectLst/>
          </c:spPr>
          <c:marker>
            <c:symbol val="circle"/>
            <c:size val="8"/>
            <c:spPr>
              <a:solidFill>
                <a:srgbClr val="E3A98F"/>
              </a:solidFill>
              <a:ln w="9525" cap="flat">
                <a:solidFill>
                  <a:srgbClr val="E3A98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Sheet1!$E$2:$E$9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0.027</c:v>
                </c:pt>
                <c:pt idx="6">
                  <c:v>0.031</c:v>
                </c:pt>
                <c:pt idx="7">
                  <c:v>0.038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Паспортный предел 0,025</c:v>
                </c:pt>
              </c:strCache>
            </c:strRef>
          </c:tx>
          <c:spPr>
            <a:solidFill>
              <a:srgbClr val="6E7F80"/>
            </a:solidFill>
            <a:ln w="28575" cap="flat">
              <a:solidFill>
                <a:srgbClr val="6E7F8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Sheet1!$F$2:$F$9</c:f>
              <c:numCache>
                <c:formatCode>General</c:formatCode>
                <c:ptCount val="8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  <c:pt idx="3">
                  <c:v>0.025</c:v>
                </c:pt>
                <c:pt idx="4">
                  <c:v>0.025</c:v>
                </c:pt>
                <c:pt idx="5">
                  <c:v>0.025</c:v>
                </c:pt>
                <c:pt idx="6">
                  <c:v>0.025</c:v>
                </c:pt>
                <c:pt idx="7">
                  <c:v>0.025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влажность по эталону θ, м³/м³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0.04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ошибка Δθ, м³/м³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0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Доли изменчивости ошибки (все 60 значений)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Почва 9,1 %</c:v>
                </c:pt>
              </c:strCache>
            </c:strRef>
          </c:tx>
          <c:spPr>
            <a:solidFill>
              <a:srgbClr val="B85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Плотность 1,0 %</c:v>
                </c:pt>
              </c:strCache>
            </c:strRef>
          </c:tx>
          <c:spPr>
            <a:solidFill>
              <a:srgbClr val="8C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Взаимодействие 0,1 %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Внутри вариантов 89,8 %</c:v>
                </c:pt>
              </c:strCache>
            </c:strRef>
          </c:tx>
          <c:spPr>
            <a:solidFill>
              <a:srgbClr val="C9D1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89.8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На равной влажности все линии идут вверх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 = 0,05</c:v>
                </c:pt>
              </c:strCache>
            </c:strRef>
          </c:tx>
          <c:spPr>
            <a:solidFill>
              <a:srgbClr val="9FD0D6"/>
            </a:solidFill>
            <a:ln w="38100" cap="flat">
              <a:solidFill>
                <a:srgbClr val="9FD0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FD0D6"/>
              </a:solidFill>
              <a:ln w="9525" cap="flat">
                <a:solidFill>
                  <a:srgbClr val="9FD0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0.001</c:v>
                </c:pt>
                <c:pt idx="2">
                  <c:v>0.001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θ = 0,10</c:v>
                </c:pt>
              </c:strCache>
            </c:strRef>
          </c:tx>
          <c:spPr>
            <a:solidFill>
              <a:srgbClr val="72BAC3"/>
            </a:solidFill>
            <a:ln w="38100" cap="flat">
              <a:solidFill>
                <a:srgbClr val="72BAC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2BAC3"/>
              </a:solidFill>
              <a:ln w="9525" cap="flat">
                <a:solidFill>
                  <a:srgbClr val="72BAC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0.001</c:v>
                </c:pt>
                <c:pt idx="1">
                  <c:v>0.002</c:v>
                </c:pt>
                <c:pt idx="2">
                  <c:v>0.002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θ = 0,20</c:v>
                </c:pt>
              </c:strCache>
            </c:strRef>
          </c:tx>
          <c:spPr>
            <a:solidFill>
              <a:srgbClr val="4CA3AF"/>
            </a:solidFill>
            <a:ln w="38100" cap="flat">
              <a:solidFill>
                <a:srgbClr val="4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CA3AF"/>
              </a:solidFill>
              <a:ln w="9525" cap="flat">
                <a:solidFill>
                  <a:srgbClr val="4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0.003</c:v>
                </c:pt>
                <c:pt idx="1">
                  <c:v>0.005</c:v>
                </c:pt>
                <c:pt idx="2">
                  <c:v>0.006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θ = 0,30</c:v>
                </c:pt>
              </c:strCache>
            </c:strRef>
          </c:tx>
          <c:spPr>
            <a:solidFill>
              <a:srgbClr val="2C8C9A"/>
            </a:solidFill>
            <a:ln w="38100" cap="flat">
              <a:solidFill>
                <a:srgbClr val="2C8C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C8C9A"/>
              </a:solidFill>
              <a:ln w="9525" cap="flat">
                <a:solidFill>
                  <a:srgbClr val="2C8C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0.005</c:v>
                </c:pt>
                <c:pt idx="1">
                  <c:v>0.009</c:v>
                </c:pt>
                <c:pt idx="2">
                  <c:v>0.012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θ = 0,38</c:v>
                </c:pt>
              </c:strCache>
            </c:strRef>
          </c:tx>
          <c:spPr>
            <a:solidFill>
              <a:srgbClr val="1C7484"/>
            </a:solidFill>
            <a:ln w="38100" cap="flat">
              <a:solidFill>
                <a:srgbClr val="1C74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C7484"/>
              </a:solidFill>
              <a:ln w="9525" cap="flat">
                <a:solidFill>
                  <a:srgbClr val="1C74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0.01</c:v>
                </c:pt>
                <c:pt idx="1">
                  <c:v>0.017</c:v>
                </c:pt>
                <c:pt idx="2">
                  <c:v>0.022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θ = 0,40</c:v>
                </c:pt>
              </c:strCache>
            </c:strRef>
          </c:tx>
          <c:spPr>
            <a:solidFill>
              <a:srgbClr val="0E4F5A"/>
            </a:solidFill>
            <a:ln w="38100" cap="flat">
              <a:solidFill>
                <a:srgbClr val="0E4F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4F5A"/>
              </a:solidFill>
              <a:ln w="9525" cap="flat">
                <a:solidFill>
                  <a:srgbClr val="0E4F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0.011</c:v>
                </c:pt>
                <c:pt idx="1">
                  <c:v>0.019</c:v>
                </c:pt>
                <c:pt idx="2">
                  <c:v>0.027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 CRIM</c:v>
                </c:pt>
              </c:strCache>
            </c:strRef>
          </c:tx>
          <c:spPr>
            <a:solidFill>
              <a:srgbClr val="6E7F80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9.5</c:v>
                </c:pt>
                <c:pt idx="1">
                  <c:v>9.5</c:v>
                </c:pt>
                <c:pt idx="2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Наблюдалось</c:v>
                </c:pt>
              </c:strCache>
            </c:strRef>
          </c:tx>
          <c:spPr>
            <a:solidFill>
              <a:srgbClr val="B8552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</c:v>
                </c:pt>
                <c:pt idx="1">
                  <c:v>-1</c:v>
                </c:pt>
                <c:pt idx="2">
                  <c:v>-2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300" u="none">
                  <a:solidFill>
                    <a:srgbClr val="2A1E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4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×10⁻³ м³/м³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Постоянная поправка +0,010 в почве C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Ошибка в почве C</c:v>
                </c:pt>
              </c:strCache>
            </c:strRef>
          </c:tx>
          <c:spPr>
            <a:solidFill>
              <a:srgbClr val="B8552F"/>
            </a:solidFill>
            <a:ln w="31750" cap="flat">
              <a:solidFill>
                <a:srgbClr val="B85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0,05</c:v>
                  </c:pt>
                  <c:pt idx="1">
                    <c:v>0,10</c:v>
                  </c:pt>
                  <c:pt idx="2">
                    <c:v>0,20</c:v>
                  </c:pt>
                  <c:pt idx="3">
                    <c:v>0,30</c:v>
                  </c:pt>
                  <c:pt idx="4">
                    <c:v>0,38</c:v>
                  </c:pt>
                  <c:pt idx="5">
                    <c:v>0,40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0.001</c:v>
                </c:pt>
                <c:pt idx="1">
                  <c:v>0.002</c:v>
                </c:pt>
                <c:pt idx="2">
                  <c:v>0.006</c:v>
                </c:pt>
                <c:pt idx="3">
                  <c:v>0.012</c:v>
                </c:pt>
                <c:pt idx="4">
                  <c:v>0.022</c:v>
                </c:pt>
                <c:pt idx="5">
                  <c:v>0.027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Остаток после вычитания +0,010</c:v>
                </c:pt>
              </c:strCache>
            </c:strRef>
          </c:tx>
          <c:spPr>
            <a:solidFill>
              <a:srgbClr val="1C7C8C"/>
            </a:solidFill>
            <a:ln w="31750" cap="flat">
              <a:solidFill>
                <a:srgbClr val="1C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0,05</c:v>
                  </c:pt>
                  <c:pt idx="1">
                    <c:v>0,10</c:v>
                  </c:pt>
                  <c:pt idx="2">
                    <c:v>0,20</c:v>
                  </c:pt>
                  <c:pt idx="3">
                    <c:v>0,30</c:v>
                  </c:pt>
                  <c:pt idx="4">
                    <c:v>0,38</c:v>
                  </c:pt>
                  <c:pt idx="5">
                    <c:v>0,40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-0.009</c:v>
                </c:pt>
                <c:pt idx="1">
                  <c:v>-0.008</c:v>
                </c:pt>
                <c:pt idx="2">
                  <c:v>-0.004</c:v>
                </c:pt>
                <c:pt idx="3">
                  <c:v>0.002</c:v>
                </c:pt>
                <c:pt idx="4">
                  <c:v>0.012</c:v>
                </c:pt>
                <c:pt idx="5">
                  <c:v>0.017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θ, м³/м³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-0.01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Доли объёма при θ = 0,25 (ρs = 2,63 г/см³)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Твёрдая фаза</c:v>
                </c:pt>
              </c:strCache>
            </c:strRef>
          </c:tx>
          <c:spPr>
            <a:solidFill>
              <a:srgbClr val="B9C3C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0.513</c:v>
                </c:pt>
                <c:pt idx="1">
                  <c:v>0.578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Вода (θ = 0,25)</c:v>
                </c:pt>
              </c:strCache>
            </c:strRef>
          </c:tx>
          <c:spPr>
            <a:solidFill>
              <a:srgbClr val="8FC5C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0.25</c:v>
                </c:pt>
                <c:pt idx="1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Воздух</c:v>
                </c:pt>
              </c:strCache>
            </c:strRef>
          </c:tx>
          <c:spPr>
            <a:solidFill>
              <a:srgbClr val="EEF1F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0.237</c:v>
                </c:pt>
                <c:pt idx="1">
                  <c:v>0.172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2A1E16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19 с · к концу слайда ≈ 0:23 из 10:00]
Главная мысль: Мы проверили, когда и насколько датчик CS616 завышает влажность в почвах Кубани, и как это доказать.
Уважаемые коллеги! Датчик в почве говорит: воды достаточно, поливать рано. А если он «льстит» почве и показывает больше воды, чем есть? За десять минут покажу, когда и насколько так делает датчик CS616 в почвах Кубани, как мы это доказывали и что с этим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45 с · к концу слайда ≈ 1:12 из 10:00]
Главная мысль: Ошибка везде ниже 0,02, но в тяжёлых почвах датчик систематически завышает влажность, и тем сильнее, чем почва влажнее.
Сначала главное — три числа.
0,014 — наибольшая типичная ошибка среди шести вариантов опыта. Это ниже критерия 0,02: в целом заводской шкале можно доверять.
Плюс 0,006–0,010 — на столько датчик в среднем завышает влажность в тяжёлых почвах. Не то вверх, то вниз, а всё время в одну сторону.
2,6 — во столько раз сильнее растёт ошибка с увлажнением в самой тяжёлой почве, чем в лёгкой.
Масштаб: 0,01 — это литр воды на сто литров почвы, или десять миллиметров воды в метровом слое. Если порог полива задан по датчику, а датчик завышает, полив начнётся позже, чем задумано. Отсюда вывод: в тяжёлых почвах поправка должна зависеть от влажности.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48 с · к концу слайда ≈ 2:04 из 10:00]
Главная мысль: Датчик измеряет время пробега импульса; заводская шкала опирается на два скрытых допущения.
Почему датчик может ошибаться? Потому что он измеряет не воду, а время. По двум штангам бежит импульс, отражается и возвращается. Представьте дорогу из участков с разными ограничениями скорости: в минералах волна идёт в 2,2 раза медленнее, чем в воздухе, а в воде — почти в 9 раз. Больше воды — дольше пробег. Заводское уравнение переводит это время во влажность.
За этим стоят два скрытых допущения. Первое: пробег удлиняет только вода, почва для волны — изолятор. Второе: переводчик, настроенный на одни почвы, годится для любых. Производитель гарантирует это при низкой электропроводности и при глине меньше 30 процентов. А в наших тяжёлых почвах физической глины до 65 процентов, так что выполнение этих условий не гарантировано.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45 с · к концу слайда ≈ 2:53 из 10:00]
Главная мысль: Проводимость глин и солей ослабляет импульс, он позже пересекает порог — датчик «видит» лишнюю воду.
Где первое допущение ломается? Частица глины заряжена, вокруг неё облако подвижных ионов — двойной электрический слой. Он проводит ток, а поверхность у глины огромная: у смектита 600–800 квадратных метров на грамм. Добавьте соли в поровом растворе.
Проводимость отнимает у импульса энергию. А прибор срабатывает по порогу, как будильник, реагирующий на громкость: тихий сигнал пересекает порог позже. Прибор решает, что путь был длиннее, и «видит» лишнюю воду. Есть и обратная сила — связанная вода тянет показания вниз, — поэтому итог решает только опыт.
Отсюда три предсказания, и каждое можно опровергнуть: ошибка растёт с глинистостью; растёт с влажностью, всё быстрее; зависит от плотности — по-разному в разных почвах.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42 с · к концу слайда ≈ 3:39 из 10:00]
Главная мысль: Датчик сравнили с весовым эталоном в 18 колонках на 10 равновесных уровнях влажности: 180 значений.
Проверяли как на экзамене. Датчик — студент, ключ с ответами — термостатно-весовой метод: почву сушат при 105 градусах и по потере массы узнают, сколько было воды. Неопределённость ключа — 0,005.
Три почвы виноградников края с 10–20, 40–50 и 50–65 процентами физической глины, все незасолённые; две плотности; по три колонки. Колонку насыщали снизу, потом ступенчато подсушивали при 20 градусах и на каждой ступени ждали равновесия. Итого 180 значений.
Ошибку описывают два числа, как стрельбу по мишени: MB — насколько сдвинут центр кучки, RMSE — типичный промах. Случайный разброс при усреднении гасится, сдвиг — нет. Критерий — RMSE не больше 0,02.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42 с · к концу слайда ≈ 4:25 из 10:00]
Главная мысль: Ошибка — функция влажности: от 0,20 до 0,40 она прибавляет 0,008 в лёгкой почве и 0,021 в тяжёлой.
Что получилось? Хорошая новость: во всех вариантах RMSE от 0,006 до 0,014, ниже критерия. Но сдвиг везде положительный: датчик завышает. В лёгкой почве это неотличимо от нуля, в тяжёлых — плюс 0,006–0,010.
Главное на графике: ошибка — не число, а функция влажности. Как линейка, которая растягивается: в сухой почве линии стартуют у нуля, с увлажнением расходятся веером. От влажности 0,20 до 0,40 ошибка прибавляет 0,008 в лёгкой почве и 0,021 в самой тяжёлой. Максимум — плюс 0,027, у самого паспортного предела. Бледные точки — более влажные состояния вне анализа: кривая продолжает расти. Значит, постоянная поправка не сработает.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56 с · к концу слайда ≈ 5:25 из 10:00]
Главная мысль: «Не значимо» не значит «эффекта нет»: на равной влажности порядок почв устойчив на всех шести уровнях.
Теперь — как это доказать. Здесь ловушка. В общем дисперсионном анализе почва объясняет 9 процентов изменчивости ошибки, а почти 90 — это рост ошибки с влажностью. На таком фоне тест даёт для почвы p = 0,074, «не значимо». Но это не «эффекта нет»: так на концерте не слышно разговора, хотя он идёт. Музыка здесь — влажность.
Решение — выключить музыку: сравнивать почвы при одной и той же влажности, как бегунов на каждой отметке дистанции. На графике каждая линия — один уровень влажности, и все шесть идут вверх: везде A меньше B, а B не больше C. Анализ с блоками даёт p = 0,013, ранговый критерий Фридмана — 0,004. Интуиция: случайно A оказалась бы наименьшей шесть раз подряд с шансом один из 729. Оговорка: уровни — состояния одних колонок, поэтому вывод описательный.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42 с · к концу слайда ≈ 6:11 из 10:00]
Главная мысль: Глину и соли в этих данных не разделить; несбывшийся прогноз плотности указал на нарушенные допущения.
Почему так? Поверхность глин мы оценили через гигроскопичность, соли — через электропроводность вытяжки. Сдвиг растёт с обоими: R² 0,88 и 0,96. Но они связаны между собой, r = 0,88: два подозреваемых, которых камера всегда снимает вместе. Разделить их нужно новыми почвами, где глина и соли не ходят парой.
С плотностью — поучительная неудача. Теория смеси предсказала: уплотнение заменит воздух минералами и прибавит к показаниям около 0,0095. Мы получили минус 0,001–0,002, и интервал прогноз исключает. Прогноз верен, только если верны все его допущения, значит, подвело звено. И мы его видим: у плотных вариантов ниже электропроводность, а диапазоны влажности различаются.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25 с · к концу слайда ≈ 6:40 из 10:00]
Главная мысль: Твёрдо: ошибка ниже 0,02 и растёт с влажностью; средне: порядок почв и завышение; слабо: роль глины и набухания.
Чтобы было честно — твёрдость каждого вывода. Твёрдо: ошибка ниже 0,02 и растёт с влажностью — это прямые наблюдения. Средне: порядок почв и завышение в тяжёлых почвах — статистика на одной почве в группе, а сдвиг соизмерим с неопределённостью эталона. Слабо: что виновата именно поверхность глин и что набухание не добавляет ошибки. Слабые места — это адреса следующих опытов.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39 с · к концу слайда ≈ 7:23 из 10:00]
Главная мысль: Лёгкие почвы — без поправки; тяжёлые — калибровка или весовая проверка, лучше в двух точках; постоянная поправка не годится.
Что делать на практике? Зелёный: в лёгких почвах заводская калибровка годится без поправки. Жёлтый: в тяжёлых почвах завышение 6–10 миллиметров воды в метровом слое, во влажной почве до 27. Если пороги полива стоят около наименьшей влагоёмкости — калибруйте под почву или проверяйте весовым методом раз-два за сезон. Красный: постоянная поправка — график показывает, что она ошибается и в сухой, и во влажной почве. Совет из наших данных: проверять в двух точках, после полива и перед поливом, — так виден и сдвиг, и наклон. А в поле нужна ещё и температурная поправка.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29 с · к концу слайда ≈ 7:56 из 10:00]
Главная мысль: Следующие шаги — проверяемые прогнозы; самый дешёвый — переанализ уже имеющихся 180 значений.
Куда дальше? Каждый шаг — проверяемый прогноз. Если виноваты соли, ошибка вырастет при засолении одной и той же почвы — часть такого опыта уже сделана. Если глина — при равной электропроводности ошибка будет больше в почве с большей долей смектита. Если эффект почвы реален, он сохранится в смешанной модели по 180 колоночным значениям, а данные уже есть. И идея — поправка по двум входам: период плюс электропроводность.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23 с · к концу слайда ≈ 8:23 из 10:00]
Главная мысль: Калибровка годится, но в тяжёлых почвах завышает; доказывали устойчивость; гипотеза подтверждена частично.
Три мысли напоследок. Первая: заводская калибровка CS616 годится, но не бесплатно — в тяжёлых почвах она завышает, и тем сильнее, чем почва влажнее. Вторая: доказывать нужно устойчивость, а не только «p меньше 0,05». Третья: гипотеза подтвердилась частично — глина и влажность да, плотность нет, и это показало, где искать дальше.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спрашивают, на чём стоит работа и как связаны теории. Связи четырёх типов: механизм, количественная модель, косвенный показатель, статистический вывод; у каждого своё слабое место.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надёжности эталона, статистики или колонок. Эта таблица объясняет, почему p-значения названы описательными, а выводы относятся к изученным почвам.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просят объяснить, откуда +0,0095. Модель: время пробега складывается из времён через фазы; уплотнение при той же влажности заменяет воздух минералами; заводская шкала читает удлинение пробега как воду вместо воздуха.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набухании. Почва C при 1,52 г/см³ набухла: подъём ≈ 25 мм, объёмная деформация 8,3 %, θmax 0,460 &gt; исходной пористости 0,415. Эталон считали по реальному объёму; дополнительной ошибки не нашли, но сравнение смешано с плотностью и ECe, а почва поднималась выше штанг.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сравнении с паспортом и зарубежными работами. Физическая глина по Качинскому — частицы &lt; 0,01 мм; глина по USDA и в паспорте — &lt; 0,002 мм. В группе A условие паспорта (&lt; 30 % глины) выполнено заведомо; для B и C проверить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точности, доверительных интервалах и асимметрии. MB и RMSE — по средним трёх колонок, n = 10 уровней влажности; ДИ и p описательные (уровни — состояния одних колонок). J_nl &lt; 0 — правосторонняя асимметрия: крупные положительные ошибки приходятся на влажную часть диапазона.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p = 0,074 и долях изменчивости. Суммы квадратов восстановлены по MB и RMSE вариантов; внутривариантный член включает зависимость ошибки от влажности. 20 000 симуляций ошибки округления: центральные 95 % для p эффекта почвы — 0,04–0,12, для η² — 0,07–0,11.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засолённости, плотности частиц и гигроскопичности. Все ECe ниже 1 дСм/м и в 6,6–14 раз ниже порога засоления 4 дСм/м. В плотных вариантах ECe ниже на 0,07–0,12 дСм/м — это важно для слайда о плотности.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переносе на поле, о статистике или о методике. Каждое ограничение сформулировано так, как в статье.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51560"/>
            <a:ext cx="7223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5156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Когда датчик влажности «льстит» почве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Систематическая погрешность заводской калибровки датчиков влажности CS616 в незасолённых почвах разного гранулометрического состава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709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Вербицкий А. Ю., Приходько И. А., Болдырева Л. М., Кесафоти Х. Е.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20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Кубанский государственный аграрный университет имени И. Т. Трубилина · Краснодар, 2026</a:t>
            </a:r>
            <a:endParaRPr lang="en-US" sz="1400" dirty="0"/>
          </a:p>
        </p:txBody>
      </p:sp>
      <p:sp>
        <p:nvSpPr>
          <p:cNvPr id="7" name="soil-A"/>
          <p:cNvSpPr/>
          <p:nvPr/>
        </p:nvSpPr>
        <p:spPr>
          <a:xfrm>
            <a:off x="8229600" y="205740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58200" y="20574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2057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чернозём обыкновенный</a:t>
            </a:r>
            <a:endParaRPr lang="en-US" sz="1300" dirty="0"/>
          </a:p>
        </p:txBody>
      </p:sp>
      <p:sp>
        <p:nvSpPr>
          <p:cNvPr id="10" name="soil-B"/>
          <p:cNvSpPr/>
          <p:nvPr/>
        </p:nvSpPr>
        <p:spPr>
          <a:xfrm>
            <a:off x="8229600" y="329184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58200" y="32918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чернозём типичный</a:t>
            </a:r>
            <a:endParaRPr lang="en-US" sz="1300" dirty="0"/>
          </a:p>
        </p:txBody>
      </p:sp>
      <p:sp>
        <p:nvSpPr>
          <p:cNvPr id="13" name="soil-C"/>
          <p:cNvSpPr/>
          <p:nvPr/>
        </p:nvSpPr>
        <p:spPr>
          <a:xfrm>
            <a:off x="8229600" y="452628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58200" y="45262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45262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лугово-чернозёмная</a:t>
            </a:r>
            <a:endParaRPr lang="en-US" sz="1300" dirty="0"/>
          </a:p>
        </p:txBody>
      </p:sp>
      <p:sp>
        <p:nvSpPr>
          <p:cNvPr id="16" name="probe-head"/>
          <p:cNvSpPr/>
          <p:nvPr/>
        </p:nvSpPr>
        <p:spPr>
          <a:xfrm>
            <a:off x="10424160" y="1097280"/>
            <a:ext cx="82296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424160" y="10972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CS616</a:t>
            </a:r>
            <a:endParaRPr lang="en-US" sz="1200" dirty="0"/>
          </a:p>
        </p:txBody>
      </p:sp>
      <p:sp>
        <p:nvSpPr>
          <p:cNvPr id="18" name="rod"/>
          <p:cNvSpPr/>
          <p:nvPr/>
        </p:nvSpPr>
        <p:spPr>
          <a:xfrm>
            <a:off x="10524744" y="1691640"/>
            <a:ext cx="73152" cy="3931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rod"/>
          <p:cNvSpPr/>
          <p:nvPr/>
        </p:nvSpPr>
        <p:spPr>
          <a:xfrm>
            <a:off x="11073384" y="1691640"/>
            <a:ext cx="73152" cy="393192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Главное за 30 секунд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stat-0"/>
          <p:cNvSpPr/>
          <p:nvPr/>
        </p:nvSpPr>
        <p:spPr>
          <a:xfrm>
            <a:off x="54864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572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≤ 0,014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наибольшая типичная ошибка (RMSE) среди шести вариантов — ниже критерия 0,02</a:t>
            </a:r>
            <a:endParaRPr lang="en-US" sz="1600" dirty="0"/>
          </a:p>
        </p:txBody>
      </p:sp>
      <p:sp>
        <p:nvSpPr>
          <p:cNvPr id="8" name="stat-1"/>
          <p:cNvSpPr/>
          <p:nvPr/>
        </p:nvSpPr>
        <p:spPr>
          <a:xfrm>
            <a:off x="429768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26280" y="1572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+0,006…+0,010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среднее завышение влажности в тяжёлых почвах — всегда в одну сторону</a:t>
            </a:r>
            <a:endParaRPr lang="en-US" sz="1600" dirty="0"/>
          </a:p>
        </p:txBody>
      </p:sp>
      <p:sp>
        <p:nvSpPr>
          <p:cNvPr id="11" name="stat-2"/>
          <p:cNvSpPr/>
          <p:nvPr/>
        </p:nvSpPr>
        <p:spPr>
          <a:xfrm>
            <a:off x="8046720" y="14630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75320" y="1572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× 2,6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 столько раз сильнее растёт ошибка с увлажнением в самой тяжёлой почве, чем в лёгкой</a:t>
            </a:r>
            <a:endParaRPr lang="en-US" sz="1600" dirty="0"/>
          </a:p>
        </p:txBody>
      </p:sp>
      <p:sp>
        <p:nvSpPr>
          <p:cNvPr id="14" name="units"/>
          <p:cNvSpPr/>
          <p:nvPr/>
        </p:nvSpPr>
        <p:spPr>
          <a:xfrm>
            <a:off x="548640" y="402336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023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0,01 м³/м³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 =  1 л воды на 100 л почвы  = 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 мм воды в метровом слое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 =  100 м³ на гектар</a:t>
            </a:r>
            <a:endParaRPr lang="en-US" sz="2000" dirty="0"/>
          </a:p>
        </p:txBody>
      </p:sp>
      <p:sp>
        <p:nvSpPr>
          <p:cNvPr id="16" name="conclusion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51206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Вывод: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в тяжёлых почвах поправка должна зависеть от влажности. Завышение показаний = полив запаздывает.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Датчик измеряет время, а не воду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soil-block"/>
          <p:cNvSpPr/>
          <p:nvPr/>
        </p:nvSpPr>
        <p:spPr>
          <a:xfrm>
            <a:off x="548640" y="1417320"/>
            <a:ext cx="5303520" cy="1600200"/>
          </a:xfrm>
          <a:prstGeom prst="roundRect">
            <a:avLst>
              <a:gd name="adj" fmla="val 4571"/>
            </a:avLst>
          </a:prstGeom>
          <a:solidFill>
            <a:schemeClr val="accent4"/>
          </a:solidFill>
          <a:ln/>
        </p:spPr>
      </p:sp>
      <p:sp>
        <p:nvSpPr>
          <p:cNvPr id="6" name="probe-head"/>
          <p:cNvSpPr/>
          <p:nvPr/>
        </p:nvSpPr>
        <p:spPr>
          <a:xfrm>
            <a:off x="868680" y="1417320"/>
            <a:ext cx="1188720" cy="4572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датчик</a:t>
            </a:r>
            <a:endParaRPr lang="en-US" sz="1300" dirty="0"/>
          </a:p>
        </p:txBody>
      </p:sp>
      <p:sp>
        <p:nvSpPr>
          <p:cNvPr id="8" name="rod"/>
          <p:cNvSpPr/>
          <p:nvPr/>
        </p:nvSpPr>
        <p:spPr>
          <a:xfrm>
            <a:off x="1097280" y="1874520"/>
            <a:ext cx="64008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rod"/>
          <p:cNvSpPr/>
          <p:nvPr/>
        </p:nvSpPr>
        <p:spPr>
          <a:xfrm>
            <a:off x="1828800" y="1874520"/>
            <a:ext cx="64008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line"/>
          <p:cNvSpPr/>
          <p:nvPr/>
        </p:nvSpPr>
        <p:spPr>
          <a:xfrm>
            <a:off x="2377440" y="1920240"/>
            <a:ext cx="3108960" cy="0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tailEnd type="triangle"/>
          </a:ln>
        </p:spPr>
      </p:sp>
      <p:sp>
        <p:nvSpPr>
          <p:cNvPr id="11" name="line"/>
          <p:cNvSpPr/>
          <p:nvPr/>
        </p:nvSpPr>
        <p:spPr>
          <a:xfrm flipH="1">
            <a:off x="2377440" y="2606040"/>
            <a:ext cx="31089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377440" y="2029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импульс бежит по штангам и возвращается: прибор меряет время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15468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Скрытые допущения заводской шкалы</a:t>
            </a:r>
            <a:endParaRPr lang="en-US" sz="1600" dirty="0"/>
          </a:p>
        </p:txBody>
      </p:sp>
      <p:sp>
        <p:nvSpPr>
          <p:cNvPr id="15" name="assumption-0"/>
          <p:cNvSpPr/>
          <p:nvPr/>
        </p:nvSpPr>
        <p:spPr>
          <a:xfrm>
            <a:off x="6217920" y="1783080"/>
            <a:ext cx="5394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7223760" y="1783080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Почва для волны — изолятор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пробег удлиняет только вода; сигнал по пути не теряет энергию</a:t>
            </a:r>
            <a:endParaRPr lang="en-US" sz="1600" dirty="0"/>
          </a:p>
        </p:txBody>
      </p:sp>
      <p:sp>
        <p:nvSpPr>
          <p:cNvPr id="19" name="assumption-1"/>
          <p:cNvSpPr/>
          <p:nvPr/>
        </p:nvSpPr>
        <p:spPr>
          <a:xfrm>
            <a:off x="6217920" y="3246120"/>
            <a:ext cx="5394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0" name="badge"/>
          <p:cNvSpPr/>
          <p:nvPr/>
        </p:nvSpPr>
        <p:spPr>
          <a:xfrm>
            <a:off x="6400800" y="35661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008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7223760" y="3246120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Переводчик универсален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заводское уравнение τ → θ верно для любой почвы</a:t>
            </a:r>
            <a:endParaRPr lang="en-US" sz="1600" dirty="0"/>
          </a:p>
        </p:txBody>
      </p:sp>
      <p:sp>
        <p:nvSpPr>
          <p:cNvPr id="23" name="passport"/>
          <p:cNvSpPr/>
          <p:nvPr/>
        </p:nvSpPr>
        <p:spPr>
          <a:xfrm>
            <a:off x="6217920" y="4754880"/>
            <a:ext cx="539496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46520" y="480060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Где производитель это гарантирует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объёмная электропроводность &lt; 0,5 дСм/м · плотность &lt; 1,55 г/см³ · глина (&lt; 0,002 мм) &lt; 30 %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В наших тяжёлых почвах физической глины до 65 %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Глина ослабляет сигнал, и датчик завышает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dl-card"/>
          <p:cNvSpPr/>
          <p:nvPr/>
        </p:nvSpPr>
        <p:spPr>
          <a:xfrm>
            <a:off x="548640" y="1417320"/>
            <a:ext cx="502920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1143000" y="214884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2148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 − 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 − −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2368296" y="25694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0" name="badge"/>
          <p:cNvSpPr/>
          <p:nvPr/>
        </p:nvSpPr>
        <p:spPr>
          <a:xfrm>
            <a:off x="2214617" y="304243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14617" y="30424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2" name="badge"/>
          <p:cNvSpPr/>
          <p:nvPr/>
        </p:nvSpPr>
        <p:spPr>
          <a:xfrm>
            <a:off x="1812281" y="3334753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12281" y="33347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4" name="badge"/>
          <p:cNvSpPr/>
          <p:nvPr/>
        </p:nvSpPr>
        <p:spPr>
          <a:xfrm>
            <a:off x="1314967" y="3334753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314967" y="33347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6" name="badge"/>
          <p:cNvSpPr/>
          <p:nvPr/>
        </p:nvSpPr>
        <p:spPr>
          <a:xfrm>
            <a:off x="912631" y="304243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2631" y="30424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18" name="badge"/>
          <p:cNvSpPr/>
          <p:nvPr/>
        </p:nvSpPr>
        <p:spPr>
          <a:xfrm>
            <a:off x="758952" y="25694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8952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0" name="badge"/>
          <p:cNvSpPr/>
          <p:nvPr/>
        </p:nvSpPr>
        <p:spPr>
          <a:xfrm>
            <a:off x="912631" y="209649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2631" y="20964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2" name="badge"/>
          <p:cNvSpPr/>
          <p:nvPr/>
        </p:nvSpPr>
        <p:spPr>
          <a:xfrm>
            <a:off x="1314967" y="1804175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314967" y="18041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4" name="badge"/>
          <p:cNvSpPr/>
          <p:nvPr/>
        </p:nvSpPr>
        <p:spPr>
          <a:xfrm>
            <a:off x="1812281" y="1804175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12281" y="18041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6" name="badge"/>
          <p:cNvSpPr/>
          <p:nvPr/>
        </p:nvSpPr>
        <p:spPr>
          <a:xfrm>
            <a:off x="2214617" y="209649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214617" y="20964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880360" y="16002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Частица глины (−) и облако ионов (+) — двойной электрический слой: он проводит ток. Смектит: 600–800 м²/г поверхности.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Обратная сила: связанная вода тянет показания вниз</a:t>
            </a:r>
            <a:endParaRPr lang="en-US" sz="14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760720" y="1371600"/>
          <a:ext cx="58521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mech-result"/>
          <p:cNvSpPr/>
          <p:nvPr/>
        </p:nvSpPr>
        <p:spPr>
          <a:xfrm>
            <a:off x="5760720" y="3840480"/>
            <a:ext cx="58521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5897880" y="38404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Слабый сигнал позже пересекает порог → τ длиннее → «лишняя вода»</a:t>
            </a:r>
            <a:endParaRPr lang="en-US" sz="1400" dirty="0"/>
          </a:p>
        </p:txBody>
      </p:sp>
      <p:sp>
        <p:nvSpPr>
          <p:cNvPr id="33" name="h-0"/>
          <p:cNvSpPr/>
          <p:nvPr/>
        </p:nvSpPr>
        <p:spPr>
          <a:xfrm>
            <a:off x="548640" y="448056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4" name="badge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H1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141732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Ошибка растёт с физической глиной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73152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опровергнет: одинакова в лёгких и тяжёлых почвах</a:t>
            </a:r>
            <a:endParaRPr lang="en-US" sz="1400" dirty="0"/>
          </a:p>
        </p:txBody>
      </p:sp>
      <p:sp>
        <p:nvSpPr>
          <p:cNvPr id="38" name="h-1"/>
          <p:cNvSpPr/>
          <p:nvPr/>
        </p:nvSpPr>
        <p:spPr>
          <a:xfrm>
            <a:off x="4297680" y="448056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39" name="badge"/>
          <p:cNvSpPr/>
          <p:nvPr/>
        </p:nvSpPr>
        <p:spPr>
          <a:xfrm>
            <a:off x="4480560" y="4617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48056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H2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516636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Растёт с влажностью, нелинейно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448056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опровергнет: постоянна или растёт по прямой</a:t>
            </a:r>
            <a:endParaRPr lang="en-US" sz="1400" dirty="0"/>
          </a:p>
        </p:txBody>
      </p:sp>
      <p:sp>
        <p:nvSpPr>
          <p:cNvPr id="43" name="h-2"/>
          <p:cNvSpPr/>
          <p:nvPr/>
        </p:nvSpPr>
        <p:spPr>
          <a:xfrm>
            <a:off x="8046720" y="448056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44" name="badge"/>
          <p:cNvSpPr/>
          <p:nvPr/>
        </p:nvSpPr>
        <p:spPr>
          <a:xfrm>
            <a:off x="8229600" y="4617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822960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H3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891540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Плотность влияет, по-разному в почвах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822960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опровергнет: эффекта нет или он одинаков везде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Эксперимент как экзамен с ключом ответов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Схема опыта: 3 почвы × 2 плотности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10–20 % физ. глины</a:t>
            </a:r>
            <a:endParaRPr lang="en-US" sz="1600" dirty="0"/>
          </a:p>
        </p:txBody>
      </p:sp>
      <p:sp>
        <p:nvSpPr>
          <p:cNvPr id="7" name="cell"/>
          <p:cNvSpPr/>
          <p:nvPr/>
        </p:nvSpPr>
        <p:spPr>
          <a:xfrm>
            <a:off x="173736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73736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9" name="cell"/>
          <p:cNvSpPr/>
          <p:nvPr/>
        </p:nvSpPr>
        <p:spPr>
          <a:xfrm>
            <a:off x="173736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73736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40–50 %</a:t>
            </a:r>
            <a:endParaRPr lang="en-US" sz="1600" dirty="0"/>
          </a:p>
        </p:txBody>
      </p:sp>
      <p:sp>
        <p:nvSpPr>
          <p:cNvPr id="12" name="cell"/>
          <p:cNvSpPr/>
          <p:nvPr/>
        </p:nvSpPr>
        <p:spPr>
          <a:xfrm>
            <a:off x="329184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9184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14" name="cell"/>
          <p:cNvSpPr/>
          <p:nvPr/>
        </p:nvSpPr>
        <p:spPr>
          <a:xfrm>
            <a:off x="329184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9184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50–65 %</a:t>
            </a:r>
            <a:endParaRPr lang="en-US" sz="1600" dirty="0"/>
          </a:p>
        </p:txBody>
      </p:sp>
      <p:sp>
        <p:nvSpPr>
          <p:cNvPr id="17" name="cell"/>
          <p:cNvSpPr/>
          <p:nvPr/>
        </p:nvSpPr>
        <p:spPr>
          <a:xfrm>
            <a:off x="484632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19" name="cell"/>
          <p:cNvSpPr/>
          <p:nvPr/>
        </p:nvSpPr>
        <p:spPr>
          <a:xfrm>
            <a:off x="484632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514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плотность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все почвы незасолённые: ECe 0,28–0,61 дСм/м</a:t>
            </a:r>
            <a:endParaRPr lang="en-US" sz="1400" dirty="0"/>
          </a:p>
        </p:txBody>
      </p:sp>
      <p:sp>
        <p:nvSpPr>
          <p:cNvPr id="23" name="count"/>
          <p:cNvSpPr/>
          <p:nvPr/>
        </p:nvSpPr>
        <p:spPr>
          <a:xfrm>
            <a:off x="6675120" y="1371600"/>
            <a:ext cx="493776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03720" y="1389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6 × 3 × 10 = 180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2075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вариантов × колонок × ступеней влажности</a:t>
            </a:r>
            <a:endParaRPr lang="en-US" sz="1500" dirty="0"/>
          </a:p>
        </p:txBody>
      </p:sp>
      <p:sp>
        <p:nvSpPr>
          <p:cNvPr id="26" name="key"/>
          <p:cNvSpPr/>
          <p:nvPr/>
        </p:nvSpPr>
        <p:spPr>
          <a:xfrm>
            <a:off x="6675120" y="269748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58000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Ключ ответов: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термостатно-весовой метод (сушка при 105 °C), неопределённость 0,005</a:t>
            </a:r>
            <a:endParaRPr lang="en-US" sz="1500" dirty="0"/>
          </a:p>
        </p:txBody>
      </p:sp>
      <p:sp>
        <p:nvSpPr>
          <p:cNvPr id="28" name="metrics"/>
          <p:cNvSpPr/>
          <p:nvPr/>
        </p:nvSpPr>
        <p:spPr>
          <a:xfrm>
            <a:off x="6675120" y="3703320"/>
            <a:ext cx="4937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0" y="3703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MB — сдвиг, RMSE — типичный промах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RMSE² = MB² + разброс²; критерий RMSE ≤ 0,02</a:t>
            </a:r>
            <a:endParaRPr lang="en-US" sz="1500" dirty="0"/>
          </a:p>
        </p:txBody>
      </p:sp>
      <p:sp>
        <p:nvSpPr>
          <p:cNvPr id="30" name="proc-0"/>
          <p:cNvSpPr/>
          <p:nvPr/>
        </p:nvSpPr>
        <p:spPr>
          <a:xfrm>
            <a:off x="54864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3152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Насыщение снизу, 48 ч</a:t>
            </a:r>
            <a:endParaRPr lang="en-US" sz="1700" dirty="0"/>
          </a:p>
        </p:txBody>
      </p:sp>
      <p:sp>
        <p:nvSpPr>
          <p:cNvPr id="32" name="arrow"/>
          <p:cNvSpPr/>
          <p:nvPr/>
        </p:nvSpPr>
        <p:spPr>
          <a:xfrm>
            <a:off x="3182112" y="5303520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3" name="proc-1"/>
          <p:cNvSpPr/>
          <p:nvPr/>
        </p:nvSpPr>
        <p:spPr>
          <a:xfrm>
            <a:off x="338328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Ступенчатое иссушение при 20 °C</a:t>
            </a:r>
            <a:endParaRPr lang="en-US" sz="1700" dirty="0"/>
          </a:p>
        </p:txBody>
      </p:sp>
      <p:sp>
        <p:nvSpPr>
          <p:cNvPr id="35" name="arrow"/>
          <p:cNvSpPr/>
          <p:nvPr/>
        </p:nvSpPr>
        <p:spPr>
          <a:xfrm>
            <a:off x="6016752" y="5303520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6" name="proc-2"/>
          <p:cNvSpPr/>
          <p:nvPr/>
        </p:nvSpPr>
        <p:spPr>
          <a:xfrm>
            <a:off x="621792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0080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Равновесие 8–36 ч</a:t>
            </a:r>
            <a:endParaRPr lang="en-US" sz="1700" dirty="0"/>
          </a:p>
        </p:txBody>
      </p:sp>
      <p:sp>
        <p:nvSpPr>
          <p:cNvPr id="38" name="arrow"/>
          <p:cNvSpPr/>
          <p:nvPr/>
        </p:nvSpPr>
        <p:spPr>
          <a:xfrm>
            <a:off x="8851392" y="5303520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9" name="proc-3"/>
          <p:cNvSpPr/>
          <p:nvPr/>
        </p:nvSpPr>
        <p:spPr>
          <a:xfrm>
            <a:off x="9052560" y="489204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235440" y="4892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Снимок: период τ + масса колонки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Колонка 152 мм × 300 мм; температура постоянна; на каждой ступени ждём, пока период и масса перестанут меняться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Ошибка мала, но растёт с глиной и влажностью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70408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pi-0"/>
          <p:cNvSpPr/>
          <p:nvPr/>
        </p:nvSpPr>
        <p:spPr>
          <a:xfrm>
            <a:off x="7818120" y="1371600"/>
            <a:ext cx="3794760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001000" y="14264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0,006–0,014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190195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RMSE во всех вариантах — ниже критерия 0,02</a:t>
            </a:r>
            <a:endParaRPr lang="en-US" sz="1300" dirty="0"/>
          </a:p>
        </p:txBody>
      </p:sp>
      <p:sp>
        <p:nvSpPr>
          <p:cNvPr id="9" name="kpi-1"/>
          <p:cNvSpPr/>
          <p:nvPr/>
        </p:nvSpPr>
        <p:spPr>
          <a:xfrm>
            <a:off x="7818120" y="2615184"/>
            <a:ext cx="3794760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001000" y="2670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MB &gt; 0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001000" y="314553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везде завышение: в A неотличимо от нуля, в B и C +0,006…+0,010</a:t>
            </a:r>
            <a:endParaRPr lang="en-US" sz="1300" dirty="0"/>
          </a:p>
        </p:txBody>
      </p:sp>
      <p:sp>
        <p:nvSpPr>
          <p:cNvPr id="12" name="kpi-2"/>
          <p:cNvSpPr/>
          <p:nvPr/>
        </p:nvSpPr>
        <p:spPr>
          <a:xfrm>
            <a:off x="7818120" y="3858768"/>
            <a:ext cx="3794760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001000" y="3913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+0,008 · +0,014 · +0,021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43891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прирост при θ 0,20 → 0,40 (A · B · C): в C в 2,6 раза больше, чем в A</a:t>
            </a:r>
            <a:endParaRPr lang="en-US" sz="1300" dirty="0"/>
          </a:p>
        </p:txBody>
      </p:sp>
      <p:sp>
        <p:nvSpPr>
          <p:cNvPr id="15" name="kpi-3"/>
          <p:cNvSpPr/>
          <p:nvPr/>
        </p:nvSpPr>
        <p:spPr>
          <a:xfrm>
            <a:off x="7818120" y="5102352"/>
            <a:ext cx="3794760" cy="1133856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001000" y="51572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+0,027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8001000" y="56327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максимум при θ 0,40 в C; бледные точки вне анализа: +0,031 и +0,038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Как доказали: сравнение на равной влажности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51206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verdict"/>
          <p:cNvSpPr/>
          <p:nvPr/>
        </p:nvSpPr>
        <p:spPr>
          <a:xfrm>
            <a:off x="54864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77240" y="3154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Почва: p = 0,074 → «не значимо»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но «не значимо» ≠ «эффекта нет»: его заглушает рост ошибки с влажностью</a:t>
            </a:r>
            <a:endParaRPr lang="en-US" sz="1600" dirty="0"/>
          </a:p>
        </p:txBody>
      </p:sp>
      <p:sp>
        <p:nvSpPr>
          <p:cNvPr id="8" name="analogy"/>
          <p:cNvSpPr/>
          <p:nvPr/>
        </p:nvSpPr>
        <p:spPr>
          <a:xfrm>
            <a:off x="548640" y="4480560"/>
            <a:ext cx="51206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4480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Разговор на концерте: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музыка — рост ошибки с влажностью</a:t>
            </a:r>
            <a:endParaRPr lang="en-US" sz="1600" dirty="0"/>
          </a:p>
        </p:txBody>
      </p:sp>
      <p:sp>
        <p:nvSpPr>
          <p:cNvPr id="10" name="caveat"/>
          <p:cNvSpPr/>
          <p:nvPr/>
        </p:nvSpPr>
        <p:spPr>
          <a:xfrm>
            <a:off x="548640" y="5394960"/>
            <a:ext cx="51206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53949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Граница вывода: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уровни — состояния одних колонок, почва в группе одна → описательно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5943600" y="132588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st-0"/>
          <p:cNvSpPr/>
          <p:nvPr/>
        </p:nvSpPr>
        <p:spPr>
          <a:xfrm>
            <a:off x="5943600" y="489204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080760" y="4892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Влажность — блок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 = 0,013</a:t>
            </a:r>
            <a:endParaRPr lang="en-US" sz="1600" dirty="0"/>
          </a:p>
        </p:txBody>
      </p:sp>
      <p:sp>
        <p:nvSpPr>
          <p:cNvPr id="15" name="test-1"/>
          <p:cNvSpPr/>
          <p:nvPr/>
        </p:nvSpPr>
        <p:spPr>
          <a:xfrm>
            <a:off x="7863840" y="489204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001000" y="4892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Фридман: только порядок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 = 0,004</a:t>
            </a:r>
            <a:endParaRPr lang="en-US" sz="1600" dirty="0"/>
          </a:p>
        </p:txBody>
      </p:sp>
      <p:sp>
        <p:nvSpPr>
          <p:cNvPr id="17" name="test-2"/>
          <p:cNvSpPr/>
          <p:nvPr/>
        </p:nvSpPr>
        <p:spPr>
          <a:xfrm>
            <a:off x="9784080" y="489204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9921240" y="489204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Интуиция: A меньше всех 6 раз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(1/3)⁶ ≈ 1 из 729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Глина или соли? И почему подвела плотность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Глина или соли?</a:t>
            </a:r>
            <a:endParaRPr lang="en-US" sz="1700" dirty="0"/>
          </a:p>
        </p:txBody>
      </p:sp>
      <p:sp>
        <p:nvSpPr>
          <p:cNvPr id="6" name="suspect-0"/>
          <p:cNvSpPr/>
          <p:nvPr/>
        </p:nvSpPr>
        <p:spPr>
          <a:xfrm>
            <a:off x="548640" y="1737360"/>
            <a:ext cx="50292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73736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R² = 0,88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737360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сдвиг MB растёт с гигроскопичностью MH — прокси поверхности глин</a:t>
            </a:r>
            <a:endParaRPr lang="en-US" sz="1400" dirty="0"/>
          </a:p>
        </p:txBody>
      </p:sp>
      <p:sp>
        <p:nvSpPr>
          <p:cNvPr id="9" name="suspect-1"/>
          <p:cNvSpPr/>
          <p:nvPr/>
        </p:nvSpPr>
        <p:spPr>
          <a:xfrm>
            <a:off x="548640" y="2834640"/>
            <a:ext cx="50292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83464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R² = 0,96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2834640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сдвиг MB растёт с электропроводностью ECe — прокси солей</a:t>
            </a:r>
            <a:endParaRPr lang="en-US" sz="1400" dirty="0"/>
          </a:p>
        </p:txBody>
      </p:sp>
      <p:sp>
        <p:nvSpPr>
          <p:cNvPr id="12" name="suspect-2"/>
          <p:cNvSpPr/>
          <p:nvPr/>
        </p:nvSpPr>
        <p:spPr>
          <a:xfrm>
            <a:off x="548640" y="3931920"/>
            <a:ext cx="50292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r = 0,88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3931920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MH и ECe связаны: два подозреваемых всегда вместе — не разделить</a:t>
            </a:r>
            <a:endParaRPr lang="en-US" sz="1400" dirty="0"/>
          </a:p>
        </p:txBody>
      </p:sp>
      <p:sp>
        <p:nvSpPr>
          <p:cNvPr id="15" name="need"/>
          <p:cNvSpPr/>
          <p:nvPr/>
        </p:nvSpPr>
        <p:spPr>
          <a:xfrm>
            <a:off x="548640" y="5074920"/>
            <a:ext cx="502920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074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Нужны почвы, где глина и соли не ходят парой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Плотность: прогноз модели смеси CRIM</a:t>
            </a:r>
            <a:endParaRPr lang="en-US" sz="17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943600" y="1691640"/>
          <a:ext cx="5669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logic"/>
          <p:cNvSpPr/>
          <p:nvPr/>
        </p:nvSpPr>
        <p:spPr>
          <a:xfrm>
            <a:off x="5943600" y="4434840"/>
            <a:ext cx="566928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172200" y="4434840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модель ∧ та же θ ∧ та же проводимость ⇒ +0,0095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наблюдали −0,0017 (ДИ −0,006…+0,003) ⇒ ложно хотя бы одно звено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ECe у плотных ниже на 0,07–0,12 дСм/м; диапазоны влажности разные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Насколько твёрд каждый вывод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10" name="ledg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  <a:gridCol w="1280160"/>
                <a:gridCol w="4389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Утверждение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Тип связи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Твёрдость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мешает сказать сильнее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Типичная ошибка ниже 0,02 во всех вариантах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метрология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20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лаборатория; средние по трём колонкам, без разброса между датчиками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Ошибка растёт с влажностью, сильнее в тяжёлой почве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прямое наблюдение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20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диапазон до 0,40 (два состояния до 0,48 вне анализа); только иссушение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На равной влажности порядок A &lt; B ≤ C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статистический вывод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уровни — состояния одних колонок; одна почва на группу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 тяжёлых почвах датчик завышает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статистический вывод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сдвиг соизмерим с U эталона 0,005; граница A–B неустойчива к округлению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Прогноз CRIM для плотности не сбылся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количественная модель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ECe и диапазоны влажности вариантов различались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Причина — поверхность глин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косвенный показатель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</a:rPr>
                        <a:t>●○○</a:t>
                      </a:r>
                      <a:endParaRPr lang="en-US" sz="20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MB ~ ECe: R² = 0,96; r(MH, ECe) = 0,88; три почвы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Набухание не добавляет ошибки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прямое сравнение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</a:rPr>
                        <a:t>●○○</a:t>
                      </a:r>
                      <a:endParaRPr lang="en-US" sz="20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смешано с плотностью и ECe; почва поднималась выше штанг</a:t>
                      </a:r>
                      <a:endParaRPr lang="en-US" sz="1400" dirty="0"/>
                    </a:p>
                  </a:txBody>
                  <a:tcPr marL="64008" marR="64008" marT="64008" marB="64008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Допущения нашего собственного опыта (эталон ±0,005, уровни не независимы, одна почва на группу, стенки колонки) — на запасном слайде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делать практику: светофор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l-0"/>
          <p:cNvSpPr/>
          <p:nvPr/>
        </p:nvSpPr>
        <p:spPr>
          <a:xfrm>
            <a:off x="548640" y="141732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6" name="light"/>
          <p:cNvSpPr/>
          <p:nvPr/>
        </p:nvSpPr>
        <p:spPr>
          <a:xfrm>
            <a:off x="731520" y="1655064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00200" y="141732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Лёгкие, 10–20 % физ. глины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заводская калибровка без поправки</a:t>
            </a:r>
            <a:endParaRPr lang="en-US" sz="1600" dirty="0"/>
          </a:p>
        </p:txBody>
      </p:sp>
      <p:sp>
        <p:nvSpPr>
          <p:cNvPr id="8" name="tl-1"/>
          <p:cNvSpPr/>
          <p:nvPr/>
        </p:nvSpPr>
        <p:spPr>
          <a:xfrm>
            <a:off x="548640" y="265176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9" name="light"/>
          <p:cNvSpPr/>
          <p:nvPr/>
        </p:nvSpPr>
        <p:spPr>
          <a:xfrm>
            <a:off x="731520" y="288950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600200" y="265176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Тяжёлые, 40–65 %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завышение 6–10 мм воды в метровом слое, до 27 мм во влажной: калибровка под почву или 1–2 весовые проверки за сезон</a:t>
            </a:r>
            <a:endParaRPr lang="en-US" sz="1600" dirty="0"/>
          </a:p>
        </p:txBody>
      </p:sp>
      <p:sp>
        <p:nvSpPr>
          <p:cNvPr id="11" name="tl-2"/>
          <p:cNvSpPr/>
          <p:nvPr/>
        </p:nvSpPr>
        <p:spPr>
          <a:xfrm>
            <a:off x="548640" y="388620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2" name="light"/>
          <p:cNvSpPr/>
          <p:nvPr/>
        </p:nvSpPr>
        <p:spPr>
          <a:xfrm>
            <a:off x="731520" y="412394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600200" y="388620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Постоянная поправка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 годится: ошибка растёт с влажностью (график справа)</a:t>
            </a:r>
            <a:endParaRPr lang="en-US" sz="1600" dirty="0"/>
          </a:p>
        </p:txBody>
      </p:sp>
      <p:sp>
        <p:nvSpPr>
          <p:cNvPr id="14" name="tl-3"/>
          <p:cNvSpPr/>
          <p:nvPr/>
        </p:nvSpPr>
        <p:spPr>
          <a:xfrm>
            <a:off x="548640" y="512064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5" name="light"/>
          <p:cNvSpPr/>
          <p:nvPr/>
        </p:nvSpPr>
        <p:spPr>
          <a:xfrm>
            <a:off x="731520" y="5358384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600200" y="512064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Серая зона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20–40 % физ. глины не испытаны; в поле нужна температурная поправка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132320" y="1371600"/>
          <a:ext cx="4480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wo-point"/>
          <p:cNvSpPr/>
          <p:nvPr/>
        </p:nvSpPr>
        <p:spPr>
          <a:xfrm>
            <a:off x="7132320" y="4709160"/>
            <a:ext cx="4480560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15200" y="47091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Проверять в двух точках: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после полива и перед поливом. Одна точка даёт сдвиг, две — ещё и наклон. Следствие из данных; в поле не проверено.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проверить дальше: если — то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12" name="if-t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0233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Если верно…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…то увидим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Решающий опыт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Завышение создаёт проводимость порового раствора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ошибка растёт вместе с ECe при засолении одной и той же почвы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ступенчатое засоление, ECe 1–4 дСм/м (сделано, отдельная статья)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Работает поверхность глин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при равной ECe ошибка больше в почве с большей долей смектита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минералогия глин; пары почв с равной ECe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Эффект плотности «съела» разница в ECe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при выровненной ECe плотный вариант ближе к +0,009…+0,010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уплотнение одной почвы при одинаковой ECe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Эффект почвы реален, а не артефакт колонок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сохранится в смешанной модели (колонка — случайный эффект)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переанализ 180 колоночных значений — данные уже есть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Идея: завышение задаёт проводимость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поправка по двум входам (τ и объёмная ЭП) уберёт большую часть ошибки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мерить объёмную ЭП рядом с датчиком (в опыте не мерили)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Три мысли, которые стоит унести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ake-0"/>
          <p:cNvSpPr/>
          <p:nvPr/>
        </p:nvSpPr>
        <p:spPr>
          <a:xfrm>
            <a:off x="54864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6" name="badge"/>
          <p:cNvSpPr/>
          <p:nvPr/>
        </p:nvSpPr>
        <p:spPr>
          <a:xfrm>
            <a:off x="82296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Годится, но не бесплатно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RMSE 0,006–0,014 &lt; 0,02 везде. Но при 40–65 % физ. глины датчик завышает, и сильнее во влажной почве</a:t>
            </a:r>
            <a:endParaRPr lang="en-US" sz="1500" dirty="0"/>
          </a:p>
        </p:txBody>
      </p:sp>
      <p:sp>
        <p:nvSpPr>
          <p:cNvPr id="10" name="take-1"/>
          <p:cNvSpPr/>
          <p:nvPr/>
        </p:nvSpPr>
        <p:spPr>
          <a:xfrm>
            <a:off x="429768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11" name="badge"/>
          <p:cNvSpPr/>
          <p:nvPr/>
        </p:nvSpPr>
        <p:spPr>
          <a:xfrm>
            <a:off x="457200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Доказывали устойчивость, а не только p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порядок почв сохранялся на каждом уровне влажности, два разных теста согласны; слабые места показаны</a:t>
            </a:r>
            <a:endParaRPr lang="en-US" sz="1500" dirty="0"/>
          </a:p>
        </p:txBody>
      </p:sp>
      <p:sp>
        <p:nvSpPr>
          <p:cNvPr id="15" name="take-2"/>
          <p:cNvSpPr/>
          <p:nvPr/>
        </p:nvSpPr>
        <p:spPr>
          <a:xfrm>
            <a:off x="804672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16" name="badge"/>
          <p:cNvSpPr/>
          <p:nvPr/>
        </p:nvSpPr>
        <p:spPr>
          <a:xfrm>
            <a:off x="832104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Гипотеза подтверждена частично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связь с почвой и рост с влажностью — да; плотность — нет; механизм (глина или соли) не разделён</a:t>
            </a:r>
            <a:endParaRPr lang="en-US" sz="1500" dirty="0"/>
          </a:p>
        </p:txBody>
      </p:sp>
      <p:sp>
        <p:nvSpPr>
          <p:cNvPr id="20" name="verdict-0"/>
          <p:cNvSpPr/>
          <p:nvPr/>
        </p:nvSpPr>
        <p:spPr>
          <a:xfrm>
            <a:off x="54864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H1 · глина: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частично</a:t>
            </a:r>
            <a:endParaRPr lang="en-US" sz="1700" dirty="0"/>
          </a:p>
        </p:txBody>
      </p:sp>
      <p:sp>
        <p:nvSpPr>
          <p:cNvPr id="22" name="verdict-1"/>
          <p:cNvSpPr/>
          <p:nvPr/>
        </p:nvSpPr>
        <p:spPr>
          <a:xfrm>
            <a:off x="429768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8056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H2 · влажность: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подтверждена</a:t>
            </a:r>
            <a:endParaRPr lang="en-US" sz="1700" dirty="0"/>
          </a:p>
        </p:txBody>
      </p:sp>
      <p:sp>
        <p:nvSpPr>
          <p:cNvPr id="24" name="verdict-2"/>
          <p:cNvSpPr/>
          <p:nvPr/>
        </p:nvSpPr>
        <p:spPr>
          <a:xfrm>
            <a:off x="804672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H3 · плотность: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не подтверждена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Работа — карта: где датчик надёжен, где нужна проверка и какой опыт закроет пробел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Спасибо за внимание!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шесть теорий и типы связей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node"/>
          <p:cNvSpPr/>
          <p:nvPr/>
        </p:nvSpPr>
        <p:spPr>
          <a:xfrm>
            <a:off x="548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Физика почв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доли фаз, плотность, набухание</a:t>
            </a:r>
            <a:endParaRPr lang="en-US" sz="1600" dirty="0"/>
          </a:p>
        </p:txBody>
      </p:sp>
      <p:sp>
        <p:nvSpPr>
          <p:cNvPr id="7" name="node"/>
          <p:cNvSpPr/>
          <p:nvPr/>
        </p:nvSpPr>
        <p:spPr>
          <a:xfrm>
            <a:off x="548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Химия глин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двойной слой, соли; прокси: MH, ECe</a:t>
            </a:r>
            <a:endParaRPr lang="en-US" sz="1600" dirty="0"/>
          </a:p>
        </p:txBody>
      </p:sp>
      <p:sp>
        <p:nvSpPr>
          <p:cNvPr id="9" name="node"/>
          <p:cNvSpPr/>
          <p:nvPr/>
        </p:nvSpPr>
        <p:spPr>
          <a:xfrm>
            <a:off x="2834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44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Теория смеси (CRIM)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√ε смеси = Σ доля × √ε</a:t>
            </a:r>
            <a:endParaRPr lang="en-US" sz="1600" dirty="0"/>
          </a:p>
        </p:txBody>
      </p:sp>
      <p:sp>
        <p:nvSpPr>
          <p:cNvPr id="11" name="node"/>
          <p:cNvSpPr/>
          <p:nvPr/>
        </p:nvSpPr>
        <p:spPr>
          <a:xfrm>
            <a:off x="2834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44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Электро­динамика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скорость ∝ 1/√ε; потери сигнала</a:t>
            </a:r>
            <a:endParaRPr lang="en-US" sz="1600" dirty="0"/>
          </a:p>
        </p:txBody>
      </p:sp>
      <p:sp>
        <p:nvSpPr>
          <p:cNvPr id="13" name="node"/>
          <p:cNvSpPr/>
          <p:nvPr/>
        </p:nvSpPr>
        <p:spPr>
          <a:xfrm>
            <a:off x="5120640" y="22631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30368" y="23088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Датчик + уравнение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τ → θ: эмпирический перевод</a:t>
            </a:r>
            <a:endParaRPr lang="en-US" sz="1600" dirty="0"/>
          </a:p>
        </p:txBody>
      </p:sp>
      <p:sp>
        <p:nvSpPr>
          <p:cNvPr id="15" name="node"/>
          <p:cNvSpPr/>
          <p:nvPr/>
        </p:nvSpPr>
        <p:spPr>
          <a:xfrm>
            <a:off x="7406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16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Метрология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эталон U = 0,005; MB, RMSE</a:t>
            </a:r>
            <a:endParaRPr lang="en-US" sz="1600" dirty="0"/>
          </a:p>
        </p:txBody>
      </p:sp>
      <p:sp>
        <p:nvSpPr>
          <p:cNvPr id="17" name="node"/>
          <p:cNvSpPr/>
          <p:nvPr/>
        </p:nvSpPr>
        <p:spPr>
          <a:xfrm>
            <a:off x="7406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16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Статистика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дисперсионный анализ, блоки, регрессия</a:t>
            </a:r>
            <a:endParaRPr lang="en-US" sz="1600" dirty="0"/>
          </a:p>
        </p:txBody>
      </p:sp>
      <p:sp>
        <p:nvSpPr>
          <p:cNvPr id="19" name="node"/>
          <p:cNvSpPr/>
          <p:nvPr/>
        </p:nvSpPr>
        <p:spPr>
          <a:xfrm>
            <a:off x="9692640" y="22631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02368" y="23088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Мелиорация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решение: порог полива</a:t>
            </a:r>
            <a:endParaRPr lang="en-US" sz="1600" dirty="0"/>
          </a:p>
        </p:txBody>
      </p:sp>
      <p:sp>
        <p:nvSpPr>
          <p:cNvPr id="21" name="line"/>
          <p:cNvSpPr/>
          <p:nvPr/>
        </p:nvSpPr>
        <p:spPr>
          <a:xfrm>
            <a:off x="2468880" y="210312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line"/>
          <p:cNvSpPr/>
          <p:nvPr/>
        </p:nvSpPr>
        <p:spPr>
          <a:xfrm>
            <a:off x="2468880" y="370332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line"/>
          <p:cNvSpPr/>
          <p:nvPr/>
        </p:nvSpPr>
        <p:spPr>
          <a:xfrm flipV="1">
            <a:off x="3794760" y="2743200"/>
            <a:ext cx="0" cy="320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line"/>
          <p:cNvSpPr/>
          <p:nvPr/>
        </p:nvSpPr>
        <p:spPr>
          <a:xfrm>
            <a:off x="4754880" y="2103120"/>
            <a:ext cx="365760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line"/>
          <p:cNvSpPr/>
          <p:nvPr/>
        </p:nvSpPr>
        <p:spPr>
          <a:xfrm flipV="1">
            <a:off x="4754880" y="3154680"/>
            <a:ext cx="365760" cy="5486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line"/>
          <p:cNvSpPr/>
          <p:nvPr/>
        </p:nvSpPr>
        <p:spPr>
          <a:xfrm flipV="1">
            <a:off x="7040880" y="2103120"/>
            <a:ext cx="365760" cy="5486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line"/>
          <p:cNvSpPr/>
          <p:nvPr/>
        </p:nvSpPr>
        <p:spPr>
          <a:xfrm>
            <a:off x="8366760" y="2743200"/>
            <a:ext cx="0" cy="3200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line"/>
          <p:cNvSpPr/>
          <p:nvPr/>
        </p:nvSpPr>
        <p:spPr>
          <a:xfrm flipV="1">
            <a:off x="9326880" y="3154680"/>
            <a:ext cx="365760" cy="5486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legend-0"/>
          <p:cNvSpPr/>
          <p:nvPr/>
        </p:nvSpPr>
        <p:spPr>
          <a:xfrm>
            <a:off x="548640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0" name="line"/>
          <p:cNvSpPr/>
          <p:nvPr/>
        </p:nvSpPr>
        <p:spPr>
          <a:xfrm>
            <a:off x="731520" y="4846320"/>
            <a:ext cx="5486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371600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Механизм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причина → следствие. Подводит, если есть обратная сила (связанная вода)</a:t>
            </a:r>
            <a:endParaRPr lang="en-US" sz="1400" dirty="0"/>
          </a:p>
        </p:txBody>
      </p:sp>
      <p:sp>
        <p:nvSpPr>
          <p:cNvPr id="33" name="legend-1"/>
          <p:cNvSpPr/>
          <p:nvPr/>
        </p:nvSpPr>
        <p:spPr>
          <a:xfrm>
            <a:off x="3355848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4" name="line"/>
          <p:cNvSpPr/>
          <p:nvPr/>
        </p:nvSpPr>
        <p:spPr>
          <a:xfrm>
            <a:off x="3538728" y="4846320"/>
            <a:ext cx="54864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78808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Модель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3538728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даёт число, его можно проверить. Подводит, если нарушены допущения (плотность)</a:t>
            </a:r>
            <a:endParaRPr lang="en-US" sz="1400" dirty="0"/>
          </a:p>
        </p:txBody>
      </p:sp>
      <p:sp>
        <p:nvSpPr>
          <p:cNvPr id="37" name="legend-2"/>
          <p:cNvSpPr/>
          <p:nvPr/>
        </p:nvSpPr>
        <p:spPr>
          <a:xfrm>
            <a:off x="6163056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8" name="line"/>
          <p:cNvSpPr/>
          <p:nvPr/>
        </p:nvSpPr>
        <p:spPr>
          <a:xfrm>
            <a:off x="6345936" y="4846320"/>
            <a:ext cx="54864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6986016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Косвенный показатель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345936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судим о скрытом по видимому (MH, ECe). Подводит, если прокси ходят парой</a:t>
            </a:r>
            <a:endParaRPr lang="en-US" sz="1400" dirty="0"/>
          </a:p>
        </p:txBody>
      </p:sp>
      <p:sp>
        <p:nvSpPr>
          <p:cNvPr id="41" name="legend-3"/>
          <p:cNvSpPr/>
          <p:nvPr/>
        </p:nvSpPr>
        <p:spPr>
          <a:xfrm>
            <a:off x="8970264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2" name="line"/>
          <p:cNvSpPr/>
          <p:nvPr/>
        </p:nvSpPr>
        <p:spPr>
          <a:xfrm>
            <a:off x="9153144" y="4846320"/>
            <a:ext cx="54864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793224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Статистический вывод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153144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 колонок к общему. Подводит, если наблюдения не независимы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допущения нашего опыта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15" name="own-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486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Допущение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мы сделали или знаем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Статус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«Эталон — это истина»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Два способа (вся колонка и микрокерны): расхождение ≤ 0,008, в среднем 0,003; U = 0,005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«Десять уровней — независимые наблюдения»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Нет: это последовательные состояния одних и тех же колонок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 описательные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«Одна почва представляет группу»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 каждой группе одна почва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экстраполяция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«Колонка не мешает датчику»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 стенки 59–73 мм (рекомендуется ≥ 100), штанги доходят до дна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не проверено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«Объём почвы постоянен»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Нарушено при набухании (почва C, 1,52 г/см³) — эталон по реальному объёму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учтено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«Округление опубликованных чисел не меняет выводов»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20 000 симуляций: доля эффекта почвы 0,07–0,11 держится; граница A–B неустойчива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проверено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расчёт прогноза модели смеси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ep-0"/>
          <p:cNvSpPr/>
          <p:nvPr/>
        </p:nvSpPr>
        <p:spPr>
          <a:xfrm>
            <a:off x="6035040" y="14173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7" name="badge"/>
          <p:cNvSpPr/>
          <p:nvPr/>
        </p:nvSpPr>
        <p:spPr>
          <a:xfrm>
            <a:off x="6172200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722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1417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Модель: √ε смеси = φтв·√4,7 + θ·√80 + φвозд·√1</a:t>
            </a:r>
            <a:endParaRPr lang="en-US" sz="1500" dirty="0"/>
          </a:p>
        </p:txBody>
      </p:sp>
      <p:sp>
        <p:nvSpPr>
          <p:cNvPr id="10" name="step-1"/>
          <p:cNvSpPr/>
          <p:nvPr/>
        </p:nvSpPr>
        <p:spPr>
          <a:xfrm>
            <a:off x="6035040" y="2304288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6172200" y="24597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7220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2304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Уплотнение 1,35 → 1,52: твёрдого больше на 0,17 / 2,63 ≈ 0,065 — вместо воздуха</a:t>
            </a:r>
            <a:endParaRPr lang="en-US" sz="1500" dirty="0"/>
          </a:p>
        </p:txBody>
      </p:sp>
      <p:sp>
        <p:nvSpPr>
          <p:cNvPr id="14" name="step-2"/>
          <p:cNvSpPr/>
          <p:nvPr/>
        </p:nvSpPr>
        <p:spPr>
          <a:xfrm>
            <a:off x="6035040" y="3191256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5" name="badge"/>
          <p:cNvSpPr/>
          <p:nvPr/>
        </p:nvSpPr>
        <p:spPr>
          <a:xfrm>
            <a:off x="6172200" y="33467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1722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31912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Пробег растёт: 0,065 × (√4,7 − 1) = 0,065 × 1,17 ≈ 0,076</a:t>
            </a:r>
            <a:endParaRPr lang="en-US" sz="1500" dirty="0"/>
          </a:p>
        </p:txBody>
      </p:sp>
      <p:sp>
        <p:nvSpPr>
          <p:cNvPr id="18" name="step-3"/>
          <p:cNvSpPr/>
          <p:nvPr/>
        </p:nvSpPr>
        <p:spPr>
          <a:xfrm>
            <a:off x="6035040" y="4078224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9" name="badge"/>
          <p:cNvSpPr/>
          <p:nvPr/>
        </p:nvSpPr>
        <p:spPr>
          <a:xfrm>
            <a:off x="6172200" y="42336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17220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407822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Датчик читает это как воду вместо воздуха: 0,076 / (√80 − 1) = 0,076 / 7,94 ≈ 0,0095</a:t>
            </a:r>
            <a:endParaRPr lang="en-US" sz="1500" dirty="0"/>
          </a:p>
        </p:txBody>
      </p:sp>
      <p:sp>
        <p:nvSpPr>
          <p:cNvPr id="22" name="prediction"/>
          <p:cNvSpPr/>
          <p:nvPr/>
        </p:nvSpPr>
        <p:spPr>
          <a:xfrm>
            <a:off x="6035040" y="502920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263640" y="5029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Прогноз: ≈ +0,0095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(при ρs 2,60–2,67: +0,0094…+0,0096)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035040" y="58978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Скрыто: та же θ, та же проводимость, нет потерь в пути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набухание и пересчёт эталона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Сухая: 300 мм</a:t>
            </a:r>
            <a:endParaRPr lang="en-US" sz="1700" dirty="0"/>
          </a:p>
        </p:txBody>
      </p:sp>
      <p:sp>
        <p:nvSpPr>
          <p:cNvPr id="6" name="soil"/>
          <p:cNvSpPr/>
          <p:nvPr/>
        </p:nvSpPr>
        <p:spPr>
          <a:xfrm>
            <a:off x="1188720" y="2148840"/>
            <a:ext cx="2194560" cy="2926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column"/>
          <p:cNvSpPr/>
          <p:nvPr/>
        </p:nvSpPr>
        <p:spPr>
          <a:xfrm>
            <a:off x="1188720" y="2148840"/>
            <a:ext cx="2194560" cy="2926080"/>
          </a:xfrm>
          <a:prstGeom prst="rect">
            <a:avLst/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8" name="rod"/>
          <p:cNvSpPr/>
          <p:nvPr/>
        </p:nvSpPr>
        <p:spPr>
          <a:xfrm>
            <a:off x="182880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rod"/>
          <p:cNvSpPr/>
          <p:nvPr/>
        </p:nvSpPr>
        <p:spPr>
          <a:xfrm>
            <a:off x="274320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976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Влажная: ≈ 325 мм</a:t>
            </a:r>
            <a:endParaRPr lang="en-US" sz="1700" dirty="0"/>
          </a:p>
        </p:txBody>
      </p:sp>
      <p:sp>
        <p:nvSpPr>
          <p:cNvPr id="11" name="soil"/>
          <p:cNvSpPr/>
          <p:nvPr/>
        </p:nvSpPr>
        <p:spPr>
          <a:xfrm>
            <a:off x="4937760" y="2148840"/>
            <a:ext cx="2194560" cy="2926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column"/>
          <p:cNvSpPr/>
          <p:nvPr/>
        </p:nvSpPr>
        <p:spPr>
          <a:xfrm>
            <a:off x="4937760" y="2148840"/>
            <a:ext cx="2194560" cy="2926080"/>
          </a:xfrm>
          <a:prstGeom prst="rect">
            <a:avLst/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3" name="rod"/>
          <p:cNvSpPr/>
          <p:nvPr/>
        </p:nvSpPr>
        <p:spPr>
          <a:xfrm>
            <a:off x="557784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rod"/>
          <p:cNvSpPr/>
          <p:nvPr/>
        </p:nvSpPr>
        <p:spPr>
          <a:xfrm>
            <a:off x="649224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swollen-top"/>
          <p:cNvSpPr/>
          <p:nvPr/>
        </p:nvSpPr>
        <p:spPr>
          <a:xfrm>
            <a:off x="4937760" y="1901952"/>
            <a:ext cx="2194560" cy="24688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почва = длина штанг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почва выше штанг на ≈ 25 мм</a:t>
            </a:r>
            <a:endParaRPr lang="en-US" sz="1500" dirty="0"/>
          </a:p>
        </p:txBody>
      </p:sp>
      <p:sp>
        <p:nvSpPr>
          <p:cNvPr id="18" name="swell-0"/>
          <p:cNvSpPr/>
          <p:nvPr/>
        </p:nvSpPr>
        <p:spPr>
          <a:xfrm>
            <a:off x="8138160" y="137160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2104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≈ 25 мм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подъём поверхности</a:t>
            </a:r>
            <a:endParaRPr lang="en-US" sz="1500" dirty="0"/>
          </a:p>
        </p:txBody>
      </p:sp>
      <p:sp>
        <p:nvSpPr>
          <p:cNvPr id="21" name="swell-1"/>
          <p:cNvSpPr/>
          <p:nvPr/>
        </p:nvSpPr>
        <p:spPr>
          <a:xfrm>
            <a:off x="8138160" y="256032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210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8,3 %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объёмная деформация</a:t>
            </a:r>
            <a:endParaRPr lang="en-US" sz="1500" dirty="0"/>
          </a:p>
        </p:txBody>
      </p:sp>
      <p:sp>
        <p:nvSpPr>
          <p:cNvPr id="24" name="swell-2"/>
          <p:cNvSpPr/>
          <p:nvPr/>
        </p:nvSpPr>
        <p:spPr>
          <a:xfrm>
            <a:off x="8138160" y="374904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210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0,460 &gt; 0,415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θmax больше исходной пористости</a:t>
            </a:r>
            <a:endParaRPr lang="en-US" sz="1500" dirty="0"/>
          </a:p>
        </p:txBody>
      </p:sp>
      <p:sp>
        <p:nvSpPr>
          <p:cNvPr id="27" name="swell-note"/>
          <p:cNvSpPr/>
          <p:nvPr/>
        </p:nvSpPr>
        <p:spPr>
          <a:xfrm>
            <a:off x="548640" y="5596128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Делить воду на прежний объём — значит завысить эталон и занизить видимую ошибку датчика. Эталон считали по реальному объёму: дополнительной ошибки не нашли.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ловушка терминов «глина»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Размер частиц, мм (в масштабе)</a:t>
            </a:r>
            <a:endParaRPr lang="en-US" sz="1400" dirty="0"/>
          </a:p>
        </p:txBody>
      </p:sp>
      <p:sp>
        <p:nvSpPr>
          <p:cNvPr id="6" name="size-bar"/>
          <p:cNvSpPr/>
          <p:nvPr/>
        </p:nvSpPr>
        <p:spPr>
          <a:xfrm>
            <a:off x="548640" y="1828800"/>
            <a:ext cx="822960" cy="5486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глина по Качинскому &lt; 0,001</a:t>
            </a:r>
            <a:endParaRPr lang="en-US" sz="1700" dirty="0"/>
          </a:p>
        </p:txBody>
      </p:sp>
      <p:sp>
        <p:nvSpPr>
          <p:cNvPr id="8" name="size-bar"/>
          <p:cNvSpPr/>
          <p:nvPr/>
        </p:nvSpPr>
        <p:spPr>
          <a:xfrm>
            <a:off x="548640" y="2697480"/>
            <a:ext cx="164592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2697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«clay» по USDA и в паспорте &lt; 0,002</a:t>
            </a:r>
            <a:endParaRPr lang="en-US" sz="1700" dirty="0"/>
          </a:p>
        </p:txBody>
      </p:sp>
      <p:sp>
        <p:nvSpPr>
          <p:cNvPr id="10" name="size-bar"/>
          <p:cNvSpPr/>
          <p:nvPr/>
        </p:nvSpPr>
        <p:spPr>
          <a:xfrm>
            <a:off x="548640" y="3566160"/>
            <a:ext cx="8229600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физическая глина по Качинскому &lt; 0,01</a:t>
            </a:r>
            <a:endParaRPr lang="en-US" sz="1700" dirty="0"/>
          </a:p>
        </p:txBody>
      </p:sp>
      <p:sp>
        <p:nvSpPr>
          <p:cNvPr id="12" name="trap"/>
          <p:cNvSpPr/>
          <p:nvPr/>
        </p:nvSpPr>
        <p:spPr>
          <a:xfrm>
            <a:off x="548640" y="4480560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572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Ловушка перевода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30 % «clay» из паспорта и 30 % физической глины — разные почвы. «Лёгкая глина» по Качинскому ≠ «clay» по USDA.</a:t>
            </a:r>
            <a:endParaRPr lang="en-US" sz="1700" dirty="0"/>
          </a:p>
        </p:txBody>
      </p:sp>
      <p:sp>
        <p:nvSpPr>
          <p:cNvPr id="14" name="consequence"/>
          <p:cNvSpPr/>
          <p:nvPr/>
        </p:nvSpPr>
        <p:spPr>
          <a:xfrm>
            <a:off x="6217920" y="4480560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46520" y="4572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Что из этого следует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В группе A физической глины ≤ 20 %, значит, и USDA-глины ≤ 20 %: условие паспорта выполнено. Для B и C проверить нельзя.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статистика ошибки по вариантам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19" name="table-I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005840"/>
                <a:gridCol w="1005840"/>
                <a:gridCol w="1828800"/>
                <a:gridCol w="22860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ECe,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Δθ min / max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95 % ДИ для MB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 (MB = 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J_nl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+0,013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−0,0003…+0,0083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−0,0023…+0,0063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−0,003 / +0,019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+0,0006…+0,0134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−0,118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+0,0009…+0,0111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−0,001 / +0,027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+0,0026…+0,0174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−0,306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+0,022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+0,0013…+0,0147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м³/м³; MB и RMSE — по средним трёх колонок, n = 10 уровней влажности. ДИ и p описательные (уровни — состояния одних колонок). J_nl &lt; 0 — правосторонняя асимметрия: крупные положительные ошибки во влажной части. Код варианта: группа, плотность (1 — 1,35; 2 — 1,52 г/см³), n — незасолённая.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дисперсионный анализ ошибки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20" name="table-I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822960"/>
                <a:gridCol w="1737360"/>
                <a:gridCol w="109728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Источник изменчивости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SS, (м³/м³)²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MS, (м³/м³)²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η²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Почва (T)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3,63·10⁻⁴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1,82·10⁻⁴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2,74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0,091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Плотность (ρb)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Взаимодействие T × ρb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3,3·10⁻⁶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1,7·10⁻⁶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0,98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Внутри вариантов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3,58·10⁻³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6,63·10⁻⁵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0,898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Всего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3,99·10⁻³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 = 60 значений (6 вариантов × 10 уровней, средние трёх колонок); SS восстановлены по MB и RMSE вариантов. Внутривариантный член включает рост ошибки с влажностью. 20 000 симуляций округления: p для почвы 0,04–0,12, η² 0,07–0,11. Эффект плотности −0,0017, 95 % ДИ −0,006…+0,003.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свойства почв в вариантах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graphicFrame>
        <p:nvGraphicFramePr>
          <p:cNvPr id="21" name="table-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463040"/>
                <a:gridCol w="1371600"/>
                <a:gridCol w="15544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Группа (физ. глина, %)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ρs, г/см³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MH, 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ρb, г/см³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σ1:5,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ECe,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2,1 ± 0,2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0,044 ± 0,003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2,3 ± 0,2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0,036 ± 0,002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6,5 ± 0,3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6,8 ± 0,4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0,058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11,4 ± 0,6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0,078 ± 0,005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 ± 0,04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11,1 ± 0,6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0,062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 = 3, среднее ± SD. Все ECe ниже 1 дСм/м и в 6,6–14 раз ниже порога засоления 4 дСм/м. В плотных вариантах ECe ниже на 0,07–0,12 дСм/м. Почва C2-n набухала при θ &gt; 0,40.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ограничения исследования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 — для вопросов</a:t>
            </a:r>
            <a:endParaRPr lang="en-US" sz="1100" dirty="0"/>
          </a:p>
        </p:txBody>
      </p:sp>
      <p:sp>
        <p:nvSpPr>
          <p:cNvPr id="5" name="limits-0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1. Минеральные почвы, Cорг &lt; 3 %, 20,0 ± 0,5 °C; к органогенным горизонтам выводы не относятся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2. Испытана только ветвь иссушения; при увлажнении показания могут отличаться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3. В поле нужна температурная поправка: 10 °C меняют показания на 0,02–0,08 при θ 0,2–0,4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4. До стенки колонки 59–73 мм (рекомендуется ≥ 100), штанги до дна; микрокерны в 35 мм от оси — эффекты не измерены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5. Объёмная электропроводность не измерялась; глину &lt; 0,002 мм для групп B и C оценить нельзя</a:t>
            </a:r>
            <a:endParaRPr lang="en-US" sz="1600" dirty="0"/>
          </a:p>
        </p:txBody>
      </p:sp>
      <p:sp>
        <p:nvSpPr>
          <p:cNvPr id="7" name="limits-1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6. RMSE по средним трёх колонок — без разброса между датчиками (±0,005…±0,015)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7. Дисперсионный анализ и регрессии — по сводным статистикам вариантов; нужна смешанная модель по 180 значениям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8. Систематическая часть неопределённости эталона (U = 0,005) не входит в ДИ и 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9. Засолённые варианты (ECe 1–4 дСм/м) рассмотрены в отдельной статье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10. Одна почва на группу; минералогия глин не определялась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616 Chernozem">
  <a:themeElements>
    <a:clrScheme name="CS616 Chernozem">
      <a:dk1>
        <a:srgbClr val="2A1E16"/>
      </a:dk1>
      <a:lt1>
        <a:srgbClr val="FFFFFF"/>
      </a:lt1>
      <a:dk2>
        <a:srgbClr val="5B4636"/>
      </a:dk2>
      <a:lt2>
        <a:srgbClr val="F1F3F2"/>
      </a:lt2>
      <a:accent1>
        <a:srgbClr val="1C7C8C"/>
      </a:accent1>
      <a:accent2>
        <a:srgbClr val="D9A441"/>
      </a:accent2>
      <a:accent3>
        <a:srgbClr val="B8552F"/>
      </a:accent3>
      <a:accent4>
        <a:srgbClr val="8C6A4F"/>
      </a:accent4>
      <a:accent5>
        <a:srgbClr val="6E7F80"/>
      </a:accent5>
      <a:accent6>
        <a:srgbClr val="4E8A5B"/>
      </a:accent6>
      <a:hlink>
        <a:srgbClr val="1C7C8C"/>
      </a:hlink>
      <a:folHlink>
        <a:srgbClr val="8C6A4F"/>
      </a:folHlink>
    </a:clrScheme>
    <a:fontScheme name="CS616 Chernoz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Кубанский ГАУ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Когда датчик влажности «льстит» почве: CS616 в незасолённых почвах (10 минут)</dc:title>
  <dc:subject>PptxGenJS Presentation</dc:subject>
  <dc:creator>Вербицкий А. Ю., Приходько И. А., Болдырева Л. М., Кесафоти Х. Е.</dc:creator>
  <cp:lastModifiedBy>Вербицкий А. Ю., Приходько И. А., Болдырева Л. М., Кесафоти Х. Е.</cp:lastModifiedBy>
  <cp:revision>1</cp:revision>
  <dcterms:created xsi:type="dcterms:W3CDTF">2026-10-08T05:36:42Z</dcterms:created>
  <dcterms:modified xsi:type="dcterms:W3CDTF">2026-10-08T05:36:42Z</dcterms:modified>
</cp:coreProperties>
</file>
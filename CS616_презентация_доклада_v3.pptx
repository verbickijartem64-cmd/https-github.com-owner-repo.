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чем" id="{7f0a12b6-f24a-6489-27fd-793a65216a3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Как проверяли" id="{1f9e148a-b104-0a97-25fd-ef91a4dab65e}">
          <p14:sldIdLst>
            <p14:sldId id="265"/>
            <p14:sldId id="266"/>
            <p14:sldId id="267"/>
          </p14:sldIdLst>
        </p14:section>
        <p14:section name="Что нашли" id="{9e7affbf-fcbc-f96e-b3b7-de3f856cb5ad}">
          <p14:sldIdLst>
            <p14:sldId id="268"/>
            <p14:sldId id="269"/>
          </p14:sldIdLst>
        </p14:section>
        <p14:section name="Как доказали" id="{59d084fa-8dd1-ef9c-b1be-8134a218fc54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Что делать" id="{a29ce283-7a03-baa2-f540-1b9a387f6f48}">
          <p14:sldIdLst>
            <p14:sldId id="276"/>
            <p14:sldId id="277"/>
            <p14:sldId id="278"/>
            <p14:sldId id="279"/>
            <p14:sldId id="280"/>
          </p14:sldIdLst>
        </p14:section>
        <p14:section name="Запасные слайды" id="{84272640-0688-7670-84ce-48e1bbbe21fd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Во сколько раз волна медленнее, чем в воздухе (√ε)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√ε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Воздух</c:v>
                  </c:pt>
                  <c:pt idx="1">
                    <c:v>Минералы</c:v>
                  </c:pt>
                  <c:pt idx="2">
                    <c:v>Вода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2.17</c:v>
                </c:pt>
                <c:pt idx="2">
                  <c:v>8.94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Схема: прибор срабатывает, когда сигнал пересекает порог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сильный сигнал (почва-изолятор)</c:v>
                </c:pt>
              </c:strCache>
            </c:strRef>
          </c:tx>
          <c:spPr>
            <a:solidFill>
              <a:srgbClr val="1C7C8C"/>
            </a:solidFill>
            <a:ln w="3810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0.33</c:v>
                </c:pt>
                <c:pt idx="2">
                  <c:v>0.551</c:v>
                </c:pt>
                <c:pt idx="3">
                  <c:v>0.699</c:v>
                </c:pt>
                <c:pt idx="4">
                  <c:v>0.798</c:v>
                </c:pt>
                <c:pt idx="5">
                  <c:v>0.865</c:v>
                </c:pt>
                <c:pt idx="6">
                  <c:v>0.909</c:v>
                </c:pt>
                <c:pt idx="7">
                  <c:v>0.939</c:v>
                </c:pt>
                <c:pt idx="8">
                  <c:v>0.959</c:v>
                </c:pt>
                <c:pt idx="9">
                  <c:v>0.973</c:v>
                </c:pt>
                <c:pt idx="10">
                  <c:v>0.982</c:v>
                </c:pt>
                <c:pt idx="11">
                  <c:v>0.988</c:v>
                </c:pt>
                <c:pt idx="12">
                  <c:v>0.992</c:v>
                </c:pt>
                <c:pt idx="13">
                  <c:v>0.994</c:v>
                </c:pt>
                <c:pt idx="14">
                  <c:v>0.996</c:v>
                </c:pt>
                <c:pt idx="15">
                  <c:v>0.998</c:v>
                </c:pt>
                <c:pt idx="16">
                  <c:v>0.998</c:v>
                </c:pt>
                <c:pt idx="17">
                  <c:v>0.999</c:v>
                </c:pt>
                <c:pt idx="18">
                  <c:v>0.999</c:v>
                </c:pt>
                <c:pt idx="19">
                  <c:v>0.999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ослабленный сигнал (проводящая почва)</c:v>
                </c:pt>
              </c:strCache>
            </c:strRef>
          </c:tx>
          <c:spPr>
            <a:solidFill>
              <a:srgbClr val="B8552F"/>
            </a:solidFill>
            <a:ln w="3810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0.133</c:v>
                </c:pt>
                <c:pt idx="2">
                  <c:v>0.236</c:v>
                </c:pt>
                <c:pt idx="3">
                  <c:v>0.317</c:v>
                </c:pt>
                <c:pt idx="4">
                  <c:v>0.379</c:v>
                </c:pt>
                <c:pt idx="5">
                  <c:v>0.428</c:v>
                </c:pt>
                <c:pt idx="6">
                  <c:v>0.466</c:v>
                </c:pt>
                <c:pt idx="7">
                  <c:v>0.496</c:v>
                </c:pt>
                <c:pt idx="8">
                  <c:v>0.519</c:v>
                </c:pt>
                <c:pt idx="9">
                  <c:v>0.537</c:v>
                </c:pt>
                <c:pt idx="10">
                  <c:v>0.551</c:v>
                </c:pt>
                <c:pt idx="11">
                  <c:v>0.562</c:v>
                </c:pt>
                <c:pt idx="12">
                  <c:v>0.57</c:v>
                </c:pt>
                <c:pt idx="13">
                  <c:v>0.577</c:v>
                </c:pt>
                <c:pt idx="14">
                  <c:v>0.582</c:v>
                </c:pt>
                <c:pt idx="15">
                  <c:v>0.586</c:v>
                </c:pt>
                <c:pt idx="16">
                  <c:v>0.589</c:v>
                </c:pt>
                <c:pt idx="17">
                  <c:v>0.591</c:v>
                </c:pt>
                <c:pt idx="18">
                  <c:v>0.593</c:v>
                </c:pt>
                <c:pt idx="19">
                  <c:v>0.595</c:v>
                </c:pt>
                <c:pt idx="20">
                  <c:v>0.596</c:v>
                </c:pt>
                <c:pt idx="21">
                  <c:v>0.597</c:v>
                </c:pt>
                <c:pt idx="22">
                  <c:v>0.598</c:v>
                </c:pt>
                <c:pt idx="23">
                  <c:v>0.598</c:v>
                </c:pt>
                <c:pt idx="24">
                  <c:v>0.599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порог срабатывания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0.45</c:v>
                </c:pt>
                <c:pt idx="1">
                  <c:v>0.45</c:v>
                </c:pt>
                <c:pt idx="2">
                  <c:v>0.45</c:v>
                </c:pt>
                <c:pt idx="3">
                  <c:v>0.45</c:v>
                </c:pt>
                <c:pt idx="4">
                  <c:v>0.45</c:v>
                </c:pt>
                <c:pt idx="5">
                  <c:v>0.45</c:v>
                </c:pt>
                <c:pt idx="6">
                  <c:v>0.45</c:v>
                </c:pt>
                <c:pt idx="7">
                  <c:v>0.45</c:v>
                </c:pt>
                <c:pt idx="8">
                  <c:v>0.45</c:v>
                </c:pt>
                <c:pt idx="9">
                  <c:v>0.45</c:v>
                </c:pt>
                <c:pt idx="10">
                  <c:v>0.45</c:v>
                </c:pt>
                <c:pt idx="11">
                  <c:v>0.45</c:v>
                </c:pt>
                <c:pt idx="12">
                  <c:v>0.45</c:v>
                </c:pt>
                <c:pt idx="13">
                  <c:v>0.45</c:v>
                </c:pt>
                <c:pt idx="14">
                  <c:v>0.45</c:v>
                </c:pt>
                <c:pt idx="15">
                  <c:v>0.45</c:v>
                </c:pt>
                <c:pt idx="16">
                  <c:v>0.45</c:v>
                </c:pt>
                <c:pt idx="17">
                  <c:v>0.45</c:v>
                </c:pt>
                <c:pt idx="18">
                  <c:v>0.45</c:v>
                </c:pt>
                <c:pt idx="19">
                  <c:v>0.45</c:v>
                </c:pt>
                <c:pt idx="20">
                  <c:v>0.45</c:v>
                </c:pt>
                <c:pt idx="21">
                  <c:v>0.45</c:v>
                </c:pt>
                <c:pt idx="22">
                  <c:v>0.45</c:v>
                </c:pt>
                <c:pt idx="23">
                  <c:v>0.45</c:v>
                </c:pt>
                <c:pt idx="24">
                  <c:v>0.45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 (средний сдвиг)</c:v>
                </c:pt>
              </c:strCache>
            </c:strRef>
          </c:tx>
          <c:spPr>
            <a:solidFill>
              <a:srgbClr val="8C6A4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A1</c:v>
                  </c:pt>
                  <c:pt idx="1">
                    <c:v>A2</c:v>
                  </c:pt>
                  <c:pt idx="2">
                    <c:v>B1</c:v>
                  </c:pt>
                  <c:pt idx="3">
                    <c:v>B2</c:v>
                  </c:pt>
                  <c:pt idx="4">
                    <c:v>C1</c:v>
                  </c:pt>
                  <c:pt idx="5">
                    <c:v>C2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0.004</c:v>
                </c:pt>
                <c:pt idx="1">
                  <c:v>0.002</c:v>
                </c:pt>
                <c:pt idx="2">
                  <c:v>0.007</c:v>
                </c:pt>
                <c:pt idx="3">
                  <c:v>0.006</c:v>
                </c:pt>
                <c:pt idx="4">
                  <c:v>0.01</c:v>
                </c:pt>
                <c:pt idx="5">
                  <c:v>0.008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(типичный промах)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A1</c:v>
                  </c:pt>
                  <c:pt idx="1">
                    <c:v>A2</c:v>
                  </c:pt>
                  <c:pt idx="2">
                    <c:v>B1</c:v>
                  </c:pt>
                  <c:pt idx="3">
                    <c:v>B2</c:v>
                  </c:pt>
                  <c:pt idx="4">
                    <c:v>C1</c:v>
                  </c:pt>
                  <c:pt idx="5">
                    <c:v>C2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0.007</c:v>
                </c:pt>
                <c:pt idx="1">
                  <c:v>0.006</c:v>
                </c:pt>
                <c:pt idx="2">
                  <c:v>0.011</c:v>
                </c:pt>
                <c:pt idx="3">
                  <c:v>0.009</c:v>
                </c:pt>
                <c:pt idx="4">
                  <c:v>0.014</c:v>
                </c:pt>
                <c:pt idx="5">
                  <c:v>0.012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A1E16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Критерий 0,02</c:v>
                </c:pt>
              </c:strCache>
            </c:strRef>
          </c:tx>
          <c:spPr>
            <a:solidFill>
              <a:srgbClr val="B8552F"/>
            </a:solidFill>
            <a:ln w="25400" cap="flat">
              <a:solidFill>
                <a:srgbClr val="B8552F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A1</c:v>
                  </c:pt>
                  <c:pt idx="1">
                    <c:v>A2</c:v>
                  </c:pt>
                  <c:pt idx="2">
                    <c:v>B1</c:v>
                  </c:pt>
                  <c:pt idx="3">
                    <c:v>B2</c:v>
                  </c:pt>
                  <c:pt idx="4">
                    <c:v>C1</c:v>
                  </c:pt>
                  <c:pt idx="5">
                    <c:v>C2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вариант: почва (A, B, C) и плотность (1 — 1,35; 2 — 1,52 г/см³)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5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м³/м³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(10–20 % физ. глины)</c:v>
                </c:pt>
              </c:strCache>
            </c:strRef>
          </c:tx>
          <c:spPr>
            <a:solidFill>
              <a:srgbClr val="1C7C8C"/>
            </a:solidFill>
            <a:ln w="28575" cap="flat">
              <a:solidFill>
                <a:srgbClr val="1C7C8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0.001</c:v>
                </c:pt>
                <c:pt idx="2">
                  <c:v>0.003</c:v>
                </c:pt>
                <c:pt idx="3">
                  <c:v>0.005</c:v>
                </c:pt>
                <c:pt idx="4">
                  <c:v>0.01</c:v>
                </c:pt>
                <c:pt idx="5">
                  <c:v>0.011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(40–50 %)</c:v>
                </c:pt>
              </c:strCache>
            </c:strRef>
          </c:tx>
          <c:spPr>
            <a:solidFill>
              <a:srgbClr val="8C6A4F"/>
            </a:solidFill>
            <a:ln w="28575" cap="flat">
              <a:solidFill>
                <a:srgbClr val="8C6A4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C6A4F"/>
              </a:solidFill>
              <a:ln w="9525" cap="flat">
                <a:solidFill>
                  <a:srgbClr val="8C6A4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0.005</c:v>
                </c:pt>
                <c:pt idx="3">
                  <c:v>0.009</c:v>
                </c:pt>
                <c:pt idx="4">
                  <c:v>0.017</c:v>
                </c:pt>
                <c:pt idx="5">
                  <c:v>0.019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(50–65 %)</c:v>
                </c:pt>
              </c:strCache>
            </c:strRef>
          </c:tx>
          <c:spPr>
            <a:solidFill>
              <a:srgbClr val="B8552F"/>
            </a:solidFill>
            <a:ln w="28575" cap="flat">
              <a:solidFill>
                <a:srgbClr val="B8552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C: состояния вне анализа</c:v>
                </c:pt>
              </c:strCache>
            </c:strRef>
          </c:tx>
          <c:spPr>
            <a:solidFill>
              <a:srgbClr val="E3A98F"/>
            </a:solidFill>
            <a:ln w="28575" cap="flat">
              <a:solidFill>
                <a:srgbClr val="E3A98F"/>
              </a:solidFill>
              <a:prstDash val="sysDash"/>
              <a:round/>
            </a:ln>
            <a:effectLst/>
          </c:spPr>
          <c:marker>
            <c:symbol val="circle"/>
            <c:size val="8"/>
            <c:spPr>
              <a:solidFill>
                <a:srgbClr val="E3A98F"/>
              </a:solidFill>
              <a:ln w="9525" cap="flat">
                <a:solidFill>
                  <a:srgbClr val="E3A98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Sheet1!$E$2:$E$9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0.027</c:v>
                </c:pt>
                <c:pt idx="6">
                  <c:v>0.031</c:v>
                </c:pt>
                <c:pt idx="7">
                  <c:v>0.038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Паспортный предел 0,025</c:v>
                </c:pt>
              </c:strCache>
            </c:strRef>
          </c:tx>
          <c:spPr>
            <a:solidFill>
              <a:srgbClr val="6E7F80"/>
            </a:solidFill>
            <a:ln w="28575" cap="flat">
              <a:solidFill>
                <a:srgbClr val="6E7F8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  <c:pt idx="6">
                  <c:v>0.44</c:v>
                </c:pt>
                <c:pt idx="7">
                  <c:v>0.48</c:v>
                </c:pt>
              </c:numCache>
            </c:numRef>
          </c:xVal>
          <c:yVal>
            <c:numRef>
              <c:f>Sheet1!$F$2:$F$9</c:f>
              <c:numCache>
                <c:formatCode>General</c:formatCode>
                <c:ptCount val="8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  <c:pt idx="3">
                  <c:v>0.025</c:v>
                </c:pt>
                <c:pt idx="4">
                  <c:v>0.025</c:v>
                </c:pt>
                <c:pt idx="5">
                  <c:v>0.025</c:v>
                </c:pt>
                <c:pt idx="6">
                  <c:v>0.025</c:v>
                </c:pt>
                <c:pt idx="7">
                  <c:v>0.025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влажность по эталону θ, м³/м³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0.04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ошибка Δθ, м³/м³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Все уровни влажности в одной куче: облака перекрываются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c1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0.001</c:v>
                </c:pt>
                <c:pt idx="2">
                  <c:v>0.001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</c:v>
                </c:pt>
                <c:pt idx="1">
                  <c:v>0.002</c:v>
                </c:pt>
                <c:pt idx="2">
                  <c:v>0.002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c3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0.003</c:v>
                </c:pt>
                <c:pt idx="1">
                  <c:v>0.005</c:v>
                </c:pt>
                <c:pt idx="2">
                  <c:v>0.006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c4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0.005</c:v>
                </c:pt>
                <c:pt idx="1">
                  <c:v>0.009</c:v>
                </c:pt>
                <c:pt idx="2">
                  <c:v>0.012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c5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0.01</c:v>
                </c:pt>
                <c:pt idx="1">
                  <c:v>0.017</c:v>
                </c:pt>
                <c:pt idx="2">
                  <c:v>0.022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c6</c:v>
                </c:pt>
              </c:strCache>
            </c:strRef>
          </c:tx>
          <c:spPr>
            <a:solidFill>
              <a:srgbClr val="9AA6A4"/>
            </a:solidFill>
            <a:ln w="28575"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9AA6A4"/>
              </a:solidFill>
              <a:ln w="9525" cap="flat">
                <a:solidFill>
                  <a:srgbClr val="9AA6A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0.011</c:v>
                </c:pt>
                <c:pt idx="1">
                  <c:v>0.019</c:v>
                </c:pt>
                <c:pt idx="2">
                  <c:v>0.027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среднее по группе</c:v>
                </c:pt>
              </c:strCache>
            </c:strRef>
          </c:tx>
          <c:spPr>
            <a:solidFill>
              <a:srgbClr val="2A1E16"/>
            </a:solidFill>
            <a:ln w="38100" cap="flat">
              <a:solidFill>
                <a:srgbClr val="2A1E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2A1E16"/>
              </a:solidFill>
              <a:ln w="9525" cap="flat">
                <a:solidFill>
                  <a:srgbClr val="2A1E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0.005</c:v>
                </c:pt>
                <c:pt idx="1">
                  <c:v>0.0088</c:v>
                </c:pt>
                <c:pt idx="2">
                  <c:v>0.0117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ошибка Δθ, м³/м³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изменчивости ошибки (все 60 значений)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Почва 9,1 %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Плотность 1,0 %</c:v>
                </c:pt>
              </c:strCache>
            </c:strRef>
          </c:tx>
          <c:spPr>
            <a:solidFill>
              <a:srgbClr val="8C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Взаимодействие 0,1 %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Внутри вариантов 89,8 %</c:v>
                </c:pt>
              </c:strCache>
            </c:strRef>
          </c:tx>
          <c:spPr>
            <a:solidFill>
              <a:srgbClr val="C9D1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/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89.8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Те же точки, соединённые по уровню влажности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 = 0,05</c:v>
                </c:pt>
              </c:strCache>
            </c:strRef>
          </c:tx>
          <c:spPr>
            <a:solidFill>
              <a:srgbClr val="9FD0D6"/>
            </a:solidFill>
            <a:ln w="38100" cap="flat">
              <a:solidFill>
                <a:srgbClr val="9FD0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9FD0D6"/>
              </a:solidFill>
              <a:ln w="9525" cap="flat">
                <a:solidFill>
                  <a:srgbClr val="9FD0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0.001</c:v>
                </c:pt>
                <c:pt idx="2">
                  <c:v>0.001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θ = 0,10</c:v>
                </c:pt>
              </c:strCache>
            </c:strRef>
          </c:tx>
          <c:spPr>
            <a:solidFill>
              <a:srgbClr val="72BAC3"/>
            </a:solidFill>
            <a:ln w="38100" cap="flat">
              <a:solidFill>
                <a:srgbClr val="72BAC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72BAC3"/>
              </a:solidFill>
              <a:ln w="9525" cap="flat">
                <a:solidFill>
                  <a:srgbClr val="72BAC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0.001</c:v>
                </c:pt>
                <c:pt idx="1">
                  <c:v>0.002</c:v>
                </c:pt>
                <c:pt idx="2">
                  <c:v>0.002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θ = 0,20</c:v>
                </c:pt>
              </c:strCache>
            </c:strRef>
          </c:tx>
          <c:spPr>
            <a:solidFill>
              <a:srgbClr val="4CA3AF"/>
            </a:solidFill>
            <a:ln w="38100" cap="flat">
              <a:solidFill>
                <a:srgbClr val="4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4CA3AF"/>
              </a:solidFill>
              <a:ln w="9525" cap="flat">
                <a:solidFill>
                  <a:srgbClr val="4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0.003</c:v>
                </c:pt>
                <c:pt idx="1">
                  <c:v>0.005</c:v>
                </c:pt>
                <c:pt idx="2">
                  <c:v>0.006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θ = 0,30</c:v>
                </c:pt>
              </c:strCache>
            </c:strRef>
          </c:tx>
          <c:spPr>
            <a:solidFill>
              <a:srgbClr val="2C8C9A"/>
            </a:solidFill>
            <a:ln w="38100" cap="flat">
              <a:solidFill>
                <a:srgbClr val="2C8C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C8C9A"/>
              </a:solidFill>
              <a:ln w="9525" cap="flat">
                <a:solidFill>
                  <a:srgbClr val="2C8C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0.005</c:v>
                </c:pt>
                <c:pt idx="1">
                  <c:v>0.009</c:v>
                </c:pt>
                <c:pt idx="2">
                  <c:v>0.012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θ = 0,38</c:v>
                </c:pt>
              </c:strCache>
            </c:strRef>
          </c:tx>
          <c:spPr>
            <a:solidFill>
              <a:srgbClr val="1C7484"/>
            </a:solidFill>
            <a:ln w="38100" cap="flat">
              <a:solidFill>
                <a:srgbClr val="1C74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C7484"/>
              </a:solidFill>
              <a:ln w="9525" cap="flat">
                <a:solidFill>
                  <a:srgbClr val="1C74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0.01</c:v>
                </c:pt>
                <c:pt idx="1">
                  <c:v>0.017</c:v>
                </c:pt>
                <c:pt idx="2">
                  <c:v>0.022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θ = 0,40</c:v>
                </c:pt>
              </c:strCache>
            </c:strRef>
          </c:tx>
          <c:spPr>
            <a:solidFill>
              <a:srgbClr val="0E4F5A"/>
            </a:solidFill>
            <a:ln w="38100" cap="flat">
              <a:solidFill>
                <a:srgbClr val="0E4F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E4F5A"/>
              </a:solidFill>
              <a:ln w="9525" cap="flat">
                <a:solidFill>
                  <a:srgbClr val="0E4F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0.011</c:v>
                </c:pt>
                <c:pt idx="1">
                  <c:v>0.019</c:v>
                </c:pt>
                <c:pt idx="2">
                  <c:v>0.027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ошибка Δθ, м³/м³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Подозреваемый 1 — поверхность глин (MH): R² = 0,88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шесть вариантов</c:v>
                </c:pt>
              </c:strCache>
            </c:strRef>
          </c:tx>
          <c:spPr>
            <a:solidFill>
              <a:srgbClr val="B8552F"/>
            </a:solidFill>
            <a:ln w="28575">
              <a:noFill/>
            </a:ln>
            <a:effectLst/>
          </c:spPr>
          <c:marker>
            <c:symbol val="circle"/>
            <c:size val="11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2.1</c:v>
                </c:pt>
                <c:pt idx="1">
                  <c:v>2.3</c:v>
                </c:pt>
                <c:pt idx="2">
                  <c:v>6.5</c:v>
                </c:pt>
                <c:pt idx="3">
                  <c:v>6.8</c:v>
                </c:pt>
                <c:pt idx="4">
                  <c:v>11.4</c:v>
                </c:pt>
                <c:pt idx="5">
                  <c:v>11.1</c:v>
                </c:pt>
                <c:pt idx="6">
                  <c:v>0</c:v>
                </c:pt>
                <c:pt idx="7">
                  <c:v>12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0.004</c:v>
                </c:pt>
                <c:pt idx="1">
                  <c:v>0.002</c:v>
                </c:pt>
                <c:pt idx="2">
                  <c:v>0.007</c:v>
                </c:pt>
                <c:pt idx="3">
                  <c:v>0.006</c:v>
                </c:pt>
                <c:pt idx="4">
                  <c:v>0.01</c:v>
                </c:pt>
                <c:pt idx="5">
                  <c:v>0.008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аппроксимация</c:v>
                </c:pt>
              </c:strCache>
            </c:strRef>
          </c:tx>
          <c:spPr>
            <a:solidFill>
              <a:srgbClr val="1C7C8C"/>
            </a:solidFill>
            <a:ln w="25400" cap="flat">
              <a:solidFill>
                <a:srgbClr val="1C7C8C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2.1</c:v>
                </c:pt>
                <c:pt idx="1">
                  <c:v>2.3</c:v>
                </c:pt>
                <c:pt idx="2">
                  <c:v>6.5</c:v>
                </c:pt>
                <c:pt idx="3">
                  <c:v>6.8</c:v>
                </c:pt>
                <c:pt idx="4">
                  <c:v>11.4</c:v>
                </c:pt>
                <c:pt idx="5">
                  <c:v>11.1</c:v>
                </c:pt>
                <c:pt idx="6">
                  <c:v>0</c:v>
                </c:pt>
                <c:pt idx="7">
                  <c:v>12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0.0017</c:v>
                </c:pt>
                <c:pt idx="7">
                  <c:v>0.00962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MH, %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ax val="0.012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MB, м³/м³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0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Подозреваемый 2 — соли (ECe): R² = 0,96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шесть вариантов</c:v>
                </c:pt>
              </c:strCache>
            </c:strRef>
          </c:tx>
          <c:spPr>
            <a:solidFill>
              <a:srgbClr val="B8552F"/>
            </a:solidFill>
            <a:ln w="28575">
              <a:noFill/>
            </a:ln>
            <a:effectLst/>
          </c:spPr>
          <c:marker>
            <c:symbol val="circle"/>
            <c:size val="11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0.35</c:v>
                </c:pt>
                <c:pt idx="1">
                  <c:v>0.28</c:v>
                </c:pt>
                <c:pt idx="2">
                  <c:v>0.52</c:v>
                </c:pt>
                <c:pt idx="3">
                  <c:v>0.45</c:v>
                </c:pt>
                <c:pt idx="4">
                  <c:v>0.61</c:v>
                </c:pt>
                <c:pt idx="5">
                  <c:v>0.49</c:v>
                </c:pt>
                <c:pt idx="6">
                  <c:v>0.25</c:v>
                </c:pt>
                <c:pt idx="7">
                  <c:v>0.65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0.004</c:v>
                </c:pt>
                <c:pt idx="1">
                  <c:v>0.002</c:v>
                </c:pt>
                <c:pt idx="2">
                  <c:v>0.007</c:v>
                </c:pt>
                <c:pt idx="3">
                  <c:v>0.006</c:v>
                </c:pt>
                <c:pt idx="4">
                  <c:v>0.01</c:v>
                </c:pt>
                <c:pt idx="5">
                  <c:v>0.008</c:v>
                </c:pt>
                <c:pt idx="6">
                  <c:v/>
                </c:pt>
                <c:pt idx="7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аппроксимация</c:v>
                </c:pt>
              </c:strCache>
            </c:strRef>
          </c:tx>
          <c:spPr>
            <a:solidFill>
              <a:srgbClr val="1C7C8C"/>
            </a:solidFill>
            <a:ln w="25400" cap="flat">
              <a:solidFill>
                <a:srgbClr val="1C7C8C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0.35</c:v>
                </c:pt>
                <c:pt idx="1">
                  <c:v>0.28</c:v>
                </c:pt>
                <c:pt idx="2">
                  <c:v>0.52</c:v>
                </c:pt>
                <c:pt idx="3">
                  <c:v>0.45</c:v>
                </c:pt>
                <c:pt idx="4">
                  <c:v>0.61</c:v>
                </c:pt>
                <c:pt idx="5">
                  <c:v>0.49</c:v>
                </c:pt>
                <c:pt idx="6">
                  <c:v>0.25</c:v>
                </c:pt>
                <c:pt idx="7">
                  <c:v>0.65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0.0014749999999999997</c:v>
                </c:pt>
                <c:pt idx="7">
                  <c:v>0.010875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7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ECe, дСм/м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0.1"/>
      </c:valAx>
      <c:valAx>
        <c:axId val="2094734552"/>
        <c:scaling>
          <c:orientation val="minMax"/>
          <c:max val="0.012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MB, м³/м³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0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Доли объёма при θ = 0,25 (ρs = 2,63 г/см³)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Твёрдая фаза</c:v>
                </c:pt>
              </c:strCache>
            </c:strRef>
          </c:tx>
          <c:spPr>
            <a:solidFill>
              <a:srgbClr val="B9C3C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0.513</c:v>
                </c:pt>
                <c:pt idx="1">
                  <c:v>0.578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Вода (θ = 0,25)</c:v>
                </c:pt>
              </c:strCache>
            </c:strRef>
          </c:tx>
          <c:spPr>
            <a:solidFill>
              <a:srgbClr val="8FC5C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0.25</c:v>
                </c:pt>
                <c:pt idx="1">
                  <c:v>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Воздух</c:v>
                </c:pt>
              </c:strCache>
            </c:strRef>
          </c:tx>
          <c:spPr>
            <a:solidFill>
              <a:srgbClr val="EEF1F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1,35 г/см³</c:v>
                  </c:pt>
                  <c:pt idx="1">
                    <c:v>1,52 г/см³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0.237</c:v>
                </c:pt>
                <c:pt idx="1">
                  <c:v>0.172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 CRIM</c:v>
                </c:pt>
              </c:strCache>
            </c:strRef>
          </c:tx>
          <c:spPr>
            <a:solidFill>
              <a:srgbClr val="6E7F80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9.5</c:v>
                </c:pt>
                <c:pt idx="1">
                  <c:v>9.5</c:v>
                </c:pt>
                <c:pt idx="2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Наблюдалось</c:v>
                </c:pt>
              </c:strCache>
            </c:strRef>
          </c:tx>
          <c:spPr>
            <a:solidFill>
              <a:srgbClr val="B8552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1E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</c:v>
                </c:pt>
                <c:pt idx="1">
                  <c:v>-1</c:v>
                </c:pt>
                <c:pt idx="2">
                  <c:v>-2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400" u="none">
                  <a:solidFill>
                    <a:srgbClr val="2A1E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почва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4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сдвиг при 1,52 против 1,35 г/см³, ×10⁻³ м³/м³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1E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1E16"/>
                </a:solidFill>
                <a:latin typeface="+mn-lt"/>
              </a:rPr>
              <a:t>Постоянная поправка +0,010 в почве C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Ошибка в почве C</c:v>
                </c:pt>
              </c:strCache>
            </c:strRef>
          </c:tx>
          <c:spPr>
            <a:solidFill>
              <a:srgbClr val="B8552F"/>
            </a:solidFill>
            <a:ln w="31750" cap="flat">
              <a:solidFill>
                <a:srgbClr val="B855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552F"/>
              </a:solidFill>
              <a:ln w="9525" cap="flat">
                <a:solidFill>
                  <a:srgbClr val="B855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0.001</c:v>
                </c:pt>
                <c:pt idx="1">
                  <c:v>0.002</c:v>
                </c:pt>
                <c:pt idx="2">
                  <c:v>0.006</c:v>
                </c:pt>
                <c:pt idx="3">
                  <c:v>0.012</c:v>
                </c:pt>
                <c:pt idx="4">
                  <c:v>0.022</c:v>
                </c:pt>
                <c:pt idx="5">
                  <c:v>0.027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Остаток после вычитания +0,010</c:v>
                </c:pt>
              </c:strCache>
            </c:strRef>
          </c:tx>
          <c:spPr>
            <a:solidFill>
              <a:srgbClr val="1C7C8C"/>
            </a:solidFill>
            <a:ln w="31750" cap="flat">
              <a:solidFill>
                <a:srgbClr val="1C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C7C8C"/>
              </a:solidFill>
              <a:ln w="9525" cap="flat">
                <a:solidFill>
                  <a:srgbClr val="1C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0,05</c:v>
                  </c:pt>
                  <c:pt idx="1">
                    <c:v>0,10</c:v>
                  </c:pt>
                  <c:pt idx="2">
                    <c:v>0,20</c:v>
                  </c:pt>
                  <c:pt idx="3">
                    <c:v>0,30</c:v>
                  </c:pt>
                  <c:pt idx="4">
                    <c:v>0,38</c:v>
                  </c:pt>
                  <c:pt idx="5">
                    <c:v>0,40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-0.009</c:v>
                </c:pt>
                <c:pt idx="1">
                  <c:v>-0.008</c:v>
                </c:pt>
                <c:pt idx="2">
                  <c:v>-0.004</c:v>
                </c:pt>
                <c:pt idx="3">
                  <c:v>0.002</c:v>
                </c:pt>
                <c:pt idx="4">
                  <c:v>0.012</c:v>
                </c:pt>
                <c:pt idx="5">
                  <c:v>0.017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4636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B4636"/>
                    </a:solidFill>
                    <a:latin typeface="+mn-lt"/>
                  </a:rPr>
                  <a:t>θ, м³/м³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-0.01"/>
        </c:scaling>
        <c:delete val="0"/>
        <c:axPos val="l"/>
        <c:majorGridlines>
          <c:spPr>
            <a:ln w="6350" cap="flat">
              <a:solidFill>
                <a:srgbClr val="D9DE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46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0,5 мин · основной]
Главная мысль: Мы проверили, когда и насколько датчик CS616 завышает влажность в почвах Кубани и как это доказать.
Уважаемые коллеги! Начну с ситуации, знакомой каждому, кто управляет поливом. Датчик в почве показывает: влажность в норме, поливать рано. Вы доверяете прибору. А прибор, возможно, немного «льстит» почве и показывает больше воды, чем в ней есть.
Сегодня я расскажу, когда и насколько датчик CS616 «льстит» почвам Кубани, как мы это доказывали, где наши доказательства сильны, а где нет, и что из этого можно взять в работу. Я постараюсь вести рассуждение так, чтобы его можно было пройти вместе со мной, даже если вы не почвовед и не статистик.
Если времени мало: Доклад о том, когда и насколько датчик влажности CS616 завышает показания в почвах Кубани, как это доказать и что с этим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Ошибка везде ниже 0,02, но в тяжёлых почвах датчик систематически завышает влажность, и завышение растёт с увлажнением.
Сначала главное, чтобы вы знали, куда мы идём. Три числа.
Первое — 0,014. Это наибольшая типичная ошибка датчика среди всех шести вариантов опыта. Она ниже принятого нами критерия 0,02, то есть в целом заводской шкале можно доверять.
Второе — от 0,006 до 0,010. На столько в среднем датчик завышает влажность в тяжёлых почвах. Не случайно, то вверх, то вниз, а всё время в одну сторону.
Третье — 2,6. Во столько раз быстрее растёт ошибка с увлажнением в самой тяжёлой из наших почв, чем в лёгкой.
Отсюда практический вывод: в тяжёлых почвах поправка к датчику должна зависеть от влажности, постоянное число не подойдёт. Дальше я пройду по маршруту внизу слайда: зачем это нужно, как мы проверяли, что нашли, как доказывали и что из этого делать.
Если времени мало: Типичная ошибка везде ниже 0,02, но в тяжёлых почвах датчик систематически завышает влажность, и завышение растёт с увлажнением. Поэтому поправка должна зависеть от влажности.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0,01 м³/м³ = 10 мм воды в метровом слое; датчик, который завышает, задерживает полив.
Почему это важно. Влажность в нашей работе — доля объёма почвы, занятая водой. Значение 0,01 — один процент: литр воды на сто литров почвы. В метровом слое это десять миллиметров воды, или сто кубометров на гектар.
Теперь представьте автоматический полив. Почва подсыхает, и когда влажность падает до порога, система включает воду. На схеме сплошная линия — настоящая влажность, пунктир — показания датчика, который завышает. Пунктир доходит до порога позже. Значит, полив начнётся, когда воды в почве уже меньше, чем задумал агроном.
Это не умозрение. В самой тяжёлой из наших почв при настоящей влажности 0,40 датчик показывал 0,427, а при 0,30 — 0,312. Заметьте: во влажной почве расхождение больше. Мы к этому вернёмся.
И контекст: паспортная точность датчика, плюс-минус 0,025, установлена в основном на супесях и более лёгких почвах. А на виноградниках края физической глины бывает до 65 процентов.
Если времени мало: Ошибка 0,01 — это 10 мм воды в метровом слое. Если датчик завышает, порог полива достигается позже, и полив запаздывает.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Датчик измеряет время пробега импульса; вода тормозит волну почти в 9 раз сильнее воздуха.
Чтобы понять, где датчик может ошибиться, нужно понять, что он измеряет. У него две стальные штанги по тридцать сантиметров. По ним бежит электромагнитный импульс, отражается от конца и возвращается, а прибор выдаёт период колебаний — тау, в микросекундах.
Главное: датчик измеряет не воду, а время.
Полезная и довольно точная аналогия — дорога из участков с разными ограничениями скорости. Общее время поездки складывается из времён на участках. Для волны в почве участки — это воздух, минеральные частицы и вода. В минералах волна идёт примерно в 2,2 раза медленнее, чем в воздухе, а в воде — почти в 9 раз. Эти числа — корни из диэлектрической проницаемости: 1, 4,7 и 80.
Вода — самый медленный участок. Поэтому чем больше воды, тем дольше пробег и тем длиннее период. А заводское уравнение, наш «переводчик», превращает период во влажность. Его получили один раз, на определённых почвах. По сути, весь доклад о том, насколько хорош этот перевод в наших почвах.
Если времени мало: Датчик измеряет время пробега импульса по штангам; вода тормозит волну почти в 9 раз сильнее воздуха. Заводское уравнение переводит время во влажность.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Датчик верен, если почва почти не проводит ток и если заводское уравнение подходит к почве.
У любого измерения есть допущения, которые обычно не произносят вслух. Давайте произнесём.
Первое: пробег удлиняет только вода. То есть почва для волны почти изолятор, и по дороге сигнал не теряет энергию. Второе: «переводчик», настроенный на одни почвы, годится и для других.
Производитель честно указывает, где эти допущения заведомо выполняются: объёмная электропроводность почвы ниже 0,5 дециСименса на метр, плотность ниже 1,55 грамма на кубический сантиметр, глины, то есть частиц мельче 0,002 миллиметра, меньше 30 процентов. А если смектита больше четверти, производитель прямо советует калибровку под почву.
Для наших тяжёлых почв выполнение этих условий не гарантировано: физической глины в них до 65 процентов, а глину по американской шкале и объёмную электропроводность мы не измеряли. Поэтому вопрос мы поставили так: не «сломается ли датчик», а в какую сторону, насколько и при какой влажности он начнёт ошибаться.
Если времени мало: Датчику можно верить, если почва почти не проводит ток и заводское уравнение подходит к почве. Для тяжёлых почв это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Проводимость глин и солей ослабляет импульс, он позже пересекает порог — датчик завышает; связанная вода действует обратно.
Почему первое допущение может нарушаться? В тяжёлой почве у тока есть дороги: через раствор в порах и вдоль поверхности глинистых частиц. Частица глины заряжена, и вокруг неё держится облако ионов — двойной электрический слой, как на схеме слева. Эти ионы подвижны и переносят ток.
Поверхности у глины очень много: у смектита 600–800 квадратных метров на грамм, у песка — на порядки меньше. Сравните кусок сахара и сахарную пудру той же массы.
Что это значит для сигнала? Проводимость отнимает у импульса энергию, и он слабеет. А прибор срабатывает по порогу, как будильник, реагирующий на громкость. На графике справа: ослабленный сигнал пересекает порог позже. Прибор решает, что путь был длиннее, и «видит» лишнюю воду. На невысокой рабочей частоте датчика в глинах к этому добавляется поляризация на границах частиц — тоже в сторону завышения.
Но есть и обратная сила: вода, прочно связанная с поверхностью, тормозит волну слабее свободной и тянет показания вниз. Кто победит, рассуждением не решить. Мы предположили: победит завышение, и расти оно будет с влажностью, потому что водные пути становятся непрерывнее и проводимость растёт.
Если времени мало: Глина и соли проводят ток; импульс слабеет и позже пересекает порог срабатывания, поэтому датчик завышает влажность. Связанная вода тянет в обратную сторону; кто сильнее — решает опыт.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углубление: при нехватке времени — короткая версия]
Главная мысль: Работа соединяет шесть теорий; связи между ними бывают четырёх типов, и у каждого своё слабое место.
Прежде чем перейти к опыту, взглянем на карту. Работа стоит на стыке шести теорий: физики почв, химии глин, теории диэлектрических смесей, электродинамики, метрологии и статистики. А в конце цепочки — решение мелиоратора. Связи между ними разного рода, и у каждого типа своё слабое место.
Первый тип — механизм: причина и следствие. Проводимость вызывает потери сигнала. Подводит, если есть противодействующая сила, как связанная вода.
Второй — количественная модель. Модель смеси говорит не «плотность влияет», а «добавит столько-то». Модель ценна тем, что её можно поймать на ошибке. Подводит, если нарушены её допущения. Заводское уравнение — тоже модель, только эмпирическая: она честна в той области, где её получили.
Третий — косвенный показатель. Поверхность глин мы не мерили, мы мерили гигроскопичность; проводимость раствора — через вытяжку. Подводит, когда два показателя ходят парой.
Четвёртый — статистический вывод: от наших колонок к общему утверждению. Подводит, когда данные не независимы. Дальше я буду называть, на какой тип связи опирается каждый вывод.
Если времени мало: Работа соединяет физику почв, химию глин, теорию смеси, электродинамику, метрологию и статистику. Связи бывают четырёх типов — механизм, модель, косвенный показатель, статистический вывод — и у каждого своё слабое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можно пропустить]
Главная мысль: «Физическая глина» (&lt; 0,01 мм) и «clay» по USDA (&lt; 0,002 мм) — разные величины; паспортные пороги нельзя переносить напрямую.
Короткое отступление для тех, кто читает зарубежные работы. Для чернозёмов Краснодарского края количественных оценок этой ошибки в доступной литературе не было; были данные из США, с других почв. Переносить их надо осторожно.
У нас, по шкале Качинского, «физическая глина» — это все частицы мельче 0,01 миллиметра. В паспорте датчика и в американской классификации «глина» — частицы мельче 0,002 миллиметра. На схеме это нарисовано в масштабе: второе — лишь часть первого.
Значит, «30 процентов глины» в паспорте и «30 процентов физической глины» у нас — разные почвы, а одинаковые названия классов не совпадают по смыслу: «лёгкая глина» по Качинскому — это не «clay» по USDA.
Есть и полезное следствие. В группе A физической глины не больше 20 процентов, значит, и американской глины не больше 20, и условие производителя выполнено. Для групп B и C проверить это нельзя, и честнее сказать об этом прямо.
Если времени мало: «Физическая глина» по Качинскому (&lt; 0,01 мм) и «clay» по USDA (&lt; 0,002 мм) — разные величины, поэтому паспортные пороги нельзя переносить напрямую.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0,5 мин · основной]
Главная мысль: Гипотеза разложена на три предсказания с заранее названными условиями опровержения.
Теперь гипотеза. Хорошая гипотеза не говорит «что-то, наверное, влияет». Она запрещает часть возможных результатов. Поэтому у нас три предсказания, и для каждого заранее ясно, что его опровергнет.
Первое: ошибка растёт с содержанием физической глины. Опровергнет одинаковая ошибка в лёгких и тяжёлых почвах.
Второе: ошибка растёт с влажностью, причём нелинейно, всё быстрее к насыщению. Опровергнет постоянная ошибка или прямая линия.
Третье: влияет и плотность сложения, причём по-разному в разных почвах. Опровергнет отсутствие эффекта плотности или одинаковый эффект везде.
За третьим предсказанием стоит модель смеси, так что его провал был бы информативен. Чем всё закончилось, я покажу в итогах, вернувшись к этим трём строкам.
Если времени мало: Три предсказания: ошибка растёт с глинистостью; растёт с влажностью нелинейно; зависит от плотности по-разному в разных почвах. Каждое можно опровергнуть.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Датчик сравнивали с весовым эталоном в 18 колонках при 10 равновесных уровнях влажности и постоянной температуре.
Как проверить? Мы устроили датчику экзамен. Датчик со своим уравнением — студент. Ключ с ответами — термостатно-весовой метод: почву взвешивают, сушат при 105 градусах и по потере массы узнают, сколько было воды. Это самый прямой способ, но и у него есть неопределённость — 0,005.
Билеты — три почвы с виноградников края: чернозём обыкновенный с 10–20 процентами физической глины, чернозём типичный с 40–50 и лугово-чернозёмная почва с 50–65. Все незасолённые. Каждую набили в колонки до двух плотностей, 1,35 и 1,52: шесть вариантов, по три колонки.
Колонку насыщали водой снизу, а потом ступенчато подсушивали при 20 градусах. На каждой ступени ждали равновесия, от 8 до 36 часов, пока период сигнала и масса не переставали меняться. Десять ступеней — 180 значений.
Каждое решение убирает постороннюю причину: перемешанная почва — пестроту поля, постоянная температура — температурный сдвиг, ожидание равновесия — перераспределение воды. За эту чистоту мы платим удалённостью от поля.
Если времени мало: Датчик сравнивали с термостатно-весовым эталоном в 18 колонках: 3 почвы × 2 плотности × 3 повторности, 10 ступеней влажности, 20 °C, равновесие на каждой ступени.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MB — средний сдвиг со знаком, RMSE — типичный промах; RMSE² = MB² + разброс². Опасна систематическая часть.
Как измерить ошибку? В каждой точке это показание датчика минус эталон. А чтобы описать всю серию, нужны два числа.
Представьте мишень. Первое число, MB, — насколько центр кучки пуль сдвинут от яблочка. Положительный MB значит, что датчик в среднем завышает. Второе, RMSE, — типичное расстояние пули от яблочка; в него входят и сдвиг, и разброс.
Связь строгая: квадрат RMSE равен квадрату MB плюс квадрат разброса. Отсюда важное различие. Если MB около нуля, ошибки случайны и при усреднении гасятся. Если MB заметно больше нуля, ошибка систематическая: усреднение её не уберёт, и для порогового полива опасна именно она.
Критерий приемлемости — RMSE не больше 0,02: на такую точность ориентируются при управлении поливом. И сразу оговорка: наши RMSE посчитаны по средним трёх колонок, поэтому разброс между отдельными датчиками сюда не входит. По паспорту он от ±0,005 в сухой до ±0,015 в насыщенной почве.
Если времени мало: MB — средний сдвиг (его знак показывает завышение или занижение), RMSE — типичный промах; RMSE² = MB² + разброс². Критерий: RMSE ≤ 0,02.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углубление: при нехватке времени — короткая версия]
Главная мысль: Допущения нашего собственного опыта названы явно, и для каждого сказано, что с ним сделано.
Теперь то, что в докладах делают редко: допущения нашего собственного опыта. Если мы требуем честности от датчика, надо требовать её и от себя.
Эталон — истина? Мы считали его двумя способами, по всей колонке и по микрокернам: расхождение не больше 0,008, в среднем 0,003. Неопределённость 0,005 соизмерима со сдвигом в лёгких почвах, это надо помнить.
Десять уровней влажности — независимые наблюдения? Нет, это состояния одних и тех же колонок. Поэтому p-значения дальше я называю описательными.
Одна почва представляет группу? В каждой группе почва одна, так что перенос на класс почв — экстраполяция.
Колонка не мешает датчику? До стенки 59–73 миллиметра при рекомендуемых ста, штанги доходят до дна. Влияние мы не измеряли, хотя условия у всех вариантов одинаковы.
Объём постоянен? Одна почва набухла, и эталон пересчитан по реальному объёму. А округление опубликованных чисел мы проверили симуляциями: граница между группами A и B неустойчива, а доля эффекта почвы держится.
Эта таблица объясняет, почему дальше вы будете слышать «описательно» и «в изученных почвах».
Если времени мало: Наши допущения: эталон точен до 0,005; уровни влажности не независимы; одна почва на группу; влияние стенок не измерено; при набухании объём пересчитан; устойчивость к округлению проверена симуляциями.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RMSE везде 0,006–0,014 (&lt; 0,02), но растёт от лёгкой почвы к тяжёлой; сдвиг везде положительный.
Первый результат двуликий.
Первое лицо: во всех шести вариантах RMSE от 0,006 до 0,014. Красный пунктир критерия 0,02 не достаёт ни один столбик. Если вам достаточно точности 0,02, заводская шкала для этих почв годится.
Второе лицо: посмотрите на форму графика. Ошибка растёт слева направо, от лёгкой почвы к тяжёлой: средний RMSE по группам 0,0065, 0,0100 и 0,0130, примерно один к полутора к двум. А коричневые столбики — средний сдвиг — положительны во всех вариантах: датчик везде завышает.
В лёгкой почве, группе A, сдвиг статистически от нуля не отличим: плюс 0,002 и плюс 0,004. В тяжёлых, B и C, завышение в среднем 0,006–0,010, и от нуля оно отличимо.
Оговорка: граница между A и B чувствительна даже к округлению исходных чисел. В симуляциях вывод для A1 менялся в 28 процентах случаев, для B1 — в 15. Поэтому резкой границы я не утверждаю. Устойчива тенденция: чем тяжелее почва, тем больше завышение.
Если времени мало: RMSE везде 0,006–0,014, ниже 0,02. Но ошибка растёт от лёгкой почвы к тяжёлой (1 : 1,5 : 2), а сдвиг везде положительный: в тяжёлых почвах завышение 0,006–0,010.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Ошибка — функция влажности: от 0,20 до 0,40 она прибавляет 0,008 в лёгкой почве и 0,021 в тяжёлой.
Второй результат, пожалуй, главный для практики. Ошибка датчика — не число, а функция влажности. Как линейка, которая растягивается: у начала шкалы всё точно, дальше расхождение копится.
В сухой почве ошибка близка к нулю во всех группах: линии стартуют вместе. С увлажнением они расходятся веером. Когда влажность растёт от 0,20 до 0,40, ошибка в группе A прибавляет 0,008, в B — 0,014, в C — 0,021, в 2,6 раза больше, чем в A.
Максимум среди десяти анализируемых уровней — плюс 0,027 в группе C при влажности 0,40. Это выше паспортного предела на 0,002, то есть меньше неопределённости эталона: формально превышение, по сути — на грани различимости.
Бледные точки — два ещё более влажных состояния той же почвы, 0,44 и 0,48. В статистику они не вошли, но ошибка там 0,031 и 0,038: кривая на плато не выходит.
Два следствия. Постоянная поправка не сработает — нужна поправка, зависящая от влажности. И ошибка максимальна в верхней части диапазона, а пороги полива задают как раз там, вблизи наименьшей влагоёмкости.
Если времени мало: Ошибка растёт с влажностью: от 0,20 до 0,40 она прибавляет 0,008 в лёгкой почве и 0,021 в тяжёлой. Постоянная поправка не годится.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90 % разброса ошибки — её рост с влажностью; на этом фоне тест не слышит эффект почвы (p = 0,074), но это не доказывает его отсутствия.
Теперь самое тонкое место — как доказывать. Здесь есть парадокс, на котором спотыкаются и опытные исследователи.
Мы разложили изменчивость ошибки на части. Различия между вариантами объясняют около десяти процентов: почва 9,1, плотность 1,0. Остальные девяносто — изменчивость внутри вариантов, и почти вся она — рост ошибки с влажностью.
Дисперсионный анализ сравнивает различия между группами с разбросом внутри групп. А разброс внутри огромный. Слева это видно на наших данных: если сложить все уровни влажности в одну кучу, облака трёх групп почти целиком перекрываются, хотя средние явно растут. И тест даёт для почвы p = 0,074 — формально «не значимо».
Аналогия: вы пытаетесь расслышать разговор на концерте. Разговор есть, но его заглушает музыка, и музыка здесь — рост ошибки с влажностью. Вывод «разговора нет» был бы ошибкой. Тест говорит не «эффекта нет», а «на таком шуме я его не слышу».
И честно: этот анализ восстановлен по сводным статистикам вариантов, а не по сырым значениям колонок. Как снять это ограничение, я скажу в конце.
Если времени мало: 90 % разброса ошибки — её рост с влажностью внутри вариантов; на этом фоне тест даёт для почвы p = 0,074. «Не значимо» значит «не слышно на этом шуме», а не «эффекта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При сравнении на равной влажности порядок групп устойчив на всех шести уровнях (p = 0,013; Фридман p = 0,004); вывод описательный.
Как расслышать разговор? Выключить музыку — сравнивать группы при одной и той же влажности. Как сравнивать трёх бегунов на каждой из шести отметок дистанции, а не смешивать все их времена в одну кучу.
Это те же точки, что на прошлом слайде, только теперь точки одной влажности соединены линией. Все шесть линий идут вверх, местами горизонтально, и ни одна — вниз. На каждом уровне A меньше B, а B не больше C.
Насколько это убедительно? Интуиция: если бы почва не влияла, на каждом уровне наименьшей с равным шансом могла бы оказаться любая из трёх групп. Шанс, что шесть раз подряд это будет A, — одна треть в шестой степени, примерно один из 729.
Формальные тесты согласны. Анализ, где влажность — блок: p = 0,013. Критерий Фридмана, который смотрит только на порядок и не предполагает формы распределения: p = 0,004.
Граница вывода: шесть уровней — состояния одних колонок, а не независимые броски, и почва в группе одна. Поэтому вывод такой: порядок устойчив при любой влажности в изученных почвах. Перенос на другие почвы — гипотеза.
Если времени мало: При сравнении на одной влажности порядок A &lt; B ≤ C сохраняется на всех шести уровнях (p = 0,013; Фридман p = 0,004). Вывод описательный: уровни — состояния одних колонок.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Сдвиг связан и с гигроскопичностью (R² = 0,88), и с электропроводностью (R² = 0,96), но они связаны между собой (r = 0,88): причину не разделить.
Теперь вопрос «почему», и здесь работают косвенные показатели с нашей карты.
Поверхность глин мы оценивали через максимальную гигроскопическую влажность — сколько воды почва забирает из влажного воздуха. Как будто площадь губки измеряют по воде, которую она втянула. Проводимость порового раствора — через электропроводность вытяжки.
Средний сдвиг растёт с гигроскопичностью: R² = 0,88. Но с электропроводностью он связан ещё теснее: R² = 0,96. Казалось бы, виновник ясен. Нет: два показателя сами тесно связаны, r = 0,88. В нашем наборе тяжёлые почвы оказались и чуть более солёными, хотя все они далеко ниже порога засоления.
Это два подозреваемых, которых камера всегда снимает вместе. В модели с обоими значимой осталась только электропроводность, но вывод хрупкий: он держится примерно в двух третях пересчётов с учётом округления. И почв всего три, так что шесть точек не независимы: по трём средним p уже 0,07.
Итог: механизм не доказан, а лишь не опровергнут. Отделить проводимость раствора от поверхностной проводимости глин эти данные не позволяют. Нужны почвы, где глина и соли не ходят парой.
Если времени мало: Сдвиг растёт и с гигроскопичностью (R² = 0,88), и с электропроводностью (R² = 0,96), но эти показатели связаны (r = 0,88). Глину и соли разделить нельзя — нужны почвы, где они не идут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углубление: при нехватке времени — короткая версия]
Главная мысль: По модели смеси уплотнение 1,35 → 1,52 заменяет воздух минералами; датчик прочтёт это как ≈ +0,0095 воды.
Теперь плотность, и я хочу, чтобы этот прогноз вы могли посчитать сами. Помните дорогу из участков? Модель смеси, CRIM, говорит ровно это: время пробега через смесь складывается из времён через каждую фазу. Корень из проницаемости смеси равен сумме долей фаз, умноженных на корни их проницаемостей.
Слева — доли объёма при одной и той же влажности 0,25. При уплотнении с 1,35 до 1,52 вода та же, а часть воздуха заменяют твёрдые частицы: 0,17, делённые на плотность частиц 2,63, — примерно 0,065 доли.
Каждая такая доля меняет «воздушный» участок дороги на «минеральный»: корень из 4,7 минус единица, то есть 1,17. Пробег растёт на 0,065 × 1,17 ≈ 0,076.
А датчик любое удлинение читает как воду, вытеснившую воздух: каждая доля воды добавляет корень из 80 минус единица, почти 7,94. Делим: 0,076 / 7,94 ≈ 0,0095. Это и есть прогноз: плотная почва покажет примерно на 0,0095 больше.
Запомните скрытые допущения этого расчёта: та же влажность, та же проводимость, никаких потерь в пути. Через минуту они понадобятся.
Если времени мало: По модели смеси при той же влажности уплотнение заменяет воздух минералами и удлиняет пробег; датчик прочтёт это как ≈ +0,0095 воды. Допущения: та же влажность и та же проводимость.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Наблюдали −0,001…−0,002 вместо +0,0095; нарушены допущения «та же проводимость» и «та же влажность». Плотность — не главный источник ошибки.
А что получилось? Разность сдвигов между плотными и рыхлыми вариантами: минус 0,002 в группе A, минус 0,001 в B, минус 0,002 в C. Не плюс 0,0095, а чуть меньше нуля. Доверительный интервал эффекта плотности — от минус 0,006 до плюс 0,003, и прогноз в него не попадает.
Что делать, когда прогноз не сбывается? Вспомнить логику. Прогноз выведен из связки: модель плюс та же влажность плюс та же проводимость. Если вывод ложен, ложно хотя бы одно звено. Проверим звенья.
«Та же проводимость» нарушена: у плотных вариантов электропроводность вытяжки ниже на 0,07–0,12 дециСименса на метр. Меньше проводимости — меньше потерь — меньше завышения, и это могло съесть плюс от твёрдой фазы. Данные это поддерживают: если в регрессии заменить гигроскопичность на электропроводность, эффект плотности становится плюс 0,0004 при p = 0,51.
«Та же влажность» тоже нарушена: средние посчитаны по разным диапазонам влажности, а ошибка с влажностью растёт. А сама модель в таком виде проводимости не содержит: она описывает изолятор.
Итог: малый реальный эффект плотности нельзя ни подтвердить, ни исключить. Но в диапазоне 1,35–1,52 плотность — не главный источник ошибки; главные — почва и влажность.
Если времени мало: Наблюдали −0,001…−0,002 вместо +0,0095; интервал −0,006…+0,003 прогноз исключает. Подвели допущения «та же проводимость» и «та же влажность». Плотность — не главный источник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можно пропустить]
Главная мысль: Тяжёлая почва при 1,52 г/см³ набухла на 8,3 %; эталон пересчитан по реальному объёму, дополнительной ошибки не найдено.
Короткий, но поучительный эпизод. Самая тяжёлая почва при высокой плотности набухла: поверхность поднялась примерно на 25 миллиметров, объём вырос на 8,3 процента. Признак простой: максимальная влажность 0,460 больше исходной пористости 0,415. Воды больше, чем было места, — значит, места стало больше.
Почему это важно? Влажность — это вода, делённая на объём. Если почва вздулась, а делить на прежний объём, эталон окажется завышен, и ошибка датчика будет выглядеть меньше, чем есть. Поэтому эталон здесь считали по реальному объёму. После такой поправки дополнительной ошибки от набухания не нашли.
Две оговорки: сравнение смешано с плотностью и электропроводностью, а на самых влажных уровнях вздувшаяся почва поднималась выше штанг, так что датчик видел не весь объём. Практический вывод для лабораторий: при калибровке набухающих почв следите за подъёмом поверхности.
Если времени мало: Тяжёлая почва при плотности 1,52 набухла на 8,3 %; эталон пересчитан по реальному объёму, дополнительной ошибки не найдено.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Лёгкие почвы — без поправки; тяжёлые — калибровка или 1–2 весовые проверки за сезон, лучше в двух точках влажности; постоянная поправка не годится.
Теперь от результатов к действиям, в виде светофора.
Зелёный: лёгкие почвы, 10–20 процентов физической глины, как наша группа A. Заводскую калибровку можно использовать без поправки.
Жёлтый: тяжёлые почвы, 40–65 процентов. Критерий 0,02 выполняется, но в среднем датчик завышает на 0,006–0,010, то есть на 6–10 миллиметров воды в метровом слое, а во влажной почве до 0,027. Если пороги полива стоят около наименьшей влагоёмкости, нужна калибровка под почву или проверка весовым методом один-два раза за сезон.
Красный: постоянная поправка. На графике видно почему: если вычесть из показаний средний сдвиг 0,010, то в сухой почве мы ошибёмся на 0,009 в другую сторону, а во влажной останется плюс 0,017.
Отсюда совет, который прямо следует из второго результата: проверять в двух точках — во влажной почве, вскоре после полива, и в подсохшей, перед поливом. Одна точка показывает сдвиг, две — ещё и наклон. Это наше следствие из данных; в поле его ещё предстоит проверить.
Серая зона: почвы с 20–40 процентами физической глины мы не испытывали. И в поле нужна температурная поправка: по данным производителя, десять градусов меняют показания на 0,02–0,08 при влажности 0,2–0,4.
Если времени мало: Лёгкие почвы — без поправки; тяжёлые — калибровка под почву или 1–2 весовые проверки за сезон, лучше в двух точках влажности; постоянная поправка не годится.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углубление: при нехватке времени — короткая версия]
Главная мысль: Шесть переносимых идей: от «ошибка — функция» до проверки любых диэлектрических датчиков.
Что из этой работы полезно, даже если CS616 вам не нужен? Шесть идей.
Первая: ошибка датчика — функция, а не число. Проверять и калибровать нужно по всему рабочему диапазону влажности.
Вторая: сравнивай при равных условиях. Приём «сравнить группы на одной влажности» годится для любого калибровочного опыта, где сильный общий фактор заглушает слабый.
Третья: косвенные показатели ходят парами. Если два прокси связаны, никакая статистика не скажет, какой из них работает; это решает план опыта, а не расчёт.
Четвёртая: несбывшийся прогноз — подарок. Модель смеси не сработала и тем указала на хрупкое звено — проводимость.
Пятая: переводите ошибку в единицы решения. Агроному понятнее «десять миллиметров воды в метровом слое», чем «0,010».
Шестая: все датчики, которые судят о воде по диэлектрической проницаемости, опираются на то же допущение «почва — изолятор». Поэтому для них осмысленна та же проверка: на разных почвах и по всему диапазону влажности.
Если времени мало: Переносимые идеи: ошибка — функция влажности; сравнивать на равной влажности; разводить связанные факторы планом опыта; использовать несбывшиеся прогнозы; переводить ошибку в мм воды.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1,5 мин · основной]
Главная мысль: Будущие шаги сформулированы как проверяемые прогнозы; самый дешёвый — переанализ уже имеющихся 180 значений.
О будущем я расскажу не списком планов, а прогнозами, которые следуют из наших данных. Каждый устроен так: если верно это, то в таком-то опыте мы увидим вот это. Попробуйте сами оценить, какой опыт решающий.
Если завышение создаёт проводимость порового раствора, то при ступенчатом засолении одной и той же почвы ошибка будет расти вместе с электропроводностью. Часть такого опыта, засоление от 1 до 4 дециСименс на метр, у нас сделана и описана в отдельной статье.
Если работает поверхность глин, то при равной электропроводности ошибка будет больше в почве с большей долей смектита. Для этого нужна минералогия глин.
Если эффект плотности «съела» разница в электропроводности, то при выровненной электропроводности плотный вариант покажет сдвиг, близкий к прогнозу модели смеси.
Если эффект почвы реален, а не артефакт отдельных колонок, он сохранится в смешанной модели по всем 180 колоночным значениям. Это самый дешёвый шаг: данные уже есть.
И идея, которую прошу считать именно идеей: если завышение задаёт проводимость, то поправка по двум входам — период плюс объёмная электропроводность — может убрать большую часть ошибки без калибровки под каждую почву. Объёмную электропроводность в этом опыте мы не измеряли.
Если времени мало: Решающие опыты: засоление одной почвы; почвы с разной минералогией при равной ECe; уплотнение при равной ECe; смешанная модель по 180 значениям; поправка по двум входам — как гипотеза.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Твёрдо: ошибка ниже 0,02 и растёт с влажностью. Средне: порядок почв, завышение, отказ прогноза CRIM. Слабо: роль именно глины и набухания.
Прежде чем подвести итог, сведу всё в одну таблицу: что мы утверждаем и насколько твёрдо.
Самые твёрдые выводы — два. Типичная ошибка ниже 0,02 во всех вариантах, с оговоркой: лаборатория и средние по колонкам. И ошибка растёт с влажностью — это прямое наблюдение во всех группах.
Средней прочности — три. Порядок почв при одной влажности: устойчив, но уровни не независимы и почва в группе одна. Завышение в тяжёлых почвах: есть, но по величине соизмеримо с неопределённостью эталона. Отказ прогноза модели смеси для плотности: интервал его исключает, но сравнение шло не при равных условиях.
Самые слабые — два. Что причина именно в поверхности глин: мы не отделили её от электропроводности. И что набухание не добавляет ошибки: сравнение смешано с другими факторами.
Слабые места — не провал работы. Это ровно те клетки, где следующий опыт даст больше всего нового.
Если времени мало: Твёрдо: ошибка ниже 0,02 и растёт с влажностью. Средне: порядок почв, завышение в тяжёлых почвах, отказ прогноза CRIM. Слабо: роль именно глины и влияние набухания.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1 мин · основной]
Главная мысль: Калибровка годится, но в тяжёлых почвах завышает, и сильнее во влажной почве; доказана устойчивость; гипотеза подтверждена частично.
И три мысли, которые прошу унести с собой.
Первая. Заводская калибровка CS616 в изученных незасолённых почвах укладывается в критерий 0,02, но она не бесплатна: в почвах с 40–65 процентами физической глины датчик систематически завышает влажность, и тем сильнее, чем влажнее почва.
Вторая. Доказывать нужно не «p меньше 0,05», а устойчивость. Порядок почв сохранялся на каждом уровне влажности, два разных теста согласны, а слабые места мы показали сами.
Третья. Из трёх предсказаний первое подтвердилось частично — связь с почвой есть, механизм не разделён; второе подтвердилось; третье, о плотности, не подтвердилось и тем самым указало, где искать дальше.
Эту работу лучше всего использовать как карту: где датчик надёжен, где нужна проверка и какой опыт закроет пробел. Спасибо за внимание! Буду рад вопросам.
Если времени мало: Калибровка годится, но в тяжёлых почвах завышает, и сильнее во влажной почве; мы доказывали устойчивость, а не только значимость; гипотеза подтверждена частично.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вопросах]
Показывать при вопросах о точности, доверительных интервалах и асимметрии. MB и RMSE — по средним трёх колонок, n = 10 уровней влажности; ДИ и p описательные (уровни — состояния одних колонок). J_nl &lt; 0 — правосторонняя асимметрия: крупные положительные ошибки приходятся на влажную часть диапазона.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вопросах]
Показывать при вопросах о p = 0,074 и долях изменчивости. Суммы квадратов восстановлены по MB и RMSE вариантов; внутривариантный член включает зависимость ошибки от влажности. 20 000 симуляций ошибки округления: центральные 95 % для p эффекта почвы — 0,04–0,12, для η² — 0,07–0,11.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вопросах]
Показывать при вопросах о засолённости, плотности частиц и гигроскопичности. Все ECe ниже 1 дСм/м и в 6,6–14 раз ниже порога засоления 4 дСм/м. В плотных вариантах ECe ниже на 0,07–0,12 дСм/м — это важно для слайда о плотности.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вопросах]
Показывать, если спрашивают о переносе на поле, о статистике или о методике. Каждое ограничение сформулировано так, как в статье.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5156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Когда датчик влажности «льстит» почве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Систематическая погрешность заводской калибровки датчиков влажности CS616 в незасолённых почвах разного гранулометрического состава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709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Вербицкий А. Ю., Приходько И. А., Болдырева Л. М., Кесафоти Х. Е.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20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Кубанский государственный аграрный университет имени И. Т. Трубилина · Краснодар, 2026</a:t>
            </a:r>
            <a:endParaRPr lang="en-US" sz="1400" dirty="0"/>
          </a:p>
        </p:txBody>
      </p:sp>
      <p:sp>
        <p:nvSpPr>
          <p:cNvPr id="7" name="soil-A"/>
          <p:cNvSpPr/>
          <p:nvPr/>
        </p:nvSpPr>
        <p:spPr>
          <a:xfrm>
            <a:off x="8229600" y="205740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58200" y="20574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057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обыкновенный</a:t>
            </a:r>
            <a:endParaRPr lang="en-US" sz="1300" dirty="0"/>
          </a:p>
        </p:txBody>
      </p:sp>
      <p:sp>
        <p:nvSpPr>
          <p:cNvPr id="10" name="soil-B"/>
          <p:cNvSpPr/>
          <p:nvPr/>
        </p:nvSpPr>
        <p:spPr>
          <a:xfrm>
            <a:off x="8229600" y="329184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58200" y="32918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291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чернозём типичный</a:t>
            </a:r>
            <a:endParaRPr lang="en-US" sz="1300" dirty="0"/>
          </a:p>
        </p:txBody>
      </p:sp>
      <p:sp>
        <p:nvSpPr>
          <p:cNvPr id="13" name="soil-C"/>
          <p:cNvSpPr/>
          <p:nvPr/>
        </p:nvSpPr>
        <p:spPr>
          <a:xfrm>
            <a:off x="8229600" y="4526280"/>
            <a:ext cx="329184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58200" y="45262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45262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лугово-чернозёмная</a:t>
            </a:r>
            <a:endParaRPr lang="en-US" sz="1300" dirty="0"/>
          </a:p>
        </p:txBody>
      </p:sp>
      <p:sp>
        <p:nvSpPr>
          <p:cNvPr id="16" name="probe-head"/>
          <p:cNvSpPr/>
          <p:nvPr/>
        </p:nvSpPr>
        <p:spPr>
          <a:xfrm>
            <a:off x="10424160" y="1097280"/>
            <a:ext cx="822960" cy="59436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424160" y="10972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CS616</a:t>
            </a:r>
            <a:endParaRPr lang="en-US" sz="1200" dirty="0"/>
          </a:p>
        </p:txBody>
      </p:sp>
      <p:sp>
        <p:nvSpPr>
          <p:cNvPr id="18" name="rod"/>
          <p:cNvSpPr/>
          <p:nvPr/>
        </p:nvSpPr>
        <p:spPr>
          <a:xfrm>
            <a:off x="1052474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rod"/>
          <p:cNvSpPr/>
          <p:nvPr/>
        </p:nvSpPr>
        <p:spPr>
          <a:xfrm>
            <a:off x="11073384" y="1691640"/>
            <a:ext cx="73152" cy="393192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Главное за 30 секунд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stat-0"/>
          <p:cNvSpPr/>
          <p:nvPr/>
        </p:nvSpPr>
        <p:spPr>
          <a:xfrm>
            <a:off x="548640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≤ 0,014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наибольшая типичная ошибка (RMSE) среди шести вариантов — ниже критерия 0,02</a:t>
            </a:r>
            <a:endParaRPr lang="en-US" sz="1600" dirty="0"/>
          </a:p>
        </p:txBody>
      </p:sp>
      <p:sp>
        <p:nvSpPr>
          <p:cNvPr id="8" name="stat-1"/>
          <p:cNvSpPr/>
          <p:nvPr/>
        </p:nvSpPr>
        <p:spPr>
          <a:xfrm>
            <a:off x="4297680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26280" y="1600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+0,006…+0,010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среднее завышение влажности в тяжёлых почвах — всегда в одну сторону</a:t>
            </a:r>
            <a:endParaRPr lang="en-US" sz="1600" dirty="0"/>
          </a:p>
        </p:txBody>
      </p:sp>
      <p:sp>
        <p:nvSpPr>
          <p:cNvPr id="11" name="stat-2"/>
          <p:cNvSpPr/>
          <p:nvPr/>
        </p:nvSpPr>
        <p:spPr>
          <a:xfrm>
            <a:off x="8046720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75320" y="1600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× 2,6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 столько раз быстрее растёт ошибка с увлажнением в самой тяжёлой почве, чем в лёгкой</a:t>
            </a:r>
            <a:endParaRPr lang="en-US" sz="1600" dirty="0"/>
          </a:p>
        </p:txBody>
      </p:sp>
      <p:sp>
        <p:nvSpPr>
          <p:cNvPr id="14" name="conclusion"/>
          <p:cNvSpPr/>
          <p:nvPr/>
        </p:nvSpPr>
        <p:spPr>
          <a:xfrm>
            <a:off x="548640" y="402336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023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Вывод: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в тяжёлых почвах поправка к датчику должна зависеть от влажности — постоянное число не подойдёт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Маршрут доклада</a:t>
            </a:r>
            <a:endParaRPr lang="en-US" sz="1200" dirty="0"/>
          </a:p>
        </p:txBody>
      </p:sp>
      <p:sp>
        <p:nvSpPr>
          <p:cNvPr id="17" name="route"/>
          <p:cNvSpPr/>
          <p:nvPr/>
        </p:nvSpPr>
        <p:spPr>
          <a:xfrm>
            <a:off x="548640" y="5486400"/>
            <a:ext cx="2249424" cy="731520"/>
          </a:xfrm>
          <a:prstGeom prst="chevron">
            <a:avLst/>
          </a:prstGeom>
          <a:solidFill>
            <a:srgbClr val="E3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Зачем</a:t>
            </a:r>
            <a:endParaRPr lang="en-US" sz="1500" dirty="0"/>
          </a:p>
        </p:txBody>
      </p:sp>
      <p:sp>
        <p:nvSpPr>
          <p:cNvPr id="18" name="route"/>
          <p:cNvSpPr/>
          <p:nvPr/>
        </p:nvSpPr>
        <p:spPr>
          <a:xfrm>
            <a:off x="2752344" y="5486400"/>
            <a:ext cx="2249424" cy="731520"/>
          </a:xfrm>
          <a:prstGeom prst="chevron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Как проверяли</a:t>
            </a:r>
            <a:endParaRPr lang="en-US" sz="1500" dirty="0"/>
          </a:p>
        </p:txBody>
      </p:sp>
      <p:sp>
        <p:nvSpPr>
          <p:cNvPr id="19" name="route"/>
          <p:cNvSpPr/>
          <p:nvPr/>
        </p:nvSpPr>
        <p:spPr>
          <a:xfrm>
            <a:off x="4956048" y="5486400"/>
            <a:ext cx="2249424" cy="731520"/>
          </a:xfrm>
          <a:prstGeom prst="chevron">
            <a:avLst/>
          </a:prstGeom>
          <a:solidFill>
            <a:srgbClr val="E3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Что нашли</a:t>
            </a:r>
            <a:endParaRPr lang="en-US" sz="1500" dirty="0"/>
          </a:p>
        </p:txBody>
      </p:sp>
      <p:sp>
        <p:nvSpPr>
          <p:cNvPr id="20" name="route"/>
          <p:cNvSpPr/>
          <p:nvPr/>
        </p:nvSpPr>
        <p:spPr>
          <a:xfrm>
            <a:off x="7159752" y="5486400"/>
            <a:ext cx="2249424" cy="731520"/>
          </a:xfrm>
          <a:prstGeom prst="chevron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Как доказали</a:t>
            </a:r>
            <a:endParaRPr lang="en-US" sz="1500" dirty="0"/>
          </a:p>
        </p:txBody>
      </p:sp>
      <p:sp>
        <p:nvSpPr>
          <p:cNvPr id="21" name="route"/>
          <p:cNvSpPr/>
          <p:nvPr/>
        </p:nvSpPr>
        <p:spPr>
          <a:xfrm>
            <a:off x="9363456" y="5486400"/>
            <a:ext cx="2249424" cy="731520"/>
          </a:xfrm>
          <a:prstGeom prst="chevron">
            <a:avLst/>
          </a:prstGeom>
          <a:solidFill>
            <a:srgbClr val="E3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Что делать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Ошибка 0,01 — это 10 мм воды в метровом слое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conv-0"/>
          <p:cNvSpPr/>
          <p:nvPr/>
        </p:nvSpPr>
        <p:spPr>
          <a:xfrm>
            <a:off x="548640" y="146304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0,01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л воды на 100 л почвы</a:t>
            </a:r>
            <a:endParaRPr lang="en-US" sz="1800" dirty="0"/>
          </a:p>
        </p:txBody>
      </p:sp>
      <p:sp>
        <p:nvSpPr>
          <p:cNvPr id="8" name="conv-1"/>
          <p:cNvSpPr/>
          <p:nvPr/>
        </p:nvSpPr>
        <p:spPr>
          <a:xfrm>
            <a:off x="548640" y="251460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514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 мм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воды в метровом слое</a:t>
            </a:r>
            <a:endParaRPr lang="en-US" sz="1800" dirty="0"/>
          </a:p>
        </p:txBody>
      </p:sp>
      <p:sp>
        <p:nvSpPr>
          <p:cNvPr id="11" name="conv-2"/>
          <p:cNvSpPr/>
          <p:nvPr/>
        </p:nvSpPr>
        <p:spPr>
          <a:xfrm>
            <a:off x="548640" y="356616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3566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100 м³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3566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воды на гектар</a:t>
            </a:r>
            <a:endParaRPr lang="en-US" sz="1800" dirty="0"/>
          </a:p>
        </p:txBody>
      </p:sp>
      <p:sp>
        <p:nvSpPr>
          <p:cNvPr id="14" name="passport"/>
          <p:cNvSpPr/>
          <p:nvPr/>
        </p:nvSpPr>
        <p:spPr>
          <a:xfrm>
            <a:off x="548640" y="4663440"/>
            <a:ext cx="512064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736592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Паспорт: ±0,025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это до 25 мм воды в метровом слое; точность установлена в основном на супесях и более лёгких почвах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Почему завышение опасно для полива (схема)</a:t>
            </a:r>
            <a:endParaRPr lang="en-US" sz="1600" dirty="0"/>
          </a:p>
        </p:txBody>
      </p:sp>
      <p:sp>
        <p:nvSpPr>
          <p:cNvPr id="17" name="line"/>
          <p:cNvSpPr/>
          <p:nvPr/>
        </p:nvSpPr>
        <p:spPr>
          <a:xfrm flipV="1">
            <a:off x="6309360" y="1828800"/>
            <a:ext cx="0" cy="3154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line"/>
          <p:cNvSpPr/>
          <p:nvPr/>
        </p:nvSpPr>
        <p:spPr>
          <a:xfrm>
            <a:off x="6309360" y="4983480"/>
            <a:ext cx="5257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 rot="16200000">
            <a:off x="54406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влажность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время: почва подсыхает →</a:t>
            </a:r>
            <a:endParaRPr lang="en-US" sz="1200" dirty="0"/>
          </a:p>
        </p:txBody>
      </p:sp>
      <p:sp>
        <p:nvSpPr>
          <p:cNvPr id="21" name="threshold"/>
          <p:cNvSpPr/>
          <p:nvPr/>
        </p:nvSpPr>
        <p:spPr>
          <a:xfrm>
            <a:off x="6309360" y="3931920"/>
            <a:ext cx="512064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64008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порог полива</a:t>
            </a:r>
            <a:endParaRPr lang="en-US" sz="1300" dirty="0"/>
          </a:p>
        </p:txBody>
      </p:sp>
      <p:sp>
        <p:nvSpPr>
          <p:cNvPr id="23" name="true-theta"/>
          <p:cNvSpPr/>
          <p:nvPr/>
        </p:nvSpPr>
        <p:spPr>
          <a:xfrm>
            <a:off x="6400800" y="2377440"/>
            <a:ext cx="4846320" cy="24688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24" name="sensor-theta"/>
          <p:cNvSpPr/>
          <p:nvPr/>
        </p:nvSpPr>
        <p:spPr>
          <a:xfrm>
            <a:off x="6400800" y="2057400"/>
            <a:ext cx="4846320" cy="265176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25" name="badge"/>
          <p:cNvSpPr/>
          <p:nvPr/>
        </p:nvSpPr>
        <p:spPr>
          <a:xfrm>
            <a:off x="9360713" y="38404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badge"/>
          <p:cNvSpPr/>
          <p:nvPr/>
        </p:nvSpPr>
        <p:spPr>
          <a:xfrm>
            <a:off x="9734702" y="384048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680960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пора поливать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92124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датчик разрешает полив</a:t>
            </a:r>
            <a:endParaRPr lang="en-US" sz="1300" dirty="0"/>
          </a:p>
        </p:txBody>
      </p:sp>
      <p:sp>
        <p:nvSpPr>
          <p:cNvPr id="29" name="line"/>
          <p:cNvSpPr/>
          <p:nvPr/>
        </p:nvSpPr>
        <p:spPr>
          <a:xfrm>
            <a:off x="8503920" y="1965960"/>
            <a:ext cx="457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525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фактическая влажность (эталон)</a:t>
            </a:r>
            <a:endParaRPr lang="en-US" sz="1200" dirty="0"/>
          </a:p>
        </p:txBody>
      </p:sp>
      <p:sp>
        <p:nvSpPr>
          <p:cNvPr id="31" name="line"/>
          <p:cNvSpPr/>
          <p:nvPr/>
        </p:nvSpPr>
        <p:spPr>
          <a:xfrm>
            <a:off x="8503920" y="2286000"/>
            <a:ext cx="45720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905256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показания датчика</a:t>
            </a:r>
            <a:endParaRPr lang="en-US" sz="1200" dirty="0"/>
          </a:p>
        </p:txBody>
      </p:sp>
      <p:sp>
        <p:nvSpPr>
          <p:cNvPr id="33" name="real-numbers"/>
          <p:cNvSpPr/>
          <p:nvPr/>
        </p:nvSpPr>
        <p:spPr>
          <a:xfrm>
            <a:off x="6035040" y="5394960"/>
            <a:ext cx="55778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217920" y="5394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Почва C, наш опыт: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эталон 0,40 → датчик 0,427; эталон 0,30 → датчик 0,312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Датчик измеряет не воду, а время пробега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soil-block"/>
          <p:cNvSpPr/>
          <p:nvPr/>
        </p:nvSpPr>
        <p:spPr>
          <a:xfrm>
            <a:off x="548640" y="1463040"/>
            <a:ext cx="5303520" cy="1783080"/>
          </a:xfrm>
          <a:prstGeom prst="roundRect">
            <a:avLst>
              <a:gd name="adj" fmla="val 4103"/>
            </a:avLst>
          </a:prstGeom>
          <a:solidFill>
            <a:schemeClr val="accent4"/>
          </a:solidFill>
          <a:ln/>
        </p:spPr>
      </p:sp>
      <p:sp>
        <p:nvSpPr>
          <p:cNvPr id="6" name="probe-head"/>
          <p:cNvSpPr/>
          <p:nvPr/>
        </p:nvSpPr>
        <p:spPr>
          <a:xfrm>
            <a:off x="86868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датчик</a:t>
            </a:r>
            <a:endParaRPr lang="en-US" sz="1300" dirty="0"/>
          </a:p>
        </p:txBody>
      </p:sp>
      <p:sp>
        <p:nvSpPr>
          <p:cNvPr id="8" name="rod"/>
          <p:cNvSpPr/>
          <p:nvPr/>
        </p:nvSpPr>
        <p:spPr>
          <a:xfrm>
            <a:off x="1097280" y="1920240"/>
            <a:ext cx="64008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1828800" y="1920240"/>
            <a:ext cx="64008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line"/>
          <p:cNvSpPr/>
          <p:nvPr/>
        </p:nvSpPr>
        <p:spPr>
          <a:xfrm>
            <a:off x="2377440" y="2011680"/>
            <a:ext cx="3108960" cy="0"/>
          </a:xfrm>
          <a:prstGeom prst="line">
            <a:avLst/>
          </a:prstGeom>
          <a:noFill/>
          <a:ln w="31750">
            <a:solidFill>
              <a:schemeClr val="bg1"/>
            </a:solidFill>
            <a:prstDash val="dash"/>
            <a:tailEnd type="triangle"/>
          </a:ln>
        </p:spPr>
      </p:sp>
      <p:sp>
        <p:nvSpPr>
          <p:cNvPr id="11" name="line"/>
          <p:cNvSpPr/>
          <p:nvPr/>
        </p:nvSpPr>
        <p:spPr>
          <a:xfrm flipH="1">
            <a:off x="2377440" y="2743200"/>
            <a:ext cx="31089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377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импульс бежит по штангам и возвращается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почва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42900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chain-0"/>
          <p:cNvSpPr/>
          <p:nvPr/>
        </p:nvSpPr>
        <p:spPr>
          <a:xfrm>
            <a:off x="6217920" y="146304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92240" y="1463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Больше воды в почве</a:t>
            </a:r>
            <a:endParaRPr lang="en-US" sz="2000" dirty="0"/>
          </a:p>
        </p:txBody>
      </p:sp>
      <p:sp>
        <p:nvSpPr>
          <p:cNvPr id="17" name="arrow"/>
          <p:cNvSpPr/>
          <p:nvPr/>
        </p:nvSpPr>
        <p:spPr>
          <a:xfrm>
            <a:off x="8732520" y="2185416"/>
            <a:ext cx="365760" cy="274320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8" name="chain-1"/>
          <p:cNvSpPr/>
          <p:nvPr/>
        </p:nvSpPr>
        <p:spPr>
          <a:xfrm>
            <a:off x="6217920" y="246888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9224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Волна идёт медленнее</a:t>
            </a:r>
            <a:endParaRPr lang="en-US" sz="2000" dirty="0"/>
          </a:p>
        </p:txBody>
      </p:sp>
      <p:sp>
        <p:nvSpPr>
          <p:cNvPr id="20" name="arrow"/>
          <p:cNvSpPr/>
          <p:nvPr/>
        </p:nvSpPr>
        <p:spPr>
          <a:xfrm>
            <a:off x="8732520" y="3191256"/>
            <a:ext cx="365760" cy="274320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21" name="chain-2"/>
          <p:cNvSpPr/>
          <p:nvPr/>
        </p:nvSpPr>
        <p:spPr>
          <a:xfrm>
            <a:off x="6217920" y="347472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92240" y="3474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Период τ длиннее</a:t>
            </a:r>
            <a:endParaRPr lang="en-US" sz="2000" dirty="0"/>
          </a:p>
        </p:txBody>
      </p:sp>
      <p:sp>
        <p:nvSpPr>
          <p:cNvPr id="23" name="formula"/>
          <p:cNvSpPr/>
          <p:nvPr/>
        </p:nvSpPr>
        <p:spPr>
          <a:xfrm>
            <a:off x="6217920" y="452628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92240" y="4636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Заводской «переводчик»: время → влажность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492240" y="5029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θ = −0,0663 − 0,0063·τ + 0,0007·τ²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6492240" y="5623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ε: воздух 1 · минералы 4,7 · вода 80; τ — в микросекундах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Чтобы верить датчику, нужны два допущения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assumption-0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171907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6733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Почва для волны — изолятор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Пробег удлиняет только вода; по дороге сигнал не теряет энергию.</a:t>
            </a:r>
            <a:endParaRPr lang="en-US" sz="1800" dirty="0"/>
          </a:p>
        </p:txBody>
      </p:sp>
      <p:sp>
        <p:nvSpPr>
          <p:cNvPr id="10" name="assumption-1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6492240" y="171907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16733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Переводчик универсален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Уравнение, настроенное на одни почвы, верно и для других.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Где производитель гарантирует стандартную шкалу</a:t>
            </a:r>
            <a:endParaRPr lang="en-US" sz="1600" dirty="0"/>
          </a:p>
        </p:txBody>
      </p:sp>
      <p:sp>
        <p:nvSpPr>
          <p:cNvPr id="16" name="limit-0"/>
          <p:cNvSpPr/>
          <p:nvPr/>
        </p:nvSpPr>
        <p:spPr>
          <a:xfrm>
            <a:off x="548640" y="420624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279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&lt; 0,5 дСм/м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892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объёмная электропроводность почвы</a:t>
            </a:r>
            <a:endParaRPr lang="en-US" sz="1500" dirty="0"/>
          </a:p>
        </p:txBody>
      </p:sp>
      <p:sp>
        <p:nvSpPr>
          <p:cNvPr id="19" name="limit-1"/>
          <p:cNvSpPr/>
          <p:nvPr/>
        </p:nvSpPr>
        <p:spPr>
          <a:xfrm>
            <a:off x="4297680" y="420624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4279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&lt; 1,55 г/см³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4892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плотность сложения</a:t>
            </a:r>
            <a:endParaRPr lang="en-US" sz="1500" dirty="0"/>
          </a:p>
        </p:txBody>
      </p:sp>
      <p:sp>
        <p:nvSpPr>
          <p:cNvPr id="22" name="limit-2"/>
          <p:cNvSpPr/>
          <p:nvPr/>
        </p:nvSpPr>
        <p:spPr>
          <a:xfrm>
            <a:off x="8046720" y="420624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2793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&lt; 30 %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4892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глины (частицы мельче 0,002 мм)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961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Для наших тяжёлых почв это не гарантировано: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физической глины до 65 %, а глину &lt; 0,002 мм и объёмную электропроводность мы не измеряли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Глина ослабляет сигнал, и датчик завышает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dl-card"/>
          <p:cNvSpPr/>
          <p:nvPr/>
        </p:nvSpPr>
        <p:spPr>
          <a:xfrm>
            <a:off x="548640" y="1463040"/>
            <a:ext cx="548640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1325880" y="2468880"/>
            <a:ext cx="1371600" cy="1371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32588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 − 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 − −</a:t>
            </a:r>
            <a:endParaRPr lang="en-US" sz="1600" dirty="0"/>
          </a:p>
        </p:txBody>
      </p:sp>
      <p:sp>
        <p:nvSpPr>
          <p:cNvPr id="8" name="badge"/>
          <p:cNvSpPr/>
          <p:nvPr/>
        </p:nvSpPr>
        <p:spPr>
          <a:xfrm>
            <a:off x="2825496" y="30083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25496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badge"/>
          <p:cNvSpPr/>
          <p:nvPr/>
        </p:nvSpPr>
        <p:spPr>
          <a:xfrm>
            <a:off x="2642129" y="3572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42129" y="3572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2162069" y="3921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162069" y="3921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1568683" y="3921504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68683" y="3921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1088623" y="357272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8623" y="3572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8" name="badge"/>
          <p:cNvSpPr/>
          <p:nvPr/>
        </p:nvSpPr>
        <p:spPr>
          <a:xfrm>
            <a:off x="905256" y="30083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05256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20" name="badge"/>
          <p:cNvSpPr/>
          <p:nvPr/>
        </p:nvSpPr>
        <p:spPr>
          <a:xfrm>
            <a:off x="1088623" y="244403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88623" y="2444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22" name="badge"/>
          <p:cNvSpPr/>
          <p:nvPr/>
        </p:nvSpPr>
        <p:spPr>
          <a:xfrm>
            <a:off x="1568683" y="209524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568683" y="2095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24" name="badge"/>
          <p:cNvSpPr/>
          <p:nvPr/>
        </p:nvSpPr>
        <p:spPr>
          <a:xfrm>
            <a:off x="2162069" y="209524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162069" y="2095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26" name="badge"/>
          <p:cNvSpPr/>
          <p:nvPr/>
        </p:nvSpPr>
        <p:spPr>
          <a:xfrm>
            <a:off x="2642129" y="244403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642129" y="2444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164592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Частица глины несёт заряд (−); вокруг неё — облако подвижных ионов (+), двойной электрический слой. Он проводит ток.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3474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Поверхность смектита 600–800 м²/г — на порядки больше, чем у песка (сахар и сахарная пудра)</a:t>
            </a:r>
            <a:endParaRPr lang="en-US" sz="15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217920" y="1463040"/>
          <a:ext cx="5394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mech-result"/>
          <p:cNvSpPr/>
          <p:nvPr/>
        </p:nvSpPr>
        <p:spPr>
          <a:xfrm>
            <a:off x="6217920" y="4251960"/>
            <a:ext cx="53949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Слабый сигнал пересекает порог позже → τ длиннее → «лишняя вода»</a:t>
            </a:r>
            <a:endParaRPr lang="en-US" sz="1600" dirty="0"/>
          </a:p>
        </p:txBody>
      </p:sp>
      <p:sp>
        <p:nvSpPr>
          <p:cNvPr id="33" name="counter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Обратная сила: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вода, связанная с поверхностью, тормозит волну слабее свободной и тянет показания вниз. Кто сильнее — решает опыт. Наше предположение: завышение, растущее с влажностью.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Шесть теорий и четыре типа связей между ними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Физика почв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доли фаз, плотность, набухание</a:t>
            </a:r>
            <a:endParaRPr lang="en-US" sz="1600" dirty="0"/>
          </a:p>
        </p:txBody>
      </p:sp>
      <p:sp>
        <p:nvSpPr>
          <p:cNvPr id="7" name="node"/>
          <p:cNvSpPr/>
          <p:nvPr/>
        </p:nvSpPr>
        <p:spPr>
          <a:xfrm>
            <a:off x="548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Химия глин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двойной слой, соли; прокси: MH, ECe</a:t>
            </a:r>
            <a:endParaRPr lang="en-US" sz="1600" dirty="0"/>
          </a:p>
        </p:txBody>
      </p:sp>
      <p:sp>
        <p:nvSpPr>
          <p:cNvPr id="9" name="node"/>
          <p:cNvSpPr/>
          <p:nvPr/>
        </p:nvSpPr>
        <p:spPr>
          <a:xfrm>
            <a:off x="2834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44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Теория смеси (CRIM)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√ε смеси = Σ доля × √ε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2834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44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Электро­динамика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скорость ∝ 1/√ε; потери сигнала</a:t>
            </a:r>
            <a:endParaRPr lang="en-US" sz="1600" dirty="0"/>
          </a:p>
        </p:txBody>
      </p:sp>
      <p:sp>
        <p:nvSpPr>
          <p:cNvPr id="13" name="node"/>
          <p:cNvSpPr/>
          <p:nvPr/>
        </p:nvSpPr>
        <p:spPr>
          <a:xfrm>
            <a:off x="5120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30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Датчик + уравнение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τ → θ: эмпирический перевод</a:t>
            </a:r>
            <a:endParaRPr lang="en-US" sz="1600" dirty="0"/>
          </a:p>
        </p:txBody>
      </p:sp>
      <p:sp>
        <p:nvSpPr>
          <p:cNvPr id="15" name="node"/>
          <p:cNvSpPr/>
          <p:nvPr/>
        </p:nvSpPr>
        <p:spPr>
          <a:xfrm>
            <a:off x="7406640" y="14630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16368" y="15087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Метрология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эталон U = 0,005; MB, RMSE</a:t>
            </a:r>
            <a:endParaRPr lang="en-US" sz="1600" dirty="0"/>
          </a:p>
        </p:txBody>
      </p:sp>
      <p:sp>
        <p:nvSpPr>
          <p:cNvPr id="17" name="node"/>
          <p:cNvSpPr/>
          <p:nvPr/>
        </p:nvSpPr>
        <p:spPr>
          <a:xfrm>
            <a:off x="7406640" y="30632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16368" y="31089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дисперсионный анализ, блоки, регрессия</a:t>
            </a:r>
            <a:endParaRPr lang="en-US" sz="1600" dirty="0"/>
          </a:p>
        </p:txBody>
      </p:sp>
      <p:sp>
        <p:nvSpPr>
          <p:cNvPr id="19" name="node"/>
          <p:cNvSpPr/>
          <p:nvPr/>
        </p:nvSpPr>
        <p:spPr>
          <a:xfrm>
            <a:off x="9692640" y="2263140"/>
            <a:ext cx="192024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02368" y="23088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Мелиорация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решение: порог полива</a:t>
            </a:r>
            <a:endParaRPr lang="en-US" sz="1600" dirty="0"/>
          </a:p>
        </p:txBody>
      </p:sp>
      <p:sp>
        <p:nvSpPr>
          <p:cNvPr id="21" name="line"/>
          <p:cNvSpPr/>
          <p:nvPr/>
        </p:nvSpPr>
        <p:spPr>
          <a:xfrm>
            <a:off x="2468880" y="2103120"/>
            <a:ext cx="36576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line"/>
          <p:cNvSpPr/>
          <p:nvPr/>
        </p:nvSpPr>
        <p:spPr>
          <a:xfrm>
            <a:off x="2468880" y="3703320"/>
            <a:ext cx="3657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line"/>
          <p:cNvSpPr/>
          <p:nvPr/>
        </p:nvSpPr>
        <p:spPr>
          <a:xfrm flipV="1">
            <a:off x="3794760" y="2743200"/>
            <a:ext cx="0" cy="3200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line"/>
          <p:cNvSpPr/>
          <p:nvPr/>
        </p:nvSpPr>
        <p:spPr>
          <a:xfrm>
            <a:off x="4754880" y="2103120"/>
            <a:ext cx="365760" cy="54864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line"/>
          <p:cNvSpPr/>
          <p:nvPr/>
        </p:nvSpPr>
        <p:spPr>
          <a:xfrm flipV="1">
            <a:off x="4754880" y="3154680"/>
            <a:ext cx="365760" cy="5486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line"/>
          <p:cNvSpPr/>
          <p:nvPr/>
        </p:nvSpPr>
        <p:spPr>
          <a:xfrm flipV="1">
            <a:off x="7040880" y="210312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line"/>
          <p:cNvSpPr/>
          <p:nvPr/>
        </p:nvSpPr>
        <p:spPr>
          <a:xfrm>
            <a:off x="8366760" y="2743200"/>
            <a:ext cx="0" cy="3200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line"/>
          <p:cNvSpPr/>
          <p:nvPr/>
        </p:nvSpPr>
        <p:spPr>
          <a:xfrm flipV="1">
            <a:off x="9326880" y="3154680"/>
            <a:ext cx="36576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legend-0"/>
          <p:cNvSpPr/>
          <p:nvPr/>
        </p:nvSpPr>
        <p:spPr>
          <a:xfrm>
            <a:off x="548640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0" name="line"/>
          <p:cNvSpPr/>
          <p:nvPr/>
        </p:nvSpPr>
        <p:spPr>
          <a:xfrm>
            <a:off x="731520" y="4846320"/>
            <a:ext cx="5486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71600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Механизм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причина → следствие. Подводит, если есть обратная сила (связанная вода)</a:t>
            </a:r>
            <a:endParaRPr lang="en-US" sz="1400" dirty="0"/>
          </a:p>
        </p:txBody>
      </p:sp>
      <p:sp>
        <p:nvSpPr>
          <p:cNvPr id="33" name="legend-1"/>
          <p:cNvSpPr/>
          <p:nvPr/>
        </p:nvSpPr>
        <p:spPr>
          <a:xfrm>
            <a:off x="3355848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4" name="line"/>
          <p:cNvSpPr/>
          <p:nvPr/>
        </p:nvSpPr>
        <p:spPr>
          <a:xfrm>
            <a:off x="3538728" y="4846320"/>
            <a:ext cx="5486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78808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Модель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3538728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даёт число, его можно проверить. Подводит, если нарушены допущения (плотность)</a:t>
            </a:r>
            <a:endParaRPr lang="en-US" sz="1400" dirty="0"/>
          </a:p>
        </p:txBody>
      </p:sp>
      <p:sp>
        <p:nvSpPr>
          <p:cNvPr id="37" name="legend-2"/>
          <p:cNvSpPr/>
          <p:nvPr/>
        </p:nvSpPr>
        <p:spPr>
          <a:xfrm>
            <a:off x="6163056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38" name="line"/>
          <p:cNvSpPr/>
          <p:nvPr/>
        </p:nvSpPr>
        <p:spPr>
          <a:xfrm>
            <a:off x="6345936" y="4846320"/>
            <a:ext cx="5486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6986016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Косвенный показатель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45936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судим о скрытом по видимому (MH, ECe). Подводит, если прокси ходят парой</a:t>
            </a:r>
            <a:endParaRPr lang="en-US" sz="1400" dirty="0"/>
          </a:p>
        </p:txBody>
      </p:sp>
      <p:sp>
        <p:nvSpPr>
          <p:cNvPr id="41" name="legend-3"/>
          <p:cNvSpPr/>
          <p:nvPr/>
        </p:nvSpPr>
        <p:spPr>
          <a:xfrm>
            <a:off x="8970264" y="457200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42" name="line"/>
          <p:cNvSpPr/>
          <p:nvPr/>
        </p:nvSpPr>
        <p:spPr>
          <a:xfrm>
            <a:off x="9153144" y="4846320"/>
            <a:ext cx="54864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793224" y="47000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Статистический вывод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153144" y="510235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 колонок к общему. Подводит, если наблюдения не независимы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Ловушка терминов: «глина» бывает разной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Размер частиц, мм (в масштабе)</a:t>
            </a:r>
            <a:endParaRPr lang="en-US" sz="1400" dirty="0"/>
          </a:p>
        </p:txBody>
      </p:sp>
      <p:sp>
        <p:nvSpPr>
          <p:cNvPr id="6" name="size-bar"/>
          <p:cNvSpPr/>
          <p:nvPr/>
        </p:nvSpPr>
        <p:spPr>
          <a:xfrm>
            <a:off x="548640" y="1828800"/>
            <a:ext cx="822960" cy="5486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глина по Качинскому &lt; 0,001</a:t>
            </a:r>
            <a:endParaRPr lang="en-US" sz="1700" dirty="0"/>
          </a:p>
        </p:txBody>
      </p:sp>
      <p:sp>
        <p:nvSpPr>
          <p:cNvPr id="8" name="size-bar"/>
          <p:cNvSpPr/>
          <p:nvPr/>
        </p:nvSpPr>
        <p:spPr>
          <a:xfrm>
            <a:off x="548640" y="2697480"/>
            <a:ext cx="16459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2697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«clay» по USDA и в паспорте &lt; 0,002</a:t>
            </a:r>
            <a:endParaRPr lang="en-US" sz="1700" dirty="0"/>
          </a:p>
        </p:txBody>
      </p:sp>
      <p:sp>
        <p:nvSpPr>
          <p:cNvPr id="10" name="size-bar"/>
          <p:cNvSpPr/>
          <p:nvPr/>
        </p:nvSpPr>
        <p:spPr>
          <a:xfrm>
            <a:off x="548640" y="3566160"/>
            <a:ext cx="8229600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физическая глина по Качинскому &lt; 0,01</a:t>
            </a:r>
            <a:endParaRPr lang="en-US" sz="1700" dirty="0"/>
          </a:p>
        </p:txBody>
      </p:sp>
      <p:sp>
        <p:nvSpPr>
          <p:cNvPr id="12" name="gap"/>
          <p:cNvSpPr/>
          <p:nvPr/>
        </p:nvSpPr>
        <p:spPr>
          <a:xfrm>
            <a:off x="9144000" y="1463040"/>
            <a:ext cx="246888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326880" y="14630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Для чернозёмов края количественных оценок не было</a:t>
            </a:r>
            <a:endParaRPr lang="en-US" sz="1600" dirty="0"/>
          </a:p>
        </p:txBody>
      </p:sp>
      <p:sp>
        <p:nvSpPr>
          <p:cNvPr id="14" name="trap"/>
          <p:cNvSpPr/>
          <p:nvPr/>
        </p:nvSpPr>
        <p:spPr>
          <a:xfrm>
            <a:off x="54864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Ловушка перевода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30 % «clay» из паспорта и 30 % физической глины — разные почвы. «Лёгкая глина» по Качинскому ≠ «clay» по USDA.</a:t>
            </a:r>
            <a:endParaRPr lang="en-US" sz="1700" dirty="0"/>
          </a:p>
        </p:txBody>
      </p:sp>
      <p:sp>
        <p:nvSpPr>
          <p:cNvPr id="16" name="consequence"/>
          <p:cNvSpPr/>
          <p:nvPr/>
        </p:nvSpPr>
        <p:spPr>
          <a:xfrm>
            <a:off x="6217920" y="4480560"/>
            <a:ext cx="53949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46520" y="4572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Что из этого следует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В группе A физической глины ≤ 20 %, значит, и USDA-глины ≤ 20 %: условие паспорта выполнено. Для B и C проверить нельзя.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Три предсказания, каждое можно опровергнуть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h-0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176479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64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15727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Ошибка растёт с содержанием физической глины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2128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Опровергнет: ошибка одинакова в лёгких и тяжёлых почвах</a:t>
            </a:r>
            <a:endParaRPr lang="en-US" sz="1700" dirty="0"/>
          </a:p>
        </p:txBody>
      </p:sp>
      <p:sp>
        <p:nvSpPr>
          <p:cNvPr id="10" name="h-1"/>
          <p:cNvSpPr/>
          <p:nvPr/>
        </p:nvSpPr>
        <p:spPr>
          <a:xfrm>
            <a:off x="548640" y="292608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822960" y="322783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32278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30358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Ошибка растёт с влажностью, всё быстрее к насыщению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6758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Опровергнет: ошибка постоянна или растёт по прямой</a:t>
            </a:r>
            <a:endParaRPr lang="en-US" sz="1700" dirty="0"/>
          </a:p>
        </p:txBody>
      </p:sp>
      <p:sp>
        <p:nvSpPr>
          <p:cNvPr id="15" name="h-2"/>
          <p:cNvSpPr/>
          <p:nvPr/>
        </p:nvSpPr>
        <p:spPr>
          <a:xfrm>
            <a:off x="548640" y="438912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22960" y="469087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690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988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Плотность влияет, и по-разному в разных почвах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51389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Опровергнет: плотность не меняет ошибку или меняет её одинаково везде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Каждое предсказание запрещает часть результатов. Итоги — на последнем слайде.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Эксперимент как экзамен с ключом ответов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Схема опыта: 3 почвы × 2 плотности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10–20 % физ. глины</a:t>
            </a:r>
            <a:endParaRPr lang="en-US" sz="1600" dirty="0"/>
          </a:p>
        </p:txBody>
      </p:sp>
      <p:sp>
        <p:nvSpPr>
          <p:cNvPr id="7" name="cell"/>
          <p:cNvSpPr/>
          <p:nvPr/>
        </p:nvSpPr>
        <p:spPr>
          <a:xfrm>
            <a:off x="173736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3736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9" name="cell"/>
          <p:cNvSpPr/>
          <p:nvPr/>
        </p:nvSpPr>
        <p:spPr>
          <a:xfrm>
            <a:off x="173736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73736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40–50 %</a:t>
            </a:r>
            <a:endParaRPr lang="en-US" sz="1600" dirty="0"/>
          </a:p>
        </p:txBody>
      </p:sp>
      <p:sp>
        <p:nvSpPr>
          <p:cNvPr id="12" name="cell"/>
          <p:cNvSpPr/>
          <p:nvPr/>
        </p:nvSpPr>
        <p:spPr>
          <a:xfrm>
            <a:off x="329184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9184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4" name="cell"/>
          <p:cNvSpPr/>
          <p:nvPr/>
        </p:nvSpPr>
        <p:spPr>
          <a:xfrm>
            <a:off x="329184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9184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50–65 %</a:t>
            </a:r>
            <a:endParaRPr lang="en-US" sz="1600" dirty="0"/>
          </a:p>
        </p:txBody>
      </p:sp>
      <p:sp>
        <p:nvSpPr>
          <p:cNvPr id="17" name="cell"/>
          <p:cNvSpPr/>
          <p:nvPr/>
        </p:nvSpPr>
        <p:spPr>
          <a:xfrm>
            <a:off x="4846320" y="251460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514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1,35 г/см³</a:t>
            </a:r>
            <a:endParaRPr lang="en-US" sz="1500" dirty="0"/>
          </a:p>
        </p:txBody>
      </p:sp>
      <p:sp>
        <p:nvSpPr>
          <p:cNvPr id="19" name="cell"/>
          <p:cNvSpPr/>
          <p:nvPr/>
        </p:nvSpPr>
        <p:spPr>
          <a:xfrm>
            <a:off x="4846320" y="329184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32918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1,52 г/см³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514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плотность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все почвы незасолённые: ECe 0,28–0,61 дСм/м</a:t>
            </a:r>
            <a:endParaRPr lang="en-US" sz="1400" dirty="0"/>
          </a:p>
        </p:txBody>
      </p:sp>
      <p:sp>
        <p:nvSpPr>
          <p:cNvPr id="23" name="count"/>
          <p:cNvSpPr/>
          <p:nvPr/>
        </p:nvSpPr>
        <p:spPr>
          <a:xfrm>
            <a:off x="6675120" y="1371600"/>
            <a:ext cx="49377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03720" y="1417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6 × 3 × 10 = 180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вариантов × колонок × ступеней влажности</a:t>
            </a:r>
            <a:endParaRPr lang="en-US" sz="1500" dirty="0"/>
          </a:p>
        </p:txBody>
      </p:sp>
      <p:sp>
        <p:nvSpPr>
          <p:cNvPr id="26" name="exam-0"/>
          <p:cNvSpPr/>
          <p:nvPr/>
        </p:nvSpPr>
        <p:spPr>
          <a:xfrm>
            <a:off x="6675120" y="288036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0" y="2880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Датчик с заводским уравнением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= студент</a:t>
            </a:r>
            <a:endParaRPr lang="en-US" sz="1600" dirty="0"/>
          </a:p>
        </p:txBody>
      </p:sp>
      <p:sp>
        <p:nvSpPr>
          <p:cNvPr id="28" name="exam-1"/>
          <p:cNvSpPr/>
          <p:nvPr/>
        </p:nvSpPr>
        <p:spPr>
          <a:xfrm>
            <a:off x="6675120" y="374904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0" y="3749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Термостатно-весовой метод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= ключ с ответами (неопределённость 0,005)</a:t>
            </a:r>
            <a:endParaRPr lang="en-US" sz="1600" dirty="0"/>
          </a:p>
        </p:txBody>
      </p:sp>
      <p:sp>
        <p:nvSpPr>
          <p:cNvPr id="30" name="proc-0"/>
          <p:cNvSpPr/>
          <p:nvPr/>
        </p:nvSpPr>
        <p:spPr>
          <a:xfrm>
            <a:off x="548640" y="484632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31520" y="4846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Насыщение снизу, 48 ч</a:t>
            </a:r>
            <a:endParaRPr lang="en-US" sz="1700" dirty="0"/>
          </a:p>
        </p:txBody>
      </p:sp>
      <p:sp>
        <p:nvSpPr>
          <p:cNvPr id="32" name="arrow"/>
          <p:cNvSpPr/>
          <p:nvPr/>
        </p:nvSpPr>
        <p:spPr>
          <a:xfrm>
            <a:off x="3182112" y="5285232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3" name="proc-1"/>
          <p:cNvSpPr/>
          <p:nvPr/>
        </p:nvSpPr>
        <p:spPr>
          <a:xfrm>
            <a:off x="3383280" y="484632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566160" y="4846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Ступенчатое иссушение при 20 °C</a:t>
            </a:r>
            <a:endParaRPr lang="en-US" sz="1700" dirty="0"/>
          </a:p>
        </p:txBody>
      </p:sp>
      <p:sp>
        <p:nvSpPr>
          <p:cNvPr id="35" name="arrow"/>
          <p:cNvSpPr/>
          <p:nvPr/>
        </p:nvSpPr>
        <p:spPr>
          <a:xfrm>
            <a:off x="6016752" y="5285232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6" name="proc-2"/>
          <p:cNvSpPr/>
          <p:nvPr/>
        </p:nvSpPr>
        <p:spPr>
          <a:xfrm>
            <a:off x="6217920" y="484632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400800" y="4846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Ожидание равновесия 8–36 ч</a:t>
            </a:r>
            <a:endParaRPr lang="en-US" sz="1700" dirty="0"/>
          </a:p>
        </p:txBody>
      </p:sp>
      <p:sp>
        <p:nvSpPr>
          <p:cNvPr id="38" name="arrow"/>
          <p:cNvSpPr/>
          <p:nvPr/>
        </p:nvSpPr>
        <p:spPr>
          <a:xfrm>
            <a:off x="8851392" y="5285232"/>
            <a:ext cx="219456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9" name="proc-3"/>
          <p:cNvSpPr/>
          <p:nvPr/>
        </p:nvSpPr>
        <p:spPr>
          <a:xfrm>
            <a:off x="9052560" y="4846320"/>
            <a:ext cx="26060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235440" y="4846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Снимок: период τ + масса колонки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Колонка 152 мм × 300 мм, три слоя уплотнения. Каждое решение убирает одну постороннюю причину.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Ошибку описывают два числа: сдвиг и промах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ring"/>
          <p:cNvSpPr/>
          <p:nvPr/>
        </p:nvSpPr>
        <p:spPr>
          <a:xfrm>
            <a:off x="1005840" y="1691640"/>
            <a:ext cx="4206240" cy="4206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ring"/>
          <p:cNvSpPr/>
          <p:nvPr/>
        </p:nvSpPr>
        <p:spPr>
          <a:xfrm>
            <a:off x="1691640" y="2377440"/>
            <a:ext cx="2834640" cy="2834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ring"/>
          <p:cNvSpPr/>
          <p:nvPr/>
        </p:nvSpPr>
        <p:spPr>
          <a:xfrm>
            <a:off x="2377440" y="3063240"/>
            <a:ext cx="1463040" cy="14630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3044952" y="373075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badge"/>
          <p:cNvSpPr/>
          <p:nvPr/>
        </p:nvSpPr>
        <p:spPr>
          <a:xfrm>
            <a:off x="3712464" y="320954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badge"/>
          <p:cNvSpPr/>
          <p:nvPr/>
        </p:nvSpPr>
        <p:spPr>
          <a:xfrm>
            <a:off x="3986784" y="302666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badge"/>
          <p:cNvSpPr/>
          <p:nvPr/>
        </p:nvSpPr>
        <p:spPr>
          <a:xfrm>
            <a:off x="3483864" y="348386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badge"/>
          <p:cNvSpPr/>
          <p:nvPr/>
        </p:nvSpPr>
        <p:spPr>
          <a:xfrm>
            <a:off x="3895344" y="352958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badge"/>
          <p:cNvSpPr/>
          <p:nvPr/>
        </p:nvSpPr>
        <p:spPr>
          <a:xfrm>
            <a:off x="3438144" y="307238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badge"/>
          <p:cNvSpPr/>
          <p:nvPr/>
        </p:nvSpPr>
        <p:spPr>
          <a:xfrm>
            <a:off x="4123944" y="325526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badge"/>
          <p:cNvSpPr/>
          <p:nvPr/>
        </p:nvSpPr>
        <p:spPr>
          <a:xfrm>
            <a:off x="3666744" y="2843784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line"/>
          <p:cNvSpPr/>
          <p:nvPr/>
        </p:nvSpPr>
        <p:spPr>
          <a:xfrm flipV="1">
            <a:off x="3108960" y="3291840"/>
            <a:ext cx="685800" cy="50292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82296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MB — сдвиг центра кучки от яблочка</a:t>
            </a:r>
            <a:endParaRPr lang="en-US" sz="1500" dirty="0"/>
          </a:p>
        </p:txBody>
      </p:sp>
      <p:sp>
        <p:nvSpPr>
          <p:cNvPr id="18" name="identity"/>
          <p:cNvSpPr/>
          <p:nvPr/>
        </p:nvSpPr>
        <p:spPr>
          <a:xfrm>
            <a:off x="6309360" y="1463040"/>
            <a:ext cx="530352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37960" y="1463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RMSE² = MB² + разброс²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типичный промах складывается из сдвига и разброса</a:t>
            </a:r>
            <a:endParaRPr lang="en-US" sz="1500" dirty="0"/>
          </a:p>
        </p:txBody>
      </p:sp>
      <p:sp>
        <p:nvSpPr>
          <p:cNvPr id="21" name="mb0"/>
          <p:cNvSpPr/>
          <p:nvPr/>
        </p:nvSpPr>
        <p:spPr>
          <a:xfrm>
            <a:off x="6309360" y="301752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37960" y="30175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MB ≈ 0: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ошибки случайны, то выше, то ниже — при усреднении гасятся</a:t>
            </a:r>
            <a:endParaRPr lang="en-US" sz="1700" dirty="0"/>
          </a:p>
        </p:txBody>
      </p:sp>
      <p:sp>
        <p:nvSpPr>
          <p:cNvPr id="23" name="mbpos"/>
          <p:cNvSpPr/>
          <p:nvPr/>
        </p:nvSpPr>
        <p:spPr>
          <a:xfrm>
            <a:off x="6309360" y="4389120"/>
            <a:ext cx="53035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3796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MB &gt; 0: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систематическое завышение — усреднение не поможет; опасно для порога полива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Критерий приемлемости: RMSE ≤ 0,02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Где могли ошибиться мы сами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13" name="own-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4864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Допущение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мы сделали или знаем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Статус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«Эталон — это истина»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Два способа (вся колонка и микрокерны): расхождение ≤ 0,008, в среднем 0,003; U = 0,005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«Десять уровней — независимые наблюдения»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Нет: это последовательные состояния одних и тех же колонок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описательные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«Одна почва представляет группу»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 каждой группе одна почва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экстраполяция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«Колонка не мешает датчику»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 стенки 59–73 мм (рекомендуется ≥ 100), штанги доходят до дна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не 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«Объём почвы постоянен»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Нарушено при набухании (почва C, 1,52 г/см³) — эталон по реальному объёму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учтено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«Округление опубликованных чисел не меняет выводов»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20 000 симуляций: доля эффекта почвы 0,07–0,11 держится; граница A–B неустойчива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проверено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Поэтому дальше: «описательно» и «в изученных почвах»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Точность в норме, но в тяжёлых почвах хуже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pi-0"/>
          <p:cNvSpPr/>
          <p:nvPr/>
        </p:nvSpPr>
        <p:spPr>
          <a:xfrm>
            <a:off x="7863840" y="141732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09244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0,006–0,014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1031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RMSE во всех шести вариантах — ниже критерия 0,02</a:t>
            </a:r>
            <a:endParaRPr lang="en-US" sz="1500" dirty="0"/>
          </a:p>
        </p:txBody>
      </p:sp>
      <p:sp>
        <p:nvSpPr>
          <p:cNvPr id="9" name="kpi-1"/>
          <p:cNvSpPr/>
          <p:nvPr/>
        </p:nvSpPr>
        <p:spPr>
          <a:xfrm>
            <a:off x="7863840" y="306324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09244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 : 1,5 : 2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рост RMSE от A к B и C (0,0065; 0,0100; 0,0130)</a:t>
            </a:r>
            <a:endParaRPr lang="en-US" sz="1500" dirty="0"/>
          </a:p>
        </p:txBody>
      </p:sp>
      <p:sp>
        <p:nvSpPr>
          <p:cNvPr id="12" name="kpi-2"/>
          <p:cNvSpPr/>
          <p:nvPr/>
        </p:nvSpPr>
        <p:spPr>
          <a:xfrm>
            <a:off x="7863840" y="4709160"/>
            <a:ext cx="3749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092440" y="4800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MB &gt; 0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53949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везде завышение; в A неотличимо от нуля, в B и C +0,006…+0,010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Чем влажнее почва, тем больше ошибка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Прирост ошибки при θ от 0,20 до 0,40</a:t>
            </a:r>
            <a:endParaRPr lang="en-US" sz="1500" dirty="0"/>
          </a:p>
        </p:txBody>
      </p:sp>
      <p:sp>
        <p:nvSpPr>
          <p:cNvPr id="7" name="inc-0"/>
          <p:cNvSpPr/>
          <p:nvPr/>
        </p:nvSpPr>
        <p:spPr>
          <a:xfrm>
            <a:off x="8138160" y="1783080"/>
            <a:ext cx="3474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8" name="badge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1783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+0,008 м³/м³</a:t>
            </a:r>
            <a:endParaRPr lang="en-US" sz="2200" dirty="0"/>
          </a:p>
        </p:txBody>
      </p:sp>
      <p:sp>
        <p:nvSpPr>
          <p:cNvPr id="11" name="inc-1"/>
          <p:cNvSpPr/>
          <p:nvPr/>
        </p:nvSpPr>
        <p:spPr>
          <a:xfrm>
            <a:off x="8138160" y="2560320"/>
            <a:ext cx="3474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badge"/>
          <p:cNvSpPr/>
          <p:nvPr/>
        </p:nvSpPr>
        <p:spPr>
          <a:xfrm>
            <a:off x="8275320" y="26517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75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8915400" y="2560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+0,014 м³/м³</a:t>
            </a:r>
            <a:endParaRPr lang="en-US" sz="2200" dirty="0"/>
          </a:p>
        </p:txBody>
      </p:sp>
      <p:sp>
        <p:nvSpPr>
          <p:cNvPr id="15" name="inc-2"/>
          <p:cNvSpPr/>
          <p:nvPr/>
        </p:nvSpPr>
        <p:spPr>
          <a:xfrm>
            <a:off x="8138160" y="3337560"/>
            <a:ext cx="34747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275320" y="34290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75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91540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+0,021 м³/м³</a:t>
            </a:r>
            <a:endParaRPr lang="en-US" sz="2200" dirty="0"/>
          </a:p>
        </p:txBody>
      </p:sp>
      <p:sp>
        <p:nvSpPr>
          <p:cNvPr id="19" name="ratio"/>
          <p:cNvSpPr/>
          <p:nvPr/>
        </p:nvSpPr>
        <p:spPr>
          <a:xfrm>
            <a:off x="8138160" y="420624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tx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366760" y="4251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× 2,6</a:t>
            </a:r>
            <a:endParaRPr lang="en-US" sz="4400" dirty="0"/>
          </a:p>
        </p:txBody>
      </p:sp>
      <p:sp>
        <p:nvSpPr>
          <p:cNvPr id="21" name="Text 17"/>
          <p:cNvSpPr txBox="1"/>
          <p:nvPr/>
        </p:nvSpPr>
        <p:spPr>
          <a:xfrm>
            <a:off x="8366760" y="5029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во столько раз ошибка в C прирастает сильнее, чем в A. Бледные точки (0,44 и 0,48, вне анализа): +0,031 и +0,038 — плато нет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«Не значимо» не значит «эффекта нет»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486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" y="5870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отдельные уровни влажности 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●—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среднее по группе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61081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Иллюстрация: табл. V, 6 уровней, плотность 1,35 г/см³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417320"/>
          <a:ext cx="53035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erdict"/>
          <p:cNvSpPr/>
          <p:nvPr/>
        </p:nvSpPr>
        <p:spPr>
          <a:xfrm>
            <a:off x="6309360" y="3337560"/>
            <a:ext cx="530352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37960" y="34015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Почва: F(2; 54) = 2,74; p = 0,074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6537960" y="39319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«Не значимо»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= «не слышно на этом шуме», а не «эффекта нет»</a:t>
            </a:r>
            <a:endParaRPr lang="en-US" sz="1700" dirty="0"/>
          </a:p>
        </p:txBody>
      </p:sp>
      <p:sp>
        <p:nvSpPr>
          <p:cNvPr id="12" name="analogy"/>
          <p:cNvSpPr/>
          <p:nvPr/>
        </p:nvSpPr>
        <p:spPr>
          <a:xfrm>
            <a:off x="6309360" y="4937760"/>
            <a:ext cx="53035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537960" y="493776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Разговор на концерте: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разговор есть, но его заглушает музыка — рост ошибки с влажностью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 равной влажности: всегда A &lt; B ≤ C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669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intuition"/>
          <p:cNvSpPr/>
          <p:nvPr/>
        </p:nvSpPr>
        <p:spPr>
          <a:xfrm>
            <a:off x="6492240" y="141732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720840" y="141732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Интуиция: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если бы почва не влияла, A оказалась бы наименьшей на всех 6 уровнях с шансом (1/3)⁶ ≈ 1 из 729</a:t>
            </a:r>
            <a:endParaRPr lang="en-US" sz="1700" dirty="0"/>
          </a:p>
        </p:txBody>
      </p:sp>
      <p:sp>
        <p:nvSpPr>
          <p:cNvPr id="8" name="test-0"/>
          <p:cNvSpPr/>
          <p:nvPr/>
        </p:nvSpPr>
        <p:spPr>
          <a:xfrm>
            <a:off x="6492240" y="2971800"/>
            <a:ext cx="251460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675120" y="29718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Влажность — блок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F(2; 10) = 6,92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0,013</a:t>
            </a:r>
            <a:endParaRPr lang="en-US" sz="1600" dirty="0"/>
          </a:p>
        </p:txBody>
      </p:sp>
      <p:sp>
        <p:nvSpPr>
          <p:cNvPr id="10" name="test-1"/>
          <p:cNvSpPr/>
          <p:nvPr/>
        </p:nvSpPr>
        <p:spPr>
          <a:xfrm>
            <a:off x="9098280" y="2971800"/>
            <a:ext cx="251460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281160" y="297180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Фридман: только порядок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χ²(2) = 11,27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 = 0,004</a:t>
            </a:r>
            <a:endParaRPr lang="en-US" sz="1600" dirty="0"/>
          </a:p>
        </p:txBody>
      </p:sp>
      <p:sp>
        <p:nvSpPr>
          <p:cNvPr id="12" name="caveat"/>
          <p:cNvSpPr/>
          <p:nvPr/>
        </p:nvSpPr>
        <p:spPr>
          <a:xfrm>
            <a:off x="6492240" y="4617720"/>
            <a:ext cx="51206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20840" y="46177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Граница вывода: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уровни — состояния одних колонок, почва в группе одна. Порядок устойчив в изученных почвах; перенос на другие — гипотеза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Глина и соли ходят парой: виновник не ясен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4406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72200" y="1417320"/>
          <a:ext cx="54406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ied"/>
          <p:cNvSpPr/>
          <p:nvPr/>
        </p:nvSpPr>
        <p:spPr>
          <a:xfrm>
            <a:off x="548640" y="5120640"/>
            <a:ext cx="3657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777240" y="51206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r = 0,88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между MH и ECe: подозреваемые всегда вместе</a:t>
            </a:r>
            <a:endParaRPr lang="en-US" sz="1600" dirty="0"/>
          </a:p>
        </p:txBody>
      </p:sp>
      <p:sp>
        <p:nvSpPr>
          <p:cNvPr id="9" name="fragile"/>
          <p:cNvSpPr/>
          <p:nvPr/>
        </p:nvSpPr>
        <p:spPr>
          <a:xfrm>
            <a:off x="4389120" y="5120640"/>
            <a:ext cx="36576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4617720" y="51206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 = 0,017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 модели с обоими значима ECe, но вывод хрупкий; почв три, а не шесть</a:t>
            </a:r>
            <a:endParaRPr lang="en-US" sz="1600" dirty="0"/>
          </a:p>
        </p:txBody>
      </p:sp>
      <p:sp>
        <p:nvSpPr>
          <p:cNvPr id="11" name="need"/>
          <p:cNvSpPr/>
          <p:nvPr/>
        </p:nvSpPr>
        <p:spPr>
          <a:xfrm>
            <a:off x="8229600" y="5120640"/>
            <a:ext cx="338328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8412480" y="51206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Нужны почвы, где глина и соли не ходят парой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Теория смеси: уплотнение добавит ≈ +0,0095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ep-0"/>
          <p:cNvSpPr/>
          <p:nvPr/>
        </p:nvSpPr>
        <p:spPr>
          <a:xfrm>
            <a:off x="6035040" y="14173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7" name="badge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1722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Модель: √ε смеси = φтв·√4,7 + θ·√80 + φвозд·√1</a:t>
            </a:r>
            <a:endParaRPr lang="en-US" sz="1500" dirty="0"/>
          </a:p>
        </p:txBody>
      </p:sp>
      <p:sp>
        <p:nvSpPr>
          <p:cNvPr id="10" name="step-1"/>
          <p:cNvSpPr/>
          <p:nvPr/>
        </p:nvSpPr>
        <p:spPr>
          <a:xfrm>
            <a:off x="6035040" y="2304288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6172200" y="24597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17220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2304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Уплотнение 1,35 → 1,52: твёрдого больше на 0,17 / 2,63 ≈ 0,065 — вместо воздуха</a:t>
            </a:r>
            <a:endParaRPr lang="en-US" sz="1500" dirty="0"/>
          </a:p>
        </p:txBody>
      </p:sp>
      <p:sp>
        <p:nvSpPr>
          <p:cNvPr id="14" name="step-2"/>
          <p:cNvSpPr/>
          <p:nvPr/>
        </p:nvSpPr>
        <p:spPr>
          <a:xfrm>
            <a:off x="6035040" y="3191256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5" name="badge"/>
          <p:cNvSpPr/>
          <p:nvPr/>
        </p:nvSpPr>
        <p:spPr>
          <a:xfrm>
            <a:off x="6172200" y="33467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17220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31912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Пробег растёт: 0,065 × (√4,7 − 1) = 0,065 × 1,17 ≈ 0,076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6035040" y="4078224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9" name="badge"/>
          <p:cNvSpPr/>
          <p:nvPr/>
        </p:nvSpPr>
        <p:spPr>
          <a:xfrm>
            <a:off x="6172200" y="4233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17220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407822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Датчик читает это как воду вместо воздуха: 0,076 / (√80 − 1) = 0,076 / 7,94 ≈ 0,0095</a:t>
            </a:r>
            <a:endParaRPr lang="en-US" sz="1500" dirty="0"/>
          </a:p>
        </p:txBody>
      </p:sp>
      <p:sp>
        <p:nvSpPr>
          <p:cNvPr id="22" name="prediction"/>
          <p:cNvSpPr/>
          <p:nvPr/>
        </p:nvSpPr>
        <p:spPr>
          <a:xfrm>
            <a:off x="6035040" y="502920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263640" y="5029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Прогноз: ≈ +0,0095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(при ρs 2,60–2,67: +0,0094…+0,0096)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6035040" y="58978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Скрыто: та же θ, та же проводимость, нет потерь в пути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Прогноз не сбылся: какое допущение подвело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ogic"/>
          <p:cNvSpPr/>
          <p:nvPr/>
        </p:nvSpPr>
        <p:spPr>
          <a:xfrm>
            <a:off x="6309360" y="1417320"/>
            <a:ext cx="530352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537960" y="14173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модель ∧ та же θ ∧ та же проводимость ⇒ +0,0095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наблюдали −0,0017 (ДИ −0,006…+0,003) ⇒ ложно хотя бы одно звено</a:t>
            </a:r>
            <a:endParaRPr lang="en-US" sz="1600" dirty="0"/>
          </a:p>
        </p:txBody>
      </p:sp>
      <p:sp>
        <p:nvSpPr>
          <p:cNvPr id="8" name="link-0"/>
          <p:cNvSpPr/>
          <p:nvPr/>
        </p:nvSpPr>
        <p:spPr>
          <a:xfrm>
            <a:off x="6309360" y="2834640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9" name="badge"/>
          <p:cNvSpPr/>
          <p:nvPr/>
        </p:nvSpPr>
        <p:spPr>
          <a:xfrm>
            <a:off x="6446520" y="307238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4652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×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040880" y="283464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«Та же проводимость» нарушена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ECe у плотных ниже на 0,07–0,12 дСм/м; с ECe в регрессии эффект плотности +0,0004 (p = 0,51)</a:t>
            </a:r>
            <a:endParaRPr lang="en-US" sz="1600" dirty="0"/>
          </a:p>
        </p:txBody>
      </p:sp>
      <p:sp>
        <p:nvSpPr>
          <p:cNvPr id="12" name="link-1"/>
          <p:cNvSpPr/>
          <p:nvPr/>
        </p:nvSpPr>
        <p:spPr>
          <a:xfrm>
            <a:off x="6309360" y="3886200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13" name="badge"/>
          <p:cNvSpPr/>
          <p:nvPr/>
        </p:nvSpPr>
        <p:spPr>
          <a:xfrm>
            <a:off x="6446520" y="412394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4652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×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388620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«Та же влажность» нарушена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средние посчитаны по разным диапазонам влажности, а ошибка растёт с θ</a:t>
            </a:r>
            <a:endParaRPr lang="en-US" sz="1600" dirty="0"/>
          </a:p>
        </p:txBody>
      </p:sp>
      <p:sp>
        <p:nvSpPr>
          <p:cNvPr id="16" name="link-2"/>
          <p:cNvSpPr/>
          <p:nvPr/>
        </p:nvSpPr>
        <p:spPr>
          <a:xfrm>
            <a:off x="6309360" y="4937760"/>
            <a:ext cx="5303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17" name="badge"/>
          <p:cNvSpPr/>
          <p:nvPr/>
        </p:nvSpPr>
        <p:spPr>
          <a:xfrm>
            <a:off x="6446520" y="51755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4652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?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4937760"/>
            <a:ext cx="4480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Сама модель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таком виде не содержит проводимости — описывает изолятор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Малый эффект плотности нельзя ни подтвердить, ни исключить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Набухание: пересчёт эталона по объёму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Сухая: 300 мм</a:t>
            </a:r>
            <a:endParaRPr lang="en-US" sz="1700" dirty="0"/>
          </a:p>
        </p:txBody>
      </p:sp>
      <p:sp>
        <p:nvSpPr>
          <p:cNvPr id="6" name="soil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column"/>
          <p:cNvSpPr/>
          <p:nvPr/>
        </p:nvSpPr>
        <p:spPr>
          <a:xfrm>
            <a:off x="118872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8" name="rod"/>
          <p:cNvSpPr/>
          <p:nvPr/>
        </p:nvSpPr>
        <p:spPr>
          <a:xfrm>
            <a:off x="18288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rod"/>
          <p:cNvSpPr/>
          <p:nvPr/>
        </p:nvSpPr>
        <p:spPr>
          <a:xfrm>
            <a:off x="274320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Влажная: ≈ 325 мм</a:t>
            </a:r>
            <a:endParaRPr lang="en-US" sz="1700" dirty="0"/>
          </a:p>
        </p:txBody>
      </p:sp>
      <p:sp>
        <p:nvSpPr>
          <p:cNvPr id="11" name="soil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column"/>
          <p:cNvSpPr/>
          <p:nvPr/>
        </p:nvSpPr>
        <p:spPr>
          <a:xfrm>
            <a:off x="4937760" y="2148840"/>
            <a:ext cx="2194560" cy="2926080"/>
          </a:xfrm>
          <a:prstGeom prst="rect">
            <a:avLst/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13" name="rod"/>
          <p:cNvSpPr/>
          <p:nvPr/>
        </p:nvSpPr>
        <p:spPr>
          <a:xfrm>
            <a:off x="55778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rod"/>
          <p:cNvSpPr/>
          <p:nvPr/>
        </p:nvSpPr>
        <p:spPr>
          <a:xfrm>
            <a:off x="6492240" y="2148840"/>
            <a:ext cx="64008" cy="2926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wollen-top"/>
          <p:cNvSpPr/>
          <p:nvPr/>
        </p:nvSpPr>
        <p:spPr>
          <a:xfrm>
            <a:off x="4937760" y="1901952"/>
            <a:ext cx="2194560" cy="24688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почва = длина штанг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почва выше штанг на ≈ 25 мм</a:t>
            </a:r>
            <a:endParaRPr lang="en-US" sz="1500" dirty="0"/>
          </a:p>
        </p:txBody>
      </p:sp>
      <p:sp>
        <p:nvSpPr>
          <p:cNvPr id="18" name="swell-0"/>
          <p:cNvSpPr/>
          <p:nvPr/>
        </p:nvSpPr>
        <p:spPr>
          <a:xfrm>
            <a:off x="8138160" y="137160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2104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≈ 25 мм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подъём поверхности</a:t>
            </a:r>
            <a:endParaRPr lang="en-US" sz="1500" dirty="0"/>
          </a:p>
        </p:txBody>
      </p:sp>
      <p:sp>
        <p:nvSpPr>
          <p:cNvPr id="21" name="swell-1"/>
          <p:cNvSpPr/>
          <p:nvPr/>
        </p:nvSpPr>
        <p:spPr>
          <a:xfrm>
            <a:off x="8138160" y="256032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3210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8,3 %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объёмная деформация</a:t>
            </a:r>
            <a:endParaRPr lang="en-US" sz="1500" dirty="0"/>
          </a:p>
        </p:txBody>
      </p:sp>
      <p:sp>
        <p:nvSpPr>
          <p:cNvPr id="24" name="swell-2"/>
          <p:cNvSpPr/>
          <p:nvPr/>
        </p:nvSpPr>
        <p:spPr>
          <a:xfrm>
            <a:off x="8138160" y="3749040"/>
            <a:ext cx="3474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3210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0,460 &gt; 0,415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θmax больше исходной пористости</a:t>
            </a:r>
            <a:endParaRPr lang="en-US" sz="1500" dirty="0"/>
          </a:p>
        </p:txBody>
      </p:sp>
      <p:sp>
        <p:nvSpPr>
          <p:cNvPr id="27" name="swell-note"/>
          <p:cNvSpPr/>
          <p:nvPr/>
        </p:nvSpPr>
        <p:spPr>
          <a:xfrm>
            <a:off x="548640" y="5596128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59612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Делить воду на прежний объём — значит завысить эталон и занизить видимую ошибку датчика. Эталон считали по реальному объёму: дополнительной ошибки не нашли.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делать практику: светофор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l-0"/>
          <p:cNvSpPr/>
          <p:nvPr/>
        </p:nvSpPr>
        <p:spPr>
          <a:xfrm>
            <a:off x="548640" y="141732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6" name="light"/>
          <p:cNvSpPr/>
          <p:nvPr/>
        </p:nvSpPr>
        <p:spPr>
          <a:xfrm>
            <a:off x="731520" y="1655064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00200" y="141732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Лёгкие, 10–20 % физ. глины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заводская калибровка без поправки</a:t>
            </a:r>
            <a:endParaRPr lang="en-US" sz="1600" dirty="0"/>
          </a:p>
        </p:txBody>
      </p:sp>
      <p:sp>
        <p:nvSpPr>
          <p:cNvPr id="8" name="tl-1"/>
          <p:cNvSpPr/>
          <p:nvPr/>
        </p:nvSpPr>
        <p:spPr>
          <a:xfrm>
            <a:off x="548640" y="265176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9" name="light"/>
          <p:cNvSpPr/>
          <p:nvPr/>
        </p:nvSpPr>
        <p:spPr>
          <a:xfrm>
            <a:off x="731520" y="2889504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600200" y="265176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Тяжёлые, 40–65 %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среднем +0,006…+0,010 (6–10 мм в метровом слое), до +0,027 во влажной: калибровка под почву или 1–2 весовые проверки за сезон</a:t>
            </a:r>
            <a:endParaRPr lang="en-US" sz="1600" dirty="0"/>
          </a:p>
        </p:txBody>
      </p:sp>
      <p:sp>
        <p:nvSpPr>
          <p:cNvPr id="11" name="tl-2"/>
          <p:cNvSpPr/>
          <p:nvPr/>
        </p:nvSpPr>
        <p:spPr>
          <a:xfrm>
            <a:off x="548640" y="388620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2" name="light"/>
          <p:cNvSpPr/>
          <p:nvPr/>
        </p:nvSpPr>
        <p:spPr>
          <a:xfrm>
            <a:off x="731520" y="4123944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600200" y="388620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Постоянная поправка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годится: ошибка растёт с влажностью (график справа)</a:t>
            </a:r>
            <a:endParaRPr lang="en-US" sz="1600" dirty="0"/>
          </a:p>
        </p:txBody>
      </p:sp>
      <p:sp>
        <p:nvSpPr>
          <p:cNvPr id="14" name="tl-3"/>
          <p:cNvSpPr/>
          <p:nvPr/>
        </p:nvSpPr>
        <p:spPr>
          <a:xfrm>
            <a:off x="548640" y="5120640"/>
            <a:ext cx="630936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/>
        </p:spPr>
      </p:sp>
      <p:sp>
        <p:nvSpPr>
          <p:cNvPr id="15" name="light"/>
          <p:cNvSpPr/>
          <p:nvPr/>
        </p:nvSpPr>
        <p:spPr>
          <a:xfrm>
            <a:off x="731520" y="535838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600200" y="5120640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Серая зона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20–40 % физ. глины не испытаны; в поле нужна температурная поправка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132320" y="137160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wo-point"/>
          <p:cNvSpPr/>
          <p:nvPr/>
        </p:nvSpPr>
        <p:spPr>
          <a:xfrm>
            <a:off x="7132320" y="4709160"/>
            <a:ext cx="448056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15200" y="47091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Проверять в двух точках: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после полива (влажно) и перед поливом (сухо). Одна точка даёт сдвиг, две — ещё и наклон. Следствие из данных; в поле не проверено.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из работы можно взять в другие задачи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idea-0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badge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Ошибка — функция, а не число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проверять и калибровать по всему рабочему диапазону влажности</a:t>
            </a:r>
            <a:endParaRPr lang="en-US" sz="1500" dirty="0"/>
          </a:p>
        </p:txBody>
      </p:sp>
      <p:sp>
        <p:nvSpPr>
          <p:cNvPr id="10" name="idea-1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badge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Сравнивай при равных условиях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блокирование по влажности — для любого калибровочного опыта</a:t>
            </a:r>
            <a:endParaRPr lang="en-US" sz="1500" dirty="0"/>
          </a:p>
        </p:txBody>
      </p:sp>
      <p:sp>
        <p:nvSpPr>
          <p:cNvPr id="15" name="idea-2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6" name="badge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75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Прокси ходят парами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разводить связанные факторы планом опыта, а не расчётом</a:t>
            </a:r>
            <a:endParaRPr lang="en-US" sz="1500" dirty="0"/>
          </a:p>
        </p:txBody>
      </p:sp>
      <p:sp>
        <p:nvSpPr>
          <p:cNvPr id="20" name="idea-3"/>
          <p:cNvSpPr/>
          <p:nvPr/>
        </p:nvSpPr>
        <p:spPr>
          <a:xfrm>
            <a:off x="548640" y="3913632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1" name="badge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809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Несбывшийся прогноз — подарок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4223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количественная модель указывает, какое допущение проверить</a:t>
            </a:r>
            <a:endParaRPr lang="en-US" sz="1500" dirty="0"/>
          </a:p>
        </p:txBody>
      </p:sp>
      <p:sp>
        <p:nvSpPr>
          <p:cNvPr id="25" name="idea-4"/>
          <p:cNvSpPr/>
          <p:nvPr/>
        </p:nvSpPr>
        <p:spPr>
          <a:xfrm>
            <a:off x="4297680" y="3913632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6" name="badge"/>
          <p:cNvSpPr/>
          <p:nvPr/>
        </p:nvSpPr>
        <p:spPr>
          <a:xfrm>
            <a:off x="4526280" y="41422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262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809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Ошибка — в единицах решения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54223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«10 мм воды в метровом слое» понятнее, чем «0,010 м³/м³»</a:t>
            </a:r>
            <a:endParaRPr lang="en-US" sz="1500" dirty="0"/>
          </a:p>
        </p:txBody>
      </p:sp>
      <p:sp>
        <p:nvSpPr>
          <p:cNvPr id="30" name="idea-5"/>
          <p:cNvSpPr/>
          <p:nvPr/>
        </p:nvSpPr>
        <p:spPr>
          <a:xfrm>
            <a:off x="8046720" y="3913632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31" name="badge"/>
          <p:cNvSpPr/>
          <p:nvPr/>
        </p:nvSpPr>
        <p:spPr>
          <a:xfrm>
            <a:off x="8275320" y="4142232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7532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809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Тот же вопрос — другим датчикам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54223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все, кто судит о воде по проницаемости, исходят из «почва — изолятор»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Что проверить дальше: прогнозы «если — то»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24" name="if-t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0233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Если верно…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…то увидим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Решающий опыт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Завышение создаёт проводимость порового раствора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ошибка растёт вместе с ECe при засолении одной и той же почвы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ступенчатое засоление (ECe 1–4 дСм/м — сделано, отдельная статья)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Работает поверхность глин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 равной ECe ошибка больше в почве с большей долей смектита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минералогия глин; пары почв с равной ECe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Эффект плотности «съела» разница в ECe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при выровненной ECe плотный вариант ближе к прогнозу +0,009…+0,010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уплотнение одной почвы при одинаковой ECe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Эффект почвы реален, а не артефакт колонок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он сохранится в смешанной модели (колонка — случайный эффект)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переанализ 180 колоночных значений — данные уже есть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Идея: завышение задаёт проводимость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поправка по двум входам (τ и объёмная ЭП) уберёт большую часть ошибки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параллельно мерить объёмную ЭП (в этом опыте не измеряли)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Попробуйте сами выбрать решающий опыт: какой из них различит гипотезы с наименьшими затратами?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Насколько твёрдо каждое утверждение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Что делать</a:t>
            </a:r>
            <a:endParaRPr lang="en-US" sz="1100" dirty="0"/>
          </a:p>
        </p:txBody>
      </p:sp>
      <p:graphicFrame>
        <p:nvGraphicFramePr>
          <p:cNvPr id="25" name="ledg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Утверждение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Твёрдость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Что мешает сказать сильнее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Типичная ошибка ниже 0,02 во всех вариантах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лаборатория; средние по трём колонкам, без разброса между датчиками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Ошибка растёт с влажностью, сильнее в тяжёлой почве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диапазон до 0,40 (два состояния до 0,48 вне анализа); только иссушение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На равной влажности порядок A &lt; B ≤ 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уровни — состояния одних колонок; одна почва на группу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 тяжёлых почвах датчик завышает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сдвиг соизмерим с U эталона 0,005; граница A–B неустойчива к округлению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Прогноз CRIM для плотности не сбылся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</a:rPr>
                        <a:t>●●○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ECe и диапазоны влажности вариантов различались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Причина — поверхность глин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</a:rPr>
                        <a:t>●○○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MB ~ ECe: R² = 0,96; r(MH, ECe) = 0,88; три почвы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Набухание не добавляет ошибки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</a:rPr>
                        <a:t>●○○</a:t>
                      </a:r>
                      <a:endParaRPr lang="en-US" sz="20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смешано с плотностью и ECe; почва поднималась выше штанг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Три мысли, которые стоит унести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Зачем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проверяли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Что нашли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Как доказали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Что делать</a:t>
            </a:r>
            <a:endParaRPr lang="en-US" sz="1100" dirty="0"/>
          </a:p>
        </p:txBody>
      </p:sp>
      <p:sp>
        <p:nvSpPr>
          <p:cNvPr id="5" name="take-0"/>
          <p:cNvSpPr/>
          <p:nvPr/>
        </p:nvSpPr>
        <p:spPr>
          <a:xfrm>
            <a:off x="54864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6" name="badge"/>
          <p:cNvSpPr/>
          <p:nvPr/>
        </p:nvSpPr>
        <p:spPr>
          <a:xfrm>
            <a:off x="82296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Годится, но не бесплатно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RMSE 0,006–0,014 &lt; 0,02 везде. Но при 40–65 % физ. глины датчик завышает, и сильнее во влажной почве</a:t>
            </a:r>
            <a:endParaRPr lang="en-US" sz="1500" dirty="0"/>
          </a:p>
        </p:txBody>
      </p:sp>
      <p:sp>
        <p:nvSpPr>
          <p:cNvPr id="10" name="take-1"/>
          <p:cNvSpPr/>
          <p:nvPr/>
        </p:nvSpPr>
        <p:spPr>
          <a:xfrm>
            <a:off x="429768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1" name="badge"/>
          <p:cNvSpPr/>
          <p:nvPr/>
        </p:nvSpPr>
        <p:spPr>
          <a:xfrm>
            <a:off x="457200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Доказывали устойчивость, а не только p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порядок почв сохранялся на каждом уровне влажности, два разных теста согласны; слабые места показаны</a:t>
            </a:r>
            <a:endParaRPr lang="en-US" sz="1500" dirty="0"/>
          </a:p>
        </p:txBody>
      </p:sp>
      <p:sp>
        <p:nvSpPr>
          <p:cNvPr id="15" name="take-2"/>
          <p:cNvSpPr/>
          <p:nvPr/>
        </p:nvSpPr>
        <p:spPr>
          <a:xfrm>
            <a:off x="8046720" y="141732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3D2E22"/>
          </a:solidFill>
          <a:ln/>
        </p:spPr>
      </p:sp>
      <p:sp>
        <p:nvSpPr>
          <p:cNvPr id="16" name="badge"/>
          <p:cNvSpPr/>
          <p:nvPr/>
        </p:nvSpPr>
        <p:spPr>
          <a:xfrm>
            <a:off x="8321040" y="16276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1627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Гипотеза подтверждена частично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0906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связь с почвой и рост с влажностью — да; плотность — нет; механизм (глина или соли) не разделён</a:t>
            </a:r>
            <a:endParaRPr lang="en-US" sz="1500" dirty="0"/>
          </a:p>
        </p:txBody>
      </p:sp>
      <p:sp>
        <p:nvSpPr>
          <p:cNvPr id="20" name="verdict-0"/>
          <p:cNvSpPr/>
          <p:nvPr/>
        </p:nvSpPr>
        <p:spPr>
          <a:xfrm>
            <a:off x="54864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H1 · глина: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частично</a:t>
            </a:r>
            <a:endParaRPr lang="en-US" sz="1700" dirty="0"/>
          </a:p>
        </p:txBody>
      </p:sp>
      <p:sp>
        <p:nvSpPr>
          <p:cNvPr id="22" name="verdict-1"/>
          <p:cNvSpPr/>
          <p:nvPr/>
        </p:nvSpPr>
        <p:spPr>
          <a:xfrm>
            <a:off x="429768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48056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H2 · влажность: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подтверждена</a:t>
            </a:r>
            <a:endParaRPr lang="en-US" sz="1700" dirty="0"/>
          </a:p>
        </p:txBody>
      </p:sp>
      <p:sp>
        <p:nvSpPr>
          <p:cNvPr id="24" name="verdict-2"/>
          <p:cNvSpPr/>
          <p:nvPr/>
        </p:nvSpPr>
        <p:spPr>
          <a:xfrm>
            <a:off x="8046720" y="4297680"/>
            <a:ext cx="35661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H3 · плотность: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не подтверждена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Работа — карта: где датчик надёжен, где нужна проверка и какой опыт закроет пробел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Спасибо за внимание!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статистика ошибки по вариантам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</a:t>
            </a:r>
            <a:endParaRPr lang="en-US" sz="1100" dirty="0"/>
          </a:p>
        </p:txBody>
      </p:sp>
      <p:graphicFrame>
        <p:nvGraphicFramePr>
          <p:cNvPr id="27" name="table-I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005840"/>
                <a:gridCol w="1005840"/>
                <a:gridCol w="1828800"/>
                <a:gridCol w="22860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Δθ min / max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95 % ДИ для MB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 (MB = 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J_nl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+0,013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−0,0003…+0,0083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−0,0023…+0,0063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−0,003 / +0,019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+0,0006…+0,0134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−0,118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+0,0009…+0,0111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+0,010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−0,001 / +0,027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+0,0026…+0,0174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−0,306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+0,008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+0,022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+0,0013…+0,0147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−0,225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м³/м³; MB и RMSE — по средним трёх колонок, n = 10 уровней влажности. ДИ и p описательные (уровни — состояния одних колонок). J_nl &lt; 0 — правосторонняя асимметрия: крупные положительные ошибки во влажной части. Код варианта: группа, плотность (1 — 1,35; 2 — 1,52 г/см³), n — незасолённая.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дисперсионный анализ ошибки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</a:t>
            </a:r>
            <a:endParaRPr lang="en-US" sz="1100" dirty="0"/>
          </a:p>
        </p:txBody>
      </p:sp>
      <p:graphicFrame>
        <p:nvGraphicFramePr>
          <p:cNvPr id="28" name="table-I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822960"/>
                <a:gridCol w="1737360"/>
                <a:gridCol w="109728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Источник изменчивости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MS, (м³/м³)²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η²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Почва (T)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3,63·10⁻⁴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1,82·10⁻⁴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Плотность (ρb)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Взаимодействие T × ρb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3,3·10⁻⁶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1,7·10⁻⁶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Внутри вариантов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3,58·10⁻³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6,63·10⁻⁵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0,898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Всего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3,99·10⁻³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60 значений (6 вариантов × 10 уровней, средние трёх колонок); SS восстановлены по MB и RMSE вариантов. Внутривариантный член включает рост ошибки с влажностью. 20 000 симуляций округления: p для почвы 0,04–0,12, η² 0,07–0,11. Эффект плотности −0,0017, 95 % ДИ −0,006…+0,003.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свойства почв в вариантах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</a:t>
            </a:r>
            <a:endParaRPr lang="en-US" sz="1100" dirty="0"/>
          </a:p>
        </p:txBody>
      </p:sp>
      <p:graphicFrame>
        <p:nvGraphicFramePr>
          <p:cNvPr id="29" name="table-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463040"/>
                <a:gridCol w="1371600"/>
                <a:gridCol w="15544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Вариант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Группа (физ. глина, %)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ρs,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MH, %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ρb, г/см³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σ1:5,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ECe, дСм/м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2,1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0,044 ± 0,003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 ± 0,2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0,036 ± 0,002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6,5 ± 0,3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6,8 ± 0,4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0,058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11,4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0,078 ± 0,005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 ± 0,04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11,1 ± 0,6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0,062 ± 0,004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 ± 0,03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 = 3, среднее ± SD. Все ECe ниже 1 дСм/м и в 6,6–14 раз ниже порога засоления 4 дСм/м. В плотных вариантах ECe ниже на 0,07–0,12 дСм/м. Почва C2-n набухала при θ &gt; 0,40.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9184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Запасной: ограничения исследования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Запасные слайды</a:t>
            </a:r>
            <a:endParaRPr lang="en-US" sz="1100" dirty="0"/>
          </a:p>
        </p:txBody>
      </p:sp>
      <p:sp>
        <p:nvSpPr>
          <p:cNvPr id="5" name="limits-0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1. Минеральные почвы, Cорг &lt; 3 %, 20,0 ± 0,5 °C; к органогенным горизонтам выводы не относятся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2. Испытана только ветвь иссушения; при увлажнении показания могут отличаться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3. В поле нужна температурная поправка: 10 °C меняют показания на 0,02–0,08 при θ 0,2–0,4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4. До стенки колонки 59–73 мм (рекомендуется ≥ 100), штанги до дна; микрокерны в 35 мм от оси — эффекты не измерены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5. Объёмная электропроводность не измерялась; глину &lt; 0,002 мм для групп B и C оценить нельзя</a:t>
            </a:r>
            <a:endParaRPr lang="en-US" sz="1600" dirty="0"/>
          </a:p>
        </p:txBody>
      </p:sp>
      <p:sp>
        <p:nvSpPr>
          <p:cNvPr id="7" name="limits-1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6. RMSE по средним трёх колонок — без разброса между датчиками (±0,005…±0,015)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7. Дисперсионный анализ и регрессии — по сводным статистикам вариантов; нужна смешанная модель по 180 значениям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8. Систематическая часть неопределённости эталона (U = 0,005) не входит в ДИ и 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9. Засолённые варианты (ECe 1–4 дСм/м) рассмотрены в отдельной статье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10. Одна почва на группу; минералогия глин не определялась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616 Chernozem">
  <a:themeElements>
    <a:clrScheme name="CS616 Chernozem">
      <a:dk1>
        <a:srgbClr val="2A1E16"/>
      </a:dk1>
      <a:lt1>
        <a:srgbClr val="FFFFFF"/>
      </a:lt1>
      <a:dk2>
        <a:srgbClr val="5B4636"/>
      </a:dk2>
      <a:lt2>
        <a:srgbClr val="F1F3F2"/>
      </a:lt2>
      <a:accent1>
        <a:srgbClr val="1C7C8C"/>
      </a:accent1>
      <a:accent2>
        <a:srgbClr val="D9A441"/>
      </a:accent2>
      <a:accent3>
        <a:srgbClr val="B8552F"/>
      </a:accent3>
      <a:accent4>
        <a:srgbClr val="8C6A4F"/>
      </a:accent4>
      <a:accent5>
        <a:srgbClr val="6E7F80"/>
      </a:accent5>
      <a:accent6>
        <a:srgbClr val="4E8A5B"/>
      </a:accent6>
      <a:hlink>
        <a:srgbClr val="1C7C8C"/>
      </a:hlink>
      <a:folHlink>
        <a:srgbClr val="8C6A4F"/>
      </a:folHlink>
    </a:clrScheme>
    <a:fontScheme name="CS616 Chernoz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Кубанский ГАУ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Когда датчик влажности «льстит» почве: CS616 в незасолённых почвах</dc:title>
  <dc:subject>PptxGenJS Presentation</dc:subject>
  <dc:creator>Вербицкий А. Ю., Приходько И. А., Болдырева Л. М., Кесафоти Х. Е.</dc:creator>
  <cp:lastModifiedBy>Вербицкий А. Ю., Приходько И. А., Болдырева Л. М., Кесафоти Х. Е.</cp:lastModifiedBy>
  <cp:revision>1</cp:revision>
  <dcterms:created xsi:type="dcterms:W3CDTF">2026-10-08T05:21:13Z</dcterms:created>
  <dcterms:modified xsi:type="dcterms:W3CDTF">2026-10-08T05:21:13Z</dcterms:modified>
</cp:coreProperties>
</file>
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Доклад (10 минут)" id="{d9a83b5d-873b-61a3-ff0d-edc7f2254262}">
          <p14:sldIdLst>
            <p14:sldId id="256"/>
            <p14:sldId id="257"/>
            <p14:sldId id="258"/>
            <p14:sldId id="259"/>
          </p14:sldIdLst>
        </p14:section>
        <p14:section name="Опыт и результаты" id="{fd1e998f-628a-65a6-0166-a35cc12cead5}">
          <p14:sldIdLst>
            <p14:sldId id="260"/>
            <p14:sldId id="261"/>
          </p14:sldIdLst>
        </p14:section>
        <p14:section name="Доказательства" id="{d1a8703a-c05e-accc-ea9b-f15295621ffd}">
          <p14:sldIdLst>
            <p14:sldId id="262"/>
            <p14:sldId id="263"/>
            <p14:sldId id="264"/>
          </p14:sldIdLst>
        </p14:section>
        <p14:section name="Что делать" id="{2e15147c-9ab4-a491-7868-2c6b0807b7f6}">
          <p14:sldIdLst>
            <p14:sldId id="265"/>
            <p14:sldId id="266"/>
            <p14:sldId id="267"/>
          </p14:sldIdLst>
        </p14:section>
        <p14:section name="Запасные слайды" id="{0c096926-c0cf-fa11-b437-97e50465acef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20 с · к концу слайда ≈ 0:24 из 10:00]
Показать: Сделайте паузу после вопроса «а если он льстит почве?» — дайте залу секунду.
Главная мысль: Мы выяснили, когда и насколько датчик CS616 завышает влажность в трёх почвах Кубани, и как это доказать.
Уважаемые коллеги! Датчик влажности говорит: воды достаточно, поливать рано. А если он «льстит» почве и видит воду, которой нет? Сегодня — короткое расследование: кто заставляет датчик CS616 завышать влажность в трёх почвах Кубани, как мы это доказали и что с этим делать.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40 с · к концу слайда ≈ 1:08 из 10:00]
Показать: Покажите на схеме: пунктир датчика пересекает порог правее сплошной линии; отрезок между ними на оси времени — это и есть запаздывание полива.
Главная мысль: Ошибка в одну сотую — это 10 мм воды в метровом слое; если датчик завышает, полив запаздывает.
Сначала — цена вопроса. Влажность в одну сотую — это литр воды на сто литров почвы, или десять миллиметров воды в метровом слое.
Посмотрите на схему. Почва сохнет, и когда влажность опускается до порога, включается полив. Но если датчик завышает, его пунктир доходит до порога позже, и полив начинается, когда воды уже меньше, чем задумано.
Это не теория. В самой тяжёлой из наших почв у влажного края датчик показывал 0,427 вместо 0,40 — двадцать семь миллиметров воды в метровом слое, которых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41 с · к концу слайда ≈ 1:53 из 10:00]
Показать: Проведите по «дороге»: воздух, минералы, вода; на двух допущениях сделайте паузу — это ключ ко всему докладу.
Главная мысль: Датчик измеряет время пробега импульса и переводит его во влажность по «словарю», проверенному на других почвах.
Почему? Датчик не видит воду. По двум штангам бежит импульс, и прибор измеряет время пробега. Представьте дорогу из участков с разными ограничениями скорости: через минералы волна идёт примерно вдвое медленнее, чем через воздух, через воду — почти в девять раз. Больше воды — дольше дорога. А заводское уравнение, как переводчик, превращает время во влажность.
У переводчика два скрытых допущения. Первое: время пробега меняет только вода, почва — изолятор. Второе: словарь, проверенный в основном на супесях, годится для любой почвы. В наших тяжёлых почвах ни одно из них не гарантировано.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48 с · к концу слайда ≈ 2:45 из 10:00]
Показать: Укажите на облако ионов вокруг частицы глины, затем на схеме — точку, где слабый сигнал позже пересекает порог.
Главная мысль: Проводимость глин и солей ослабляет импульс, он позже пересекает порог — датчик «видит» лишнюю воду; отсюда три проверяемых предсказания.
Где первое допущение ломается? Частица глины заряжена, вокруг неё облако подвижных ионов; в порах ещё и раствор солей. Всё это проводит ток. А поверхность у глины огромная, как у сахарной пудры по сравнению с куском сахара.
Ток отнимает у импульса энергию. А прибор срабатывает по порогу, как будильник, который реагирует на громкость: тихий звонок услышишь позже. Прибор решает, что дорога была длиннее, и «видит» лишнюю воду. Связанная вода тянет в обратную сторону, поэтому решает опыт.
Отсюда три предсказания, и каждое можно опровергнуть: ошибка больше в тяжёлой почве; она растёт к насыщению; а ещё её меняет плотность — ведь при уплотнении минералы вытесняют воздух.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54 с · к концу слайда ≈ 3:43 из 10:00]
Показать: Покажите 18 колонок (3 почвы × 2 плотности × 3 повторности) и цепочку шагов слева направо; «60 средних» понадобятся на слайде 7.
Главная мысль: Датчик сдавал экзамен по весовому эталону в 18 колонках на 10 равновесных ступенях влажности.
Проверяли как на экзамене. Датчик — студент, ключ с ответами — весовой метод: почву сушат и по потере массы узнают, сколько было воды. Сам ключ точен до 0,005.
Три почвы виноградников: лёгкая, где физической глины — частиц мельче сотой миллиметра — 10–20 процентов, и две тяжёлые, до 65 процентов. Две плотности, по три колонки. Колонки насыщали и ступенями подсушивали при 20 градусах, на каждой из десяти ступеней ждали равновесия: 180 измерений, 60 средних. Так мы убрали пестроту поля, температуру и перетекание воды.
Оценивали два числа: насколько сбит прицел — систематический сдвиг — и типичный промах. Критерий: промах не больше 0,02.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50 с · к концу слайда ≈ 4:37 из 10:00]
Показать: Проведите по линиям от сухой почвы к влажной — веер раскрывается; полые кружки справа — состояния вне анализа.
Главная мысль: Типичная ошибка в норме, но средний сдвиг направлен вверх и растёт с влажностью — сильнее всего в тяжёлой почве.
Хорошая новость: типичный промах везде меньше 0,02. Но прицел сбит вверх: в лёгкой почве — на уровне погрешности, в тяжёлых, по описательной оценке, — на 6–10 миллиметров воды в метровом слое.
Главное — форма кривых. В сухой почве ошибка почти нулевая, а с увлажнением линии расходятся веером. Ошибка — не число, а функция влажности, как у спидометра, который чем быстрее едешь, тем сильнее завышает. Между влажностью 0,2 и 0,4 в самой тяжёлой почве она растёт в 2,6 раза быстрее, чем в лёгкой, и у влажного края выходит чуть за паспортный предел. Значит, постоянная поправка не сработает.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53 с · к концу слайда ≈ 5:34 из 10:00]
Показать: Сначала левая полоса: почти вся серая — это «музыка». Затем правый график: ни одна линия не идёт вниз.
Главная мысль: Общий тест заглушён ростом ошибки с влажностью; на равной влажности порядок почв устойчив — вывод описательный.
Как доказать роль почвы? Здесь ловушка. Если смешать все данные, почва объясняет лишь 9 процентов разброса ошибки, остальное — в основном рост с влажностью. Тест говорит: «не значимо». Но «нет доказательств» — не значит «невиновен». Это как разговор на концерте: он идёт, но его заглушает музыка.
Выключим музыку — сравним почвы при одной и той же влажности. Каждая линия справа — один уровень влажности, и ни одна не идёт вниз: лёгкая почва всегда ниже тяжёлых. Два разных теста — по уровням и по одному лишь порядку — согласны. Интуиция: если бы уровни были независимы, такой порядок случайно выпал бы один раз из 729. Но это состояния одних колонок, поэтому вывод описательный.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53 с · к концу слайда ≈ 6:31 из 10:00]
Показать: Слева точки вытянуты по диагонали — следы глины и солей растут вместе; справа серые столбики прогноза против красных фактических, затем цепь из трёх звеньев.
Главная мысль: Глина и соли в наших почвах растут вместе — их не разделить; прогноз для плотности не сбылся — порвалось хотя бы одно звено.
Мы подозревали глину и мерили её след — гигроскопичность. Сдвиг с ней растёт. Но рядом всё время оказывались соли: на графике слева глинистость и электропроводность растут вместе. Сдвиг объясняют обе, электропроводность даже чуть лучше, — но всего по шести точкам: три почвы, две плотности. Два подозреваемых, которых камера всегда снимает вместе: кто виноват, данные не скажут.
С плотностью — поучительная неудача. Теория смеси предсказала: уплотнение заменит воздух минералами и прибавит почти десять миллиметров. Мы увидели около минус двух. Прогноз — это цепь: модель, та же влажность, та же проводимость. Если все звенья целы, прогноз сбывается; не сбылся — значит, порвалось хотя бы одно. Кандидаты на слайде, но полностью разрыв они не объясняют — вопрос открыт.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30 с · к концу слайда ≈ 7:05 из 10:00]
Показать: Читайте таблицу сверху вниз: от «видим прямо» к «судим по следам».
Главная мысль: Прямые наблюдения твёрды, статистические выводы — средней прочности, причина — пока гипотеза; у каждого типа связи своё слабое место.
Чтобы было честно — насколько твёрд каждый вывод. Связи бывают разной природы. Прямое наблюдение: промах в норме, ошибка растёт с влажностью — твёрдо. Статистический вывод: порядок почв на равной влажности — средне, ведь почва в группе одна. Модель: прогноз для плотности не сбылся — средне, условия сравнения не были равными. Косвенный показатель: виновата именно глина — слабо. Слабые места — это адреса следующих опытов.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36 с · к концу слайда ≈ 7:45 из 10:00]
Показать: Пройдите светофор сверху вниз; на графике покажите, что после вычитания константы бирюзовая линия всё равно уходит вверх.
Главная мысль: Лёгкие незасолённые почвы — без поправки; тяжёлые — калибровка или весовая проверка; постоянная поправка не годится.
Что делать уже сейчас? Зелёный: в лёгких незасолённых почвах, похожих на нашу, заводская калибровка годится. Жёлтый: в тяжёлых почвах, если порог полива стоит у наименьшей влагоёмкости, калибруйте датчик под почву или проверяйте весовым методом раз-два за сезон. Красный: постоянная поправка ошибается и в сухой, и во влажной почве. Наше предложение, в поле пока не проверенное: брать пробы в двух точках, после полива и перед поливом. Серое: средние почвы мы не испытывали, а в поле нужна температурная поправка.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38 с · к концу слайда ≈ 8:27 из 10:00]
Показать: Задайте залу вопрос «какой опыт решающий?» и выдержите паузу 2–3 секунды.
Главная мысль: Следующие шаги — проверяемые прогнозы; самый дешёвый — переанализ уже имеющихся 180 значений.
Как закрыть дело? Каждый шаг — прогноз, который может не сбыться. Если виноваты соли, ошибка вырастет с электропроводностью; засолённые варианты мы разбираем в отдельной статье. Если глина — при равной электропроводности ошибка будет больше там, где больше смектита. Если эффект почвы реален, он переживёт смешанную модель, которая учтёт разброс между колонками, по всем 180 измерениям, а данные уже есть. И идея: поправка по двум входам, время пробега плюс электропроводность. Так же стоит проверять любой датчик, который судит о воде по проницаемости.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[≈ 29 с · к концу слайда ≈ 9:00 из 10:00]
Показать: Закончите на «Спасибо» и переходите к вопросам; запасные слайды 13–21 под рукой.
Главная мысль: Калибровка годится, но в тяжёлых почвах завышает, и сильнее во влажной; доказывать нужно устойчивость; механизм пока открыт.
Три мысли напоследок. Первая: по критерию 0,02 заводская калибровка годится, но не бесплатно — в тяжёлых почвах датчик завышает, и тем сильнее, чем влажнее почва. Вторая: доказывать нужно устойчивость, а не только «p меньше 0,05». Третья: гипотеза подтвердилась частично — связь с почвой и влажностью есть, механизм не разделён, плотность не подтвердилась. Именно это показывает, куда идти дальше. Спасибо!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спрашивают, на чём стоит работа и как связаны теории. Связи четырёх типов: механизм, количественная модель, косвенный показатель, статистический вывод; у каждого своё слабое место.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 о надёжности эталона, статистики или колонок. Эта таблица объясняет, почему p-значения названы описательными, а выводы относятся к изученным почвам.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просят объяснить, откуда +0,0095. Модель: время пробега складывается из времён через фазы; уплотнение при той же влажности заменяет воздух минералами; заводская шкала читает удлинение пробега как воду вместо воздуха.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 о набухании. Почва C при 1,52 г/см³ набухла: подъём ≈ 25 мм, объёмная деформация 8,3 %, θmax 0,460 &gt; исходной пористости 0,415. Эталон считали по реальному объёму; дополнительной ошибки не нашли, но сравнение смешано с плотностью и ECe, а почва поднималась выше штанг.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 о сравнении с паспортом и зарубежными работами. Физическая глина по Качинскому — частицы &lt; 0,01 мм; глина по USDA и в паспорте — &lt; 0,002 мм. В группе A условие паспорта (&lt; 30 % глины) выполнено заведомо; для B и C проверить нельзя.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 при вопросах о точности, доверительных интервалах и асимметрии. MB и RMSE — по средним трёх колонок, n = 10 уровней влажности; ДИ и p описательные (уровни — состояния одних колонок). J_nl &lt; 0 — правосторонняя асимметрия: крупные положительные ошибки приходятся на влажную часть диапазона.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 при вопросах о p = 0,074 и долях изменчивости. Суммы квадратов восстановлены по MB и RMSE вариантов; внутривариантный член включает зависимость ошибки от влажности. 20 000 симуляций ошибки округления: центральные 95 % для p эффекта почвы — 0,04–0,12, для η² — 0,07–0,11.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 при вопросах о засолённости, плотности частиц и гигроскопичности. Все ECe ниже 1 дСм/м и в 6,6–14 раз ниже порога засоления 4 дСм/м. В плотных вариантах ECe ниже на 0,07–0,12 дСм/м — это важно для слайда о плотности.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[Запасной слайд — показывать только при вопросах; во время доклада не используется]
Показывать, если спрашивают о переносе на поле, о статистике или о методике. Каждое ограничение сформулировано так, как в статье.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364224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31C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364224"/>
            <a:ext cx="10820095" cy="0"/>
          </a:xfrm>
          <a:prstGeom prst="line">
            <a:avLst/>
          </a:prstGeom>
          <a:noFill/>
          <a:ln w="9525">
            <a:solidFill>
              <a:srgbClr val="453A32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280160"/>
            <a:ext cx="65836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U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364224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128016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Когда датчик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влажности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«льстит» почве</a:t>
            </a:r>
            <a:endParaRPr lang="en-US" sz="4000" dirty="0"/>
          </a:p>
        </p:txBody>
      </p:sp>
      <p:pic>
        <p:nvPicPr>
          <p:cNvPr id="4" name="Image 0" descr="Почвенный керн с датчиком CS616: импульс бежит по штангам и возвращаетс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0"/>
            <a:ext cx="4785055" cy="6858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914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ДАТЧИКИ ВЛАЖНОСТИ CS616 · ТРИ ПОЧВЫ КУБАНИ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3310128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Систематическая погрешность заводской калибровки датчиков влажности CS616 в незасолённых почвах разного гранулометрического состава</a:t>
            </a:r>
            <a:endParaRPr lang="en-US" sz="1700" dirty="0"/>
          </a:p>
        </p:txBody>
      </p:sp>
      <p:sp>
        <p:nvSpPr>
          <p:cNvPr id="7" name="rule"/>
          <p:cNvSpPr/>
          <p:nvPr/>
        </p:nvSpPr>
        <p:spPr>
          <a:xfrm>
            <a:off x="685800" y="4572000"/>
            <a:ext cx="64008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Вербицкий А. Ю., Приходько И. А., Болдырева Л. М., Кесафоти Х. Е.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5120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Кубанский государственный аграрный университет имени И. Т. Трубилина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5394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Краснодар,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Зачем: 0,01 — это 10 мм воды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ЦЕНА ВОПРОСА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проверяли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нашли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доказали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делать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Ошибка 0,01 м³/м³ — это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116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10 мм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88036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воды в метровом слое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1 л на 100 л почвы · 100 м³ на гектар</a:t>
            </a:r>
            <a:endParaRPr lang="en-US" sz="1500" dirty="0"/>
          </a:p>
        </p:txBody>
      </p:sp>
      <p:sp>
        <p:nvSpPr>
          <p:cNvPr id="9" name="rule"/>
          <p:cNvSpPr/>
          <p:nvPr/>
        </p:nvSpPr>
        <p:spPr>
          <a:xfrm>
            <a:off x="685800" y="3639312"/>
            <a:ext cx="4297680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Наш опыт: самая тяжёлая почва, влажный край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0233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</a:rPr>
              <a:t>27 мм</a:t>
            </a:r>
            <a:endParaRPr lang="en-US" sz="6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919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воды, которой нет: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эталон 0,40 → датчик 0,427</a:t>
            </a:r>
            <a:endParaRPr lang="en-US" sz="1500" dirty="0"/>
          </a:p>
        </p:txBody>
      </p:sp>
      <p:pic>
        <p:nvPicPr>
          <p:cNvPr id="13" name="Image 0" descr="Certific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1441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55046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Паспорт ±0,025 проверен в основном на супесях;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у нас физической глины до 65 %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5715000" y="1783080"/>
            <a:ext cx="578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СХЕМА · ПОЧЕМУ ЗАВЫШЕНИЕ ОПАСНО ДЛЯ ПОЛИВА</a:t>
            </a:r>
            <a:endParaRPr lang="en-US" sz="1100" dirty="0"/>
          </a:p>
        </p:txBody>
      </p:sp>
      <p:sp>
        <p:nvSpPr>
          <p:cNvPr id="16" name="line"/>
          <p:cNvSpPr/>
          <p:nvPr/>
        </p:nvSpPr>
        <p:spPr>
          <a:xfrm flipV="1">
            <a:off x="5989320" y="2240280"/>
            <a:ext cx="0" cy="2953512"/>
          </a:xfrm>
          <a:prstGeom prst="line">
            <a:avLst/>
          </a:prstGeom>
          <a:noFill/>
          <a:ln w="12700">
            <a:solidFill>
              <a:srgbClr val="B5ADA5"/>
            </a:solidFill>
            <a:prstDash val="solid"/>
            <a:tailEnd type="triangle"/>
          </a:ln>
        </p:spPr>
      </p:sp>
      <p:sp>
        <p:nvSpPr>
          <p:cNvPr id="17" name="line"/>
          <p:cNvSpPr/>
          <p:nvPr/>
        </p:nvSpPr>
        <p:spPr>
          <a:xfrm>
            <a:off x="5989320" y="5193792"/>
            <a:ext cx="5440680" cy="0"/>
          </a:xfrm>
          <a:prstGeom prst="line">
            <a:avLst/>
          </a:prstGeom>
          <a:noFill/>
          <a:ln w="12700">
            <a:solidFill>
              <a:srgbClr val="B5ADA5"/>
            </a:solidFill>
            <a:prstDash val="solid"/>
            <a:tailEnd type="triangle"/>
          </a:ln>
        </p:spPr>
      </p:sp>
      <p:sp>
        <p:nvSpPr>
          <p:cNvPr id="18" name="Text 14"/>
          <p:cNvSpPr txBox="1"/>
          <p:nvPr/>
        </p:nvSpPr>
        <p:spPr>
          <a:xfrm rot="16200000">
            <a:off x="5056632" y="35890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влажность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0698480" y="52578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время</a:t>
            </a:r>
            <a:endParaRPr lang="en-US" sz="1200" dirty="0"/>
          </a:p>
        </p:txBody>
      </p:sp>
      <p:sp>
        <p:nvSpPr>
          <p:cNvPr id="20" name="threshold"/>
          <p:cNvSpPr/>
          <p:nvPr/>
        </p:nvSpPr>
        <p:spPr>
          <a:xfrm>
            <a:off x="5989320" y="4160520"/>
            <a:ext cx="521208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6099048" y="3858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порог полива</a:t>
            </a:r>
            <a:endParaRPr lang="en-US" sz="1250" dirty="0"/>
          </a:p>
        </p:txBody>
      </p:sp>
      <p:sp>
        <p:nvSpPr>
          <p:cNvPr id="22" name="true-theta"/>
          <p:cNvSpPr/>
          <p:nvPr/>
        </p:nvSpPr>
        <p:spPr>
          <a:xfrm>
            <a:off x="6080760" y="2743200"/>
            <a:ext cx="5120640" cy="2395728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</a:ln>
        </p:spPr>
      </p:sp>
      <p:sp>
        <p:nvSpPr>
          <p:cNvPr id="23" name="sensor-theta"/>
          <p:cNvSpPr/>
          <p:nvPr/>
        </p:nvSpPr>
        <p:spPr>
          <a:xfrm>
            <a:off x="6080760" y="2331720"/>
            <a:ext cx="5120640" cy="2624328"/>
          </a:xfrm>
          <a:prstGeom prst="line">
            <a:avLst/>
          </a:prstGeom>
          <a:noFill/>
          <a:ln w="34925">
            <a:solidFill>
              <a:schemeClr val="accent3"/>
            </a:solidFill>
            <a:prstDash val="dash"/>
          </a:ln>
        </p:spPr>
      </p:sp>
      <p:sp>
        <p:nvSpPr>
          <p:cNvPr id="24" name="line"/>
          <p:cNvSpPr/>
          <p:nvPr/>
        </p:nvSpPr>
        <p:spPr>
          <a:xfrm>
            <a:off x="8778240" y="2395728"/>
            <a:ext cx="411480" cy="0"/>
          </a:xfrm>
          <a:prstGeom prst="line">
            <a:avLst/>
          </a:prstGeom>
          <a:noFill/>
          <a:ln w="34925">
            <a:solidFill>
              <a:schemeClr val="accent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9281160" y="227685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фактическая влажность (эталон)</a:t>
            </a:r>
            <a:endParaRPr lang="en-US" sz="1200" dirty="0"/>
          </a:p>
        </p:txBody>
      </p:sp>
      <p:sp>
        <p:nvSpPr>
          <p:cNvPr id="26" name="line"/>
          <p:cNvSpPr/>
          <p:nvPr/>
        </p:nvSpPr>
        <p:spPr>
          <a:xfrm>
            <a:off x="8778240" y="2697480"/>
            <a:ext cx="411480" cy="0"/>
          </a:xfrm>
          <a:prstGeom prst="line">
            <a:avLst/>
          </a:prstGeom>
          <a:noFill/>
          <a:ln w="34925">
            <a:solidFill>
              <a:schemeClr val="accent3"/>
            </a:solidFill>
            <a:prstDash val="dash"/>
          </a:ln>
        </p:spPr>
      </p:sp>
      <p:sp>
        <p:nvSpPr>
          <p:cNvPr id="27" name="Text 23"/>
          <p:cNvSpPr txBox="1"/>
          <p:nvPr/>
        </p:nvSpPr>
        <p:spPr>
          <a:xfrm>
            <a:off x="9281160" y="2578608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показания датчика</a:t>
            </a:r>
            <a:endParaRPr lang="en-US" sz="1200" dirty="0"/>
          </a:p>
        </p:txBody>
      </p:sp>
      <p:sp>
        <p:nvSpPr>
          <p:cNvPr id="28" name="line"/>
          <p:cNvSpPr/>
          <p:nvPr/>
        </p:nvSpPr>
        <p:spPr>
          <a:xfrm>
            <a:off x="9110146" y="4160520"/>
            <a:ext cx="0" cy="1033272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ysDot"/>
          </a:ln>
        </p:spPr>
      </p:sp>
      <p:sp>
        <p:nvSpPr>
          <p:cNvPr id="29" name="line"/>
          <p:cNvSpPr/>
          <p:nvPr/>
        </p:nvSpPr>
        <p:spPr>
          <a:xfrm>
            <a:off x="9649150" y="4160520"/>
            <a:ext cx="0" cy="1033272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ysDot"/>
          </a:ln>
        </p:spPr>
      </p:sp>
      <p:sp>
        <p:nvSpPr>
          <p:cNvPr id="30" name="delay"/>
          <p:cNvSpPr/>
          <p:nvPr/>
        </p:nvSpPr>
        <p:spPr>
          <a:xfrm>
            <a:off x="9110146" y="5152644"/>
            <a:ext cx="539004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1" name="marker"/>
          <p:cNvSpPr/>
          <p:nvPr/>
        </p:nvSpPr>
        <p:spPr>
          <a:xfrm>
            <a:off x="9027850" y="4078224"/>
            <a:ext cx="164592" cy="164592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marker"/>
          <p:cNvSpPr/>
          <p:nvPr/>
        </p:nvSpPr>
        <p:spPr>
          <a:xfrm>
            <a:off x="9566854" y="4078224"/>
            <a:ext cx="164592" cy="164592"/>
          </a:xfrm>
          <a:prstGeom prst="ellipse">
            <a:avLst/>
          </a:prstGeom>
          <a:solidFill>
            <a:schemeClr val="accent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835826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</a:t>
            </a:r>
            <a:pPr algn="ctr" indent="0" marL="0">
              <a:buNone/>
            </a:pPr>
            <a:r>
              <a:rPr lang="en-US" sz="1400" b="1" baseline="-40000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9374830" y="5257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</a:t>
            </a:r>
            <a:pPr algn="ctr" indent="0" marL="0">
              <a:buNone/>
            </a:pPr>
            <a:r>
              <a:rPr lang="en-US" sz="1400" b="1" baseline="-40000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5715000" y="5486400"/>
            <a:ext cx="5788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1300" b="1" baseline="-40000" dirty="0">
                <a:solidFill>
                  <a:schemeClr val="tx1"/>
                </a:solidFill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— пора поливать; 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1300" b="1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 — датчик «разрешает» полив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5715000" y="5779008"/>
            <a:ext cx="5788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Отрезок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1350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−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1350" baseline="-40000" dirty="0">
                <a:solidFill>
                  <a:schemeClr val="tx1"/>
                </a:solidFill>
              </a:rPr>
              <a:t>1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— запаздывание: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полив начинается, когда воды уже меньше, чем задумано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Датчик измеряет время, а не воду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КАК РАБОТАЕТ ДАТЧИК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проверяли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нашли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доказали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делать</a:t>
            </a:r>
            <a:endParaRPr lang="en-US" sz="1000" dirty="0"/>
          </a:p>
        </p:txBody>
      </p:sp>
      <p:pic>
        <p:nvPicPr>
          <p:cNvPr id="6" name="Image 0" descr="Датчик в почве и увеличенный фрагмент: минеральные зёрна, вода, воздух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5120640" cy="2886179"/>
          </a:xfrm>
          <a:prstGeom prst="rect">
            <a:avLst/>
          </a:prstGeom>
        </p:spPr>
      </p:pic>
      <p:sp>
        <p:nvSpPr>
          <p:cNvPr id="7" name="line"/>
          <p:cNvSpPr/>
          <p:nvPr/>
        </p:nvSpPr>
        <p:spPr>
          <a:xfrm flipV="1">
            <a:off x="4894035" y="2679358"/>
            <a:ext cx="994701" cy="45720"/>
          </a:xfrm>
          <a:prstGeom prst="line">
            <a:avLst/>
          </a:prstGeom>
          <a:noFill/>
          <a:ln w="11430">
            <a:solidFill>
              <a:srgbClr val="231C1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943600" y="255134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минералы</a:t>
            </a:r>
            <a:endParaRPr lang="en-US" sz="1300" dirty="0"/>
          </a:p>
        </p:txBody>
      </p:sp>
      <p:sp>
        <p:nvSpPr>
          <p:cNvPr id="9" name="line"/>
          <p:cNvSpPr/>
          <p:nvPr/>
        </p:nvSpPr>
        <p:spPr>
          <a:xfrm>
            <a:off x="5015068" y="3637483"/>
            <a:ext cx="873668" cy="0"/>
          </a:xfrm>
          <a:prstGeom prst="line">
            <a:avLst/>
          </a:prstGeom>
          <a:noFill/>
          <a:ln w="11430">
            <a:solidFill>
              <a:srgbClr val="231C1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43600" y="3509467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вода</a:t>
            </a:r>
            <a:endParaRPr lang="en-US" sz="1300" dirty="0"/>
          </a:p>
        </p:txBody>
      </p:sp>
      <p:sp>
        <p:nvSpPr>
          <p:cNvPr id="11" name="line"/>
          <p:cNvSpPr/>
          <p:nvPr/>
        </p:nvSpPr>
        <p:spPr>
          <a:xfrm>
            <a:off x="4679899" y="3795758"/>
            <a:ext cx="1208837" cy="164592"/>
          </a:xfrm>
          <a:prstGeom prst="line">
            <a:avLst/>
          </a:prstGeom>
          <a:noFill/>
          <a:ln w="11430">
            <a:solidFill>
              <a:srgbClr val="231C1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943600" y="383233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воздух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540325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импульс бежит по штангам туда и обратно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49377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ВО СКОЛЬКО РАЗ ВОЛНА ИДЁТ МЕДЛЕННЕЕ, ЧЕМ В ВОЗДУХЕ (√ε)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52669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воздух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783080" y="5312664"/>
            <a:ext cx="475488" cy="219456"/>
          </a:xfrm>
          <a:prstGeom prst="rect">
            <a:avLst/>
          </a:prstGeom>
          <a:solidFill>
            <a:srgbClr val="EFE9DF"/>
          </a:solidFill>
          <a:ln w="9525">
            <a:solidFill>
              <a:srgbClr val="CFC6B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350008" y="52669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56144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минералы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783080" y="5660136"/>
            <a:ext cx="1031809" cy="219456"/>
          </a:xfrm>
          <a:prstGeom prst="rect">
            <a:avLst/>
          </a:prstGeom>
          <a:solidFill>
            <a:srgbClr val="D2B184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2906329" y="56144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≈ 2,2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" y="59618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вода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783080" y="6007608"/>
            <a:ext cx="4250863" cy="219456"/>
          </a:xfrm>
          <a:prstGeom prst="rect">
            <a:avLst/>
          </a:prstGeom>
          <a:solidFill>
            <a:srgbClr val="46B7C6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125383" y="59618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≈ 8,9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6995160" y="1783080"/>
            <a:ext cx="45107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ПРИБОР — «ПЕРЕВОДЧИК»</a:t>
            </a:r>
            <a:endParaRPr lang="en-US" sz="1100" dirty="0"/>
          </a:p>
        </p:txBody>
      </p:sp>
      <p:sp>
        <p:nvSpPr>
          <p:cNvPr id="25" name="icon-disc"/>
          <p:cNvSpPr/>
          <p:nvPr/>
        </p:nvSpPr>
        <p:spPr>
          <a:xfrm>
            <a:off x="7031736" y="2148840"/>
            <a:ext cx="658368" cy="658368"/>
          </a:xfrm>
          <a:prstGeom prst="ellipse">
            <a:avLst/>
          </a:prstGeom>
          <a:solidFill>
            <a:srgbClr val="E2F1F3"/>
          </a:solidFill>
          <a:ln/>
        </p:spPr>
      </p:sp>
      <p:pic>
        <p:nvPicPr>
          <p:cNvPr id="26" name="Image 1" descr="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896" y="2286000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492240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время пробега τ</a:t>
            </a:r>
            <a:endParaRPr lang="en-US" sz="1250" dirty="0"/>
          </a:p>
        </p:txBody>
      </p:sp>
      <p:sp>
        <p:nvSpPr>
          <p:cNvPr id="28" name="line"/>
          <p:cNvSpPr/>
          <p:nvPr/>
        </p:nvSpPr>
        <p:spPr>
          <a:xfrm>
            <a:off x="7799832" y="2478024"/>
            <a:ext cx="1011784" cy="0"/>
          </a:xfrm>
          <a:prstGeom prst="line">
            <a:avLst/>
          </a:prstGeom>
          <a:noFill/>
          <a:ln w="15875">
            <a:solidFill>
              <a:srgbClr val="B5ADA5"/>
            </a:solidFill>
            <a:prstDash val="solid"/>
            <a:tailEnd type="triangle"/>
          </a:ln>
        </p:spPr>
      </p:sp>
      <p:sp>
        <p:nvSpPr>
          <p:cNvPr id="29" name="icon-disc"/>
          <p:cNvSpPr/>
          <p:nvPr/>
        </p:nvSpPr>
        <p:spPr>
          <a:xfrm>
            <a:off x="8921344" y="2148840"/>
            <a:ext cx="658368" cy="658368"/>
          </a:xfrm>
          <a:prstGeom prst="ellipse">
            <a:avLst/>
          </a:prstGeom>
          <a:solidFill>
            <a:srgbClr val="E2F1F3"/>
          </a:solidFill>
          <a:ln/>
        </p:spPr>
      </p:sp>
      <p:pic>
        <p:nvPicPr>
          <p:cNvPr id="30" name="Image 2" descr="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504" y="2286000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381848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заводское уравнение — «словарь»</a:t>
            </a:r>
            <a:endParaRPr lang="en-US" sz="1250" dirty="0"/>
          </a:p>
        </p:txBody>
      </p:sp>
      <p:sp>
        <p:nvSpPr>
          <p:cNvPr id="32" name="line"/>
          <p:cNvSpPr/>
          <p:nvPr/>
        </p:nvSpPr>
        <p:spPr>
          <a:xfrm>
            <a:off x="9689440" y="2478024"/>
            <a:ext cx="1011784" cy="0"/>
          </a:xfrm>
          <a:prstGeom prst="line">
            <a:avLst/>
          </a:prstGeom>
          <a:noFill/>
          <a:ln w="15875">
            <a:solidFill>
              <a:srgbClr val="B5ADA5"/>
            </a:solidFill>
            <a:prstDash val="solid"/>
            <a:tailEnd type="triangle"/>
          </a:ln>
        </p:spPr>
      </p:sp>
      <p:sp>
        <p:nvSpPr>
          <p:cNvPr id="33" name="icon-disc"/>
          <p:cNvSpPr/>
          <p:nvPr/>
        </p:nvSpPr>
        <p:spPr>
          <a:xfrm>
            <a:off x="10810951" y="2148840"/>
            <a:ext cx="658368" cy="658368"/>
          </a:xfrm>
          <a:prstGeom prst="ellipse">
            <a:avLst/>
          </a:prstGeom>
          <a:solidFill>
            <a:srgbClr val="E2F1F3"/>
          </a:solidFill>
          <a:ln/>
        </p:spPr>
      </p:sp>
      <p:pic>
        <p:nvPicPr>
          <p:cNvPr id="34" name="Image 3" descr="Drop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8111" y="2286000"/>
            <a:ext cx="384048" cy="38404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0271455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влажность θ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6995160" y="347472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Два скрытых допущения переводчика</a:t>
            </a:r>
            <a:endParaRPr lang="en-US" sz="1800" dirty="0"/>
          </a:p>
        </p:txBody>
      </p:sp>
      <p:sp>
        <p:nvSpPr>
          <p:cNvPr id="37" name="Text 30"/>
          <p:cNvSpPr txBox="1"/>
          <p:nvPr/>
        </p:nvSpPr>
        <p:spPr>
          <a:xfrm>
            <a:off x="6995160" y="385876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38" name="Text 31"/>
          <p:cNvSpPr txBox="1"/>
          <p:nvPr/>
        </p:nvSpPr>
        <p:spPr>
          <a:xfrm>
            <a:off x="7498080" y="3931920"/>
            <a:ext cx="4007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Почва для волны — изолятор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время пробега меняет только вода; сигнал по пути не теряет энергию</a:t>
            </a:r>
            <a:endParaRPr lang="en-US" sz="1600" dirty="0"/>
          </a:p>
        </p:txBody>
      </p:sp>
      <p:sp>
        <p:nvSpPr>
          <p:cNvPr id="39" name="Text 32"/>
          <p:cNvSpPr txBox="1"/>
          <p:nvPr/>
        </p:nvSpPr>
        <p:spPr>
          <a:xfrm>
            <a:off x="6995160" y="463600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40" name="Text 33"/>
          <p:cNvSpPr txBox="1"/>
          <p:nvPr/>
        </p:nvSpPr>
        <p:spPr>
          <a:xfrm>
            <a:off x="7498080" y="4709160"/>
            <a:ext cx="40078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Словарь универсален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уравнение, проверенное в основном на супесях, верно для любой почвы</a:t>
            </a:r>
            <a:endParaRPr lang="en-US" sz="1600" dirty="0"/>
          </a:p>
        </p:txBody>
      </p:sp>
      <p:sp>
        <p:nvSpPr>
          <p:cNvPr id="41" name="rule"/>
          <p:cNvSpPr/>
          <p:nvPr/>
        </p:nvSpPr>
        <p:spPr>
          <a:xfrm>
            <a:off x="6995160" y="5532120"/>
            <a:ext cx="451073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pic>
        <p:nvPicPr>
          <p:cNvPr id="42" name="Image 4" descr="AlertTriang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5641848"/>
            <a:ext cx="310896" cy="310896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7434072" y="5596128"/>
            <a:ext cx="407182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Шкала гарантирована при электропроводности &lt; 0,5 дСм/м, плотности &lt; 1,55 г/см³, глине (&lt; 0,002 мм) &lt; 30 %. </a:t>
            </a:r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В наших тяжёлых почвах это не гарантировано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Главный подозреваемый — глина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ГИПОТЕЗА И ПРЕДСКАЗАНИЯ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Зачем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проверяли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нашли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доказали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делать</a:t>
            </a:r>
            <a:endParaRPr lang="en-US" sz="1000" dirty="0"/>
          </a:p>
        </p:txBody>
      </p:sp>
      <p:pic>
        <p:nvPicPr>
          <p:cNvPr id="6" name="Image 0" descr="Частица глины с отрицательным зарядом, облако катионов и соли в поровом раствор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45920"/>
            <a:ext cx="4343400" cy="3088640"/>
          </a:xfrm>
          <a:prstGeom prst="rect">
            <a:avLst/>
          </a:prstGeom>
        </p:spPr>
      </p:pic>
      <p:sp>
        <p:nvSpPr>
          <p:cNvPr id="7" name="badge"/>
          <p:cNvSpPr/>
          <p:nvPr/>
        </p:nvSpPr>
        <p:spPr>
          <a:xfrm>
            <a:off x="685800" y="4864608"/>
            <a:ext cx="219456" cy="21945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85800" y="48646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+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78408" y="48463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облако катионов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313432" y="4873752"/>
            <a:ext cx="310896" cy="201168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2313432" y="487375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−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679192" y="4846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частица глины</a:t>
            </a:r>
            <a:endParaRPr lang="en-US" sz="1200" dirty="0"/>
          </a:p>
        </p:txBody>
      </p:sp>
      <p:sp>
        <p:nvSpPr>
          <p:cNvPr id="13" name="badge"/>
          <p:cNvSpPr/>
          <p:nvPr/>
        </p:nvSpPr>
        <p:spPr>
          <a:xfrm>
            <a:off x="3785616" y="4873752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3785616" y="4873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+</a:t>
            </a:r>
            <a:endParaRPr lang="en-US" sz="1100" dirty="0"/>
          </a:p>
        </p:txBody>
      </p:sp>
      <p:sp>
        <p:nvSpPr>
          <p:cNvPr id="15" name="badge"/>
          <p:cNvSpPr/>
          <p:nvPr/>
        </p:nvSpPr>
        <p:spPr>
          <a:xfrm>
            <a:off x="3986784" y="4873752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986784" y="4873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−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251960" y="48463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соли</a:t>
            </a:r>
            <a:endParaRPr lang="en-US" sz="1200" dirty="0"/>
          </a:p>
        </p:txBody>
      </p:sp>
      <p:pic>
        <p:nvPicPr>
          <p:cNvPr id="18" name="Image 1" descr="Cub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21808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7280" y="527608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Поверхность смектита 600–800 м²/г: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как сахарная пудра против куска сахара</a:t>
            </a:r>
            <a:endParaRPr lang="en-US" sz="1300" dirty="0"/>
          </a:p>
        </p:txBody>
      </p:sp>
      <p:pic>
        <p:nvPicPr>
          <p:cNvPr id="20" name="Image 2" descr="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8338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97280" y="57881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Обратная сила: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связанная вода тянет показания вниз — поэтому решает опыт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1783080"/>
            <a:ext cx="5836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СХЕМА · ПРИБОР СРАБАТЫВАЕТ ПО ПОРОГУ, КАК БУДИЛЬНИК ПО ГРОМКОСТИ</a:t>
            </a:r>
            <a:endParaRPr lang="en-US" sz="1100" dirty="0"/>
          </a:p>
        </p:txBody>
      </p:sp>
      <p:sp>
        <p:nvSpPr>
          <p:cNvPr id="23" name="line"/>
          <p:cNvSpPr/>
          <p:nvPr/>
        </p:nvSpPr>
        <p:spPr>
          <a:xfrm flipV="1">
            <a:off x="5897880" y="2148840"/>
            <a:ext cx="0" cy="1618488"/>
          </a:xfrm>
          <a:prstGeom prst="line">
            <a:avLst/>
          </a:prstGeom>
          <a:noFill/>
          <a:ln w="12700">
            <a:solidFill>
              <a:srgbClr val="B5ADA5"/>
            </a:solidFill>
            <a:prstDash val="solid"/>
            <a:tailEnd type="triangle"/>
          </a:ln>
        </p:spPr>
      </p:sp>
      <p:sp>
        <p:nvSpPr>
          <p:cNvPr id="24" name="line"/>
          <p:cNvSpPr/>
          <p:nvPr/>
        </p:nvSpPr>
        <p:spPr>
          <a:xfrm>
            <a:off x="5897880" y="3767328"/>
            <a:ext cx="4206240" cy="0"/>
          </a:xfrm>
          <a:prstGeom prst="line">
            <a:avLst/>
          </a:prstGeom>
          <a:noFill/>
          <a:ln w="12700">
            <a:solidFill>
              <a:srgbClr val="B5ADA5"/>
            </a:solidFill>
            <a:prstDash val="solid"/>
            <a:tailEnd type="triangle"/>
          </a:ln>
        </p:spPr>
      </p:sp>
      <p:sp>
        <p:nvSpPr>
          <p:cNvPr id="25" name="Text 19"/>
          <p:cNvSpPr txBox="1"/>
          <p:nvPr/>
        </p:nvSpPr>
        <p:spPr>
          <a:xfrm rot="16200000">
            <a:off x="4965192" y="2898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сила сигнала</a:t>
            </a:r>
            <a:endParaRPr lang="en-US" sz="1150" dirty="0"/>
          </a:p>
        </p:txBody>
      </p:sp>
      <p:sp>
        <p:nvSpPr>
          <p:cNvPr id="26" name="threshold"/>
          <p:cNvSpPr/>
          <p:nvPr/>
        </p:nvSpPr>
        <p:spPr>
          <a:xfrm>
            <a:off x="5897880" y="3248863"/>
            <a:ext cx="41148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</a:ln>
        </p:spPr>
      </p:sp>
      <p:sp>
        <p:nvSpPr>
          <p:cNvPr id="27" name="strong-signal"/>
          <p:cNvSpPr/>
          <p:nvPr/>
        </p:nvSpPr>
        <p:spPr>
          <a:xfrm>
            <a:off x="5897880" y="2287351"/>
            <a:ext cx="4114800" cy="1479977"/>
          </a:xfrm>
          <a:custGeom>
            <a:avLst/>
            <a:gdLst/>
            <a:ahLst/>
            <a:cxnLst/>
            <a:rect l="l" t="t" r="r" b="b"/>
            <a:pathLst>
              <a:path w="4114800" h="1479977">
                <a:moveTo>
                  <a:pt x="0" y="1479977"/>
                </a:moveTo>
                <a:lnTo>
                  <a:pt x="73479" y="1305917"/>
                </a:lnTo>
                <a:lnTo>
                  <a:pt x="146957" y="1152309"/>
                </a:lnTo>
                <a:lnTo>
                  <a:pt x="220436" y="1016750"/>
                </a:lnTo>
                <a:lnTo>
                  <a:pt x="293914" y="897120"/>
                </a:lnTo>
                <a:lnTo>
                  <a:pt x="367393" y="791547"/>
                </a:lnTo>
                <a:lnTo>
                  <a:pt x="440871" y="698379"/>
                </a:lnTo>
                <a:lnTo>
                  <a:pt x="514350" y="616159"/>
                </a:lnTo>
                <a:lnTo>
                  <a:pt x="587829" y="543599"/>
                </a:lnTo>
                <a:lnTo>
                  <a:pt x="661307" y="479566"/>
                </a:lnTo>
                <a:lnTo>
                  <a:pt x="734786" y="423057"/>
                </a:lnTo>
                <a:lnTo>
                  <a:pt x="808264" y="373188"/>
                </a:lnTo>
                <a:lnTo>
                  <a:pt x="881743" y="329178"/>
                </a:lnTo>
                <a:lnTo>
                  <a:pt x="955221" y="290340"/>
                </a:lnTo>
                <a:lnTo>
                  <a:pt x="1028700" y="256065"/>
                </a:lnTo>
                <a:lnTo>
                  <a:pt x="1102179" y="225818"/>
                </a:lnTo>
                <a:lnTo>
                  <a:pt x="1175657" y="199125"/>
                </a:lnTo>
                <a:lnTo>
                  <a:pt x="1249136" y="175569"/>
                </a:lnTo>
                <a:lnTo>
                  <a:pt x="1322614" y="154780"/>
                </a:lnTo>
                <a:lnTo>
                  <a:pt x="1396093" y="136434"/>
                </a:lnTo>
                <a:lnTo>
                  <a:pt x="1469571" y="120244"/>
                </a:lnTo>
                <a:lnTo>
                  <a:pt x="1543050" y="105956"/>
                </a:lnTo>
                <a:lnTo>
                  <a:pt x="1616529" y="93347"/>
                </a:lnTo>
                <a:lnTo>
                  <a:pt x="1690007" y="82220"/>
                </a:lnTo>
                <a:lnTo>
                  <a:pt x="1763486" y="72400"/>
                </a:lnTo>
                <a:lnTo>
                  <a:pt x="1836964" y="63734"/>
                </a:lnTo>
                <a:lnTo>
                  <a:pt x="1910443" y="56087"/>
                </a:lnTo>
                <a:lnTo>
                  <a:pt x="1983921" y="49337"/>
                </a:lnTo>
                <a:lnTo>
                  <a:pt x="2057400" y="43381"/>
                </a:lnTo>
                <a:lnTo>
                  <a:pt x="2130879" y="38125"/>
                </a:lnTo>
                <a:lnTo>
                  <a:pt x="2204357" y="33487"/>
                </a:lnTo>
                <a:lnTo>
                  <a:pt x="2277836" y="29393"/>
                </a:lnTo>
                <a:lnTo>
                  <a:pt x="2351314" y="25781"/>
                </a:lnTo>
                <a:lnTo>
                  <a:pt x="2424793" y="22593"/>
                </a:lnTo>
                <a:lnTo>
                  <a:pt x="2498271" y="19779"/>
                </a:lnTo>
                <a:lnTo>
                  <a:pt x="2571750" y="17296"/>
                </a:lnTo>
                <a:lnTo>
                  <a:pt x="2645229" y="15105"/>
                </a:lnTo>
                <a:lnTo>
                  <a:pt x="2718707" y="13172"/>
                </a:lnTo>
                <a:lnTo>
                  <a:pt x="2792186" y="11465"/>
                </a:lnTo>
                <a:lnTo>
                  <a:pt x="2865664" y="9959"/>
                </a:lnTo>
                <a:lnTo>
                  <a:pt x="2939143" y="8630"/>
                </a:lnTo>
                <a:lnTo>
                  <a:pt x="3012621" y="7458"/>
                </a:lnTo>
                <a:lnTo>
                  <a:pt x="3086100" y="6422"/>
                </a:lnTo>
                <a:lnTo>
                  <a:pt x="3159579" y="5509"/>
                </a:lnTo>
                <a:lnTo>
                  <a:pt x="3233057" y="4703"/>
                </a:lnTo>
                <a:lnTo>
                  <a:pt x="3306536" y="3992"/>
                </a:lnTo>
                <a:lnTo>
                  <a:pt x="3380014" y="3364"/>
                </a:lnTo>
                <a:lnTo>
                  <a:pt x="3453493" y="2810"/>
                </a:lnTo>
                <a:lnTo>
                  <a:pt x="3526971" y="2321"/>
                </a:lnTo>
                <a:lnTo>
                  <a:pt x="3600450" y="1890"/>
                </a:lnTo>
                <a:lnTo>
                  <a:pt x="3673929" y="1509"/>
                </a:lnTo>
                <a:lnTo>
                  <a:pt x="3747407" y="1173"/>
                </a:lnTo>
                <a:lnTo>
                  <a:pt x="3820886" y="876"/>
                </a:lnTo>
                <a:lnTo>
                  <a:pt x="3894364" y="615"/>
                </a:lnTo>
                <a:lnTo>
                  <a:pt x="3967843" y="384"/>
                </a:lnTo>
                <a:lnTo>
                  <a:pt x="4041321" y="180"/>
                </a:lnTo>
                <a:lnTo>
                  <a:pt x="4114800" y="0"/>
                </a:lnTo>
              </a:path>
            </a:pathLst>
          </a:custGeom>
          <a:noFill/>
          <a:ln w="34925" cap="rnd">
            <a:solidFill>
              <a:schemeClr val="accent1"/>
            </a:solidFill>
            <a:prstDash val="solid"/>
            <a:round/>
          </a:ln>
        </p:spPr>
      </p:sp>
      <p:sp>
        <p:nvSpPr>
          <p:cNvPr id="28" name="weak-signal"/>
          <p:cNvSpPr/>
          <p:nvPr/>
        </p:nvSpPr>
        <p:spPr>
          <a:xfrm>
            <a:off x="5897880" y="2900855"/>
            <a:ext cx="4114800" cy="866473"/>
          </a:xfrm>
          <a:custGeom>
            <a:avLst/>
            <a:gdLst/>
            <a:ahLst/>
            <a:cxnLst/>
            <a:rect l="l" t="t" r="r" b="b"/>
            <a:pathLst>
              <a:path w="4114800" h="866473">
                <a:moveTo>
                  <a:pt x="0" y="866473"/>
                </a:moveTo>
                <a:lnTo>
                  <a:pt x="73479" y="809881"/>
                </a:lnTo>
                <a:lnTo>
                  <a:pt x="146957" y="756893"/>
                </a:lnTo>
                <a:lnTo>
                  <a:pt x="220436" y="707279"/>
                </a:lnTo>
                <a:lnTo>
                  <a:pt x="293914" y="660824"/>
                </a:lnTo>
                <a:lnTo>
                  <a:pt x="367393" y="617326"/>
                </a:lnTo>
                <a:lnTo>
                  <a:pt x="440871" y="576598"/>
                </a:lnTo>
                <a:lnTo>
                  <a:pt x="514350" y="538464"/>
                </a:lnTo>
                <a:lnTo>
                  <a:pt x="587829" y="502757"/>
                </a:lnTo>
                <a:lnTo>
                  <a:pt x="661307" y="469324"/>
                </a:lnTo>
                <a:lnTo>
                  <a:pt x="734786" y="438020"/>
                </a:lnTo>
                <a:lnTo>
                  <a:pt x="808264" y="408709"/>
                </a:lnTo>
                <a:lnTo>
                  <a:pt x="881743" y="381264"/>
                </a:lnTo>
                <a:lnTo>
                  <a:pt x="955221" y="355567"/>
                </a:lnTo>
                <a:lnTo>
                  <a:pt x="1028700" y="331506"/>
                </a:lnTo>
                <a:lnTo>
                  <a:pt x="1102179" y="308977"/>
                </a:lnTo>
                <a:lnTo>
                  <a:pt x="1175657" y="287882"/>
                </a:lnTo>
                <a:lnTo>
                  <a:pt x="1249136" y="268131"/>
                </a:lnTo>
                <a:lnTo>
                  <a:pt x="1322614" y="249637"/>
                </a:lnTo>
                <a:lnTo>
                  <a:pt x="1396093" y="232321"/>
                </a:lnTo>
                <a:lnTo>
                  <a:pt x="1469571" y="216107"/>
                </a:lnTo>
                <a:lnTo>
                  <a:pt x="1543050" y="200926"/>
                </a:lnTo>
                <a:lnTo>
                  <a:pt x="1616529" y="186711"/>
                </a:lnTo>
                <a:lnTo>
                  <a:pt x="1690007" y="173401"/>
                </a:lnTo>
                <a:lnTo>
                  <a:pt x="1763486" y="160939"/>
                </a:lnTo>
                <a:lnTo>
                  <a:pt x="1836964" y="149270"/>
                </a:lnTo>
                <a:lnTo>
                  <a:pt x="1910443" y="138344"/>
                </a:lnTo>
                <a:lnTo>
                  <a:pt x="1983921" y="128114"/>
                </a:lnTo>
                <a:lnTo>
                  <a:pt x="2057400" y="118536"/>
                </a:lnTo>
                <a:lnTo>
                  <a:pt x="2130879" y="109567"/>
                </a:lnTo>
                <a:lnTo>
                  <a:pt x="2204357" y="101169"/>
                </a:lnTo>
                <a:lnTo>
                  <a:pt x="2277836" y="93306"/>
                </a:lnTo>
                <a:lnTo>
                  <a:pt x="2351314" y="85944"/>
                </a:lnTo>
                <a:lnTo>
                  <a:pt x="2424793" y="79050"/>
                </a:lnTo>
                <a:lnTo>
                  <a:pt x="2498271" y="72595"/>
                </a:lnTo>
                <a:lnTo>
                  <a:pt x="2571750" y="66552"/>
                </a:lnTo>
                <a:lnTo>
                  <a:pt x="2645229" y="60893"/>
                </a:lnTo>
                <a:lnTo>
                  <a:pt x="2718707" y="55594"/>
                </a:lnTo>
                <a:lnTo>
                  <a:pt x="2792186" y="50633"/>
                </a:lnTo>
                <a:lnTo>
                  <a:pt x="2865664" y="45988"/>
                </a:lnTo>
                <a:lnTo>
                  <a:pt x="2939143" y="41638"/>
                </a:lnTo>
                <a:lnTo>
                  <a:pt x="3012621" y="37566"/>
                </a:lnTo>
                <a:lnTo>
                  <a:pt x="3086100" y="33752"/>
                </a:lnTo>
                <a:lnTo>
                  <a:pt x="3159579" y="30182"/>
                </a:lnTo>
                <a:lnTo>
                  <a:pt x="3233057" y="26839"/>
                </a:lnTo>
                <a:lnTo>
                  <a:pt x="3306536" y="23708"/>
                </a:lnTo>
                <a:lnTo>
                  <a:pt x="3380014" y="20777"/>
                </a:lnTo>
                <a:lnTo>
                  <a:pt x="3453493" y="18033"/>
                </a:lnTo>
                <a:lnTo>
                  <a:pt x="3526971" y="15463"/>
                </a:lnTo>
                <a:lnTo>
                  <a:pt x="3600450" y="13057"/>
                </a:lnTo>
                <a:lnTo>
                  <a:pt x="3673929" y="10805"/>
                </a:lnTo>
                <a:lnTo>
                  <a:pt x="3747407" y="8695"/>
                </a:lnTo>
                <a:lnTo>
                  <a:pt x="3820886" y="6720"/>
                </a:lnTo>
                <a:lnTo>
                  <a:pt x="3894364" y="4871"/>
                </a:lnTo>
                <a:lnTo>
                  <a:pt x="3967843" y="3139"/>
                </a:lnTo>
                <a:lnTo>
                  <a:pt x="4041321" y="1518"/>
                </a:lnTo>
                <a:lnTo>
                  <a:pt x="4114800" y="0"/>
                </a:lnTo>
              </a:path>
            </a:pathLst>
          </a:custGeom>
          <a:noFill/>
          <a:ln w="34925" cap="rnd">
            <a:solidFill>
              <a:schemeClr val="accent3"/>
            </a:solidFill>
            <a:prstDash val="solid"/>
            <a:round/>
          </a:ln>
        </p:spPr>
      </p:sp>
      <p:sp>
        <p:nvSpPr>
          <p:cNvPr id="29" name="line"/>
          <p:cNvSpPr/>
          <p:nvPr/>
        </p:nvSpPr>
        <p:spPr>
          <a:xfrm>
            <a:off x="6151107" y="3248863"/>
            <a:ext cx="0" cy="518465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ysDot"/>
          </a:ln>
        </p:spPr>
      </p:sp>
      <p:sp>
        <p:nvSpPr>
          <p:cNvPr id="30" name="line"/>
          <p:cNvSpPr/>
          <p:nvPr/>
        </p:nvSpPr>
        <p:spPr>
          <a:xfrm>
            <a:off x="6875669" y="3248863"/>
            <a:ext cx="0" cy="518465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ysDot"/>
          </a:ln>
        </p:spPr>
      </p:sp>
      <p:sp>
        <p:nvSpPr>
          <p:cNvPr id="31" name="delay"/>
          <p:cNvSpPr/>
          <p:nvPr/>
        </p:nvSpPr>
        <p:spPr>
          <a:xfrm>
            <a:off x="6151107" y="3726180"/>
            <a:ext cx="724562" cy="8229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2" name="marker"/>
          <p:cNvSpPr/>
          <p:nvPr/>
        </p:nvSpPr>
        <p:spPr>
          <a:xfrm>
            <a:off x="6073383" y="3171139"/>
            <a:ext cx="155448" cy="1554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marker"/>
          <p:cNvSpPr/>
          <p:nvPr/>
        </p:nvSpPr>
        <p:spPr>
          <a:xfrm>
            <a:off x="6797945" y="3171139"/>
            <a:ext cx="155448" cy="155448"/>
          </a:xfrm>
          <a:prstGeom prst="ellipse">
            <a:avLst/>
          </a:prstGeom>
          <a:solidFill>
            <a:schemeClr val="accent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876787" y="3813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τ</a:t>
            </a:r>
            <a:pPr algn="ctr" indent="0" marL="0">
              <a:buNone/>
            </a:pPr>
            <a:r>
              <a:rPr lang="en-US" sz="1400" b="1" baseline="-40000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6601349" y="38130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τ</a:t>
            </a:r>
            <a:pPr algn="ctr" indent="0" marL="0">
              <a:buNone/>
            </a:pPr>
            <a:r>
              <a:rPr lang="en-US" sz="1400" b="1" baseline="-40000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49840" y="2084832"/>
            <a:ext cx="13560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сильный сигнал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почва-изолятор</a:t>
            </a:r>
            <a:endParaRPr lang="en-US" sz="1250" dirty="0"/>
          </a:p>
        </p:txBody>
      </p:sp>
      <p:sp>
        <p:nvSpPr>
          <p:cNvPr id="37" name="Text 31"/>
          <p:cNvSpPr txBox="1"/>
          <p:nvPr/>
        </p:nvSpPr>
        <p:spPr>
          <a:xfrm>
            <a:off x="10149840" y="2699583"/>
            <a:ext cx="13560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ослабленный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проводящая почва</a:t>
            </a:r>
            <a:endParaRPr lang="en-US" sz="1250" dirty="0"/>
          </a:p>
        </p:txBody>
      </p:sp>
      <p:sp>
        <p:nvSpPr>
          <p:cNvPr id="38" name="Text 32"/>
          <p:cNvSpPr txBox="1"/>
          <p:nvPr/>
        </p:nvSpPr>
        <p:spPr>
          <a:xfrm>
            <a:off x="10149840" y="3230575"/>
            <a:ext cx="1356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порог</a:t>
            </a:r>
            <a:endParaRPr lang="en-US" sz="1250" dirty="0"/>
          </a:p>
        </p:txBody>
      </p:sp>
      <p:sp>
        <p:nvSpPr>
          <p:cNvPr id="39" name="Text 33"/>
          <p:cNvSpPr txBox="1"/>
          <p:nvPr/>
        </p:nvSpPr>
        <p:spPr>
          <a:xfrm>
            <a:off x="7287149" y="3822192"/>
            <a:ext cx="42187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τ</a:t>
            </a:r>
            <a:pPr indent="0" marL="0">
              <a:buNone/>
            </a:pPr>
            <a:r>
              <a:rPr lang="en-US" sz="1300" baseline="-40000" dirty="0">
                <a:solidFill>
                  <a:schemeClr val="tx1"/>
                </a:solidFill>
              </a:rPr>
              <a:t>2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&gt;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τ</a:t>
            </a:r>
            <a:pPr indent="0" marL="0">
              <a:buNone/>
            </a:pPr>
            <a:r>
              <a:rPr lang="en-US" sz="1300" baseline="-40000" dirty="0">
                <a:solidFill>
                  <a:schemeClr val="tx1"/>
                </a:solidFill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: прибор решает, что дорога длиннее, и «видит» </a:t>
            </a:r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лишнюю воду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5669280" y="4334256"/>
            <a:ext cx="5836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Три проверяемых предсказания</a:t>
            </a:r>
            <a:endParaRPr lang="en-US" sz="1600" dirty="0"/>
          </a:p>
        </p:txBody>
      </p:sp>
      <p:sp>
        <p:nvSpPr>
          <p:cNvPr id="41" name="rule"/>
          <p:cNvSpPr/>
          <p:nvPr/>
        </p:nvSpPr>
        <p:spPr>
          <a:xfrm>
            <a:off x="5669280" y="4645152"/>
            <a:ext cx="583661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5669280" y="4681728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3" name="Text 37"/>
          <p:cNvSpPr txBox="1"/>
          <p:nvPr/>
        </p:nvSpPr>
        <p:spPr>
          <a:xfrm>
            <a:off x="6053328" y="468172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Тяжелее почва → больше ошибка</a:t>
            </a:r>
            <a:endParaRPr lang="en-US" sz="1350" dirty="0"/>
          </a:p>
        </p:txBody>
      </p:sp>
      <p:sp>
        <p:nvSpPr>
          <p:cNvPr id="44" name="Text 38"/>
          <p:cNvSpPr txBox="1"/>
          <p:nvPr/>
        </p:nvSpPr>
        <p:spPr>
          <a:xfrm>
            <a:off x="9345168" y="4681728"/>
            <a:ext cx="21607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опровергнет: ошибка одинакова в лёгкой и тяжёлой</a:t>
            </a:r>
            <a:endParaRPr lang="en-US" sz="1150" dirty="0"/>
          </a:p>
        </p:txBody>
      </p:sp>
      <p:sp>
        <p:nvSpPr>
          <p:cNvPr id="45" name="rule"/>
          <p:cNvSpPr/>
          <p:nvPr/>
        </p:nvSpPr>
        <p:spPr>
          <a:xfrm>
            <a:off x="5669280" y="5175504"/>
            <a:ext cx="583661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5669280" y="5212080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7" name="Text 41"/>
          <p:cNvSpPr txBox="1"/>
          <p:nvPr/>
        </p:nvSpPr>
        <p:spPr>
          <a:xfrm>
            <a:off x="6053328" y="521208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Влажнее → ошибка растёт всё быстрее</a:t>
            </a:r>
            <a:endParaRPr lang="en-US" sz="1350" dirty="0"/>
          </a:p>
        </p:txBody>
      </p:sp>
      <p:sp>
        <p:nvSpPr>
          <p:cNvPr id="48" name="Text 42"/>
          <p:cNvSpPr txBox="1"/>
          <p:nvPr/>
        </p:nvSpPr>
        <p:spPr>
          <a:xfrm>
            <a:off x="9345168" y="5212080"/>
            <a:ext cx="21607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опровергнет: ошибка постоянна или растёт линейно</a:t>
            </a:r>
            <a:endParaRPr lang="en-US" sz="1150" dirty="0"/>
          </a:p>
        </p:txBody>
      </p:sp>
      <p:sp>
        <p:nvSpPr>
          <p:cNvPr id="49" name="rule"/>
          <p:cNvSpPr/>
          <p:nvPr/>
        </p:nvSpPr>
        <p:spPr>
          <a:xfrm>
            <a:off x="5669280" y="5705856"/>
            <a:ext cx="583661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5669280" y="5742432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1" name="Text 45"/>
          <p:cNvSpPr txBox="1"/>
          <p:nvPr/>
        </p:nvSpPr>
        <p:spPr>
          <a:xfrm>
            <a:off x="6053328" y="57424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Плотнее → минералы вместо воздуха</a:t>
            </a:r>
            <a:endParaRPr lang="en-US" sz="1350" dirty="0"/>
          </a:p>
        </p:txBody>
      </p:sp>
      <p:sp>
        <p:nvSpPr>
          <p:cNvPr id="52" name="Text 46"/>
          <p:cNvSpPr txBox="1"/>
          <p:nvPr/>
        </p:nvSpPr>
        <p:spPr>
          <a:xfrm>
            <a:off x="9345168" y="5742432"/>
            <a:ext cx="21607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опровергнет: плотность не сдвигает показания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Эксперимент: экзамен для датчика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ЭКСПЕРИМЕНТ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Зачем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Как проверяли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нашли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доказали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делать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83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СХЕМА ОПЫТА · 18 КОЛОНОК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2103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 · лёгкая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10–20 % физ. глины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291840" y="2103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 · тяжёлая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40–50 % физ. глины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709160" y="21031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 · тяжёлая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50–65 % физ. глины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7889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1,35 г/см³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68503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1,52 г/см³</a:t>
            </a:r>
            <a:endParaRPr lang="en-US" sz="1350" dirty="0"/>
          </a:p>
        </p:txBody>
      </p:sp>
      <p:sp>
        <p:nvSpPr>
          <p:cNvPr id="12" name="column"/>
          <p:cNvSpPr/>
          <p:nvPr/>
        </p:nvSpPr>
        <p:spPr>
          <a:xfrm>
            <a:off x="2130552" y="2788920"/>
            <a:ext cx="237744" cy="548640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13" name="column-bottom"/>
          <p:cNvSpPr/>
          <p:nvPr/>
        </p:nvSpPr>
        <p:spPr>
          <a:xfrm>
            <a:off x="2130552" y="3273552"/>
            <a:ext cx="237744" cy="118872"/>
          </a:xfrm>
          <a:prstGeom prst="ellipse">
            <a:avLst/>
          </a:prstGeom>
          <a:solidFill>
            <a:srgbClr val="C49A6C"/>
          </a:solidFill>
          <a:ln/>
        </p:spPr>
      </p:sp>
      <p:sp>
        <p:nvSpPr>
          <p:cNvPr id="14" name="column-top"/>
          <p:cNvSpPr/>
          <p:nvPr/>
        </p:nvSpPr>
        <p:spPr>
          <a:xfrm>
            <a:off x="2130552" y="2724912"/>
            <a:ext cx="237744" cy="118872"/>
          </a:xfrm>
          <a:prstGeom prst="ellipse">
            <a:avLst/>
          </a:prstGeom>
          <a:solidFill>
            <a:srgbClr val="DFC7AE"/>
          </a:solidFill>
          <a:ln/>
        </p:spPr>
      </p:sp>
      <p:sp>
        <p:nvSpPr>
          <p:cNvPr id="15" name="column"/>
          <p:cNvSpPr/>
          <p:nvPr/>
        </p:nvSpPr>
        <p:spPr>
          <a:xfrm>
            <a:off x="2478024" y="2788920"/>
            <a:ext cx="237744" cy="548640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16" name="column-bottom"/>
          <p:cNvSpPr/>
          <p:nvPr/>
        </p:nvSpPr>
        <p:spPr>
          <a:xfrm>
            <a:off x="2478024" y="3273552"/>
            <a:ext cx="237744" cy="118872"/>
          </a:xfrm>
          <a:prstGeom prst="ellipse">
            <a:avLst/>
          </a:prstGeom>
          <a:solidFill>
            <a:srgbClr val="C49A6C"/>
          </a:solidFill>
          <a:ln/>
        </p:spPr>
      </p:sp>
      <p:sp>
        <p:nvSpPr>
          <p:cNvPr id="17" name="column-top"/>
          <p:cNvSpPr/>
          <p:nvPr/>
        </p:nvSpPr>
        <p:spPr>
          <a:xfrm>
            <a:off x="2478024" y="2724912"/>
            <a:ext cx="237744" cy="118872"/>
          </a:xfrm>
          <a:prstGeom prst="ellipse">
            <a:avLst/>
          </a:prstGeom>
          <a:solidFill>
            <a:srgbClr val="DFC7AE"/>
          </a:solidFill>
          <a:ln/>
        </p:spPr>
      </p:sp>
      <p:sp>
        <p:nvSpPr>
          <p:cNvPr id="18" name="column"/>
          <p:cNvSpPr/>
          <p:nvPr/>
        </p:nvSpPr>
        <p:spPr>
          <a:xfrm>
            <a:off x="2825496" y="2788920"/>
            <a:ext cx="237744" cy="548640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19" name="column-bottom"/>
          <p:cNvSpPr/>
          <p:nvPr/>
        </p:nvSpPr>
        <p:spPr>
          <a:xfrm>
            <a:off x="2825496" y="3273552"/>
            <a:ext cx="237744" cy="118872"/>
          </a:xfrm>
          <a:prstGeom prst="ellipse">
            <a:avLst/>
          </a:prstGeom>
          <a:solidFill>
            <a:srgbClr val="C49A6C"/>
          </a:solidFill>
          <a:ln/>
        </p:spPr>
      </p:sp>
      <p:sp>
        <p:nvSpPr>
          <p:cNvPr id="20" name="column-top"/>
          <p:cNvSpPr/>
          <p:nvPr/>
        </p:nvSpPr>
        <p:spPr>
          <a:xfrm>
            <a:off x="2825496" y="2724912"/>
            <a:ext cx="237744" cy="118872"/>
          </a:xfrm>
          <a:prstGeom prst="ellipse">
            <a:avLst/>
          </a:prstGeom>
          <a:solidFill>
            <a:srgbClr val="DFC7AE"/>
          </a:solidFill>
          <a:ln/>
        </p:spPr>
      </p:sp>
      <p:sp>
        <p:nvSpPr>
          <p:cNvPr id="21" name="column"/>
          <p:cNvSpPr/>
          <p:nvPr/>
        </p:nvSpPr>
        <p:spPr>
          <a:xfrm>
            <a:off x="2130552" y="3685032"/>
            <a:ext cx="237744" cy="548640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22" name="column-bottom"/>
          <p:cNvSpPr/>
          <p:nvPr/>
        </p:nvSpPr>
        <p:spPr>
          <a:xfrm>
            <a:off x="2130552" y="4169664"/>
            <a:ext cx="237744" cy="118872"/>
          </a:xfrm>
          <a:prstGeom prst="ellipse">
            <a:avLst/>
          </a:prstGeom>
          <a:solidFill>
            <a:srgbClr val="C49A6C"/>
          </a:solidFill>
          <a:ln/>
        </p:spPr>
      </p:sp>
      <p:sp>
        <p:nvSpPr>
          <p:cNvPr id="23" name="column-top"/>
          <p:cNvSpPr/>
          <p:nvPr/>
        </p:nvSpPr>
        <p:spPr>
          <a:xfrm>
            <a:off x="2130552" y="3621024"/>
            <a:ext cx="237744" cy="118872"/>
          </a:xfrm>
          <a:prstGeom prst="ellipse">
            <a:avLst/>
          </a:prstGeom>
          <a:solidFill>
            <a:srgbClr val="DFC7AE"/>
          </a:solidFill>
          <a:ln/>
        </p:spPr>
      </p:sp>
      <p:sp>
        <p:nvSpPr>
          <p:cNvPr id="24" name="column"/>
          <p:cNvSpPr/>
          <p:nvPr/>
        </p:nvSpPr>
        <p:spPr>
          <a:xfrm>
            <a:off x="2478024" y="3685032"/>
            <a:ext cx="237744" cy="548640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25" name="column-bottom"/>
          <p:cNvSpPr/>
          <p:nvPr/>
        </p:nvSpPr>
        <p:spPr>
          <a:xfrm>
            <a:off x="2478024" y="4169664"/>
            <a:ext cx="237744" cy="118872"/>
          </a:xfrm>
          <a:prstGeom prst="ellipse">
            <a:avLst/>
          </a:prstGeom>
          <a:solidFill>
            <a:srgbClr val="C49A6C"/>
          </a:solidFill>
          <a:ln/>
        </p:spPr>
      </p:sp>
      <p:sp>
        <p:nvSpPr>
          <p:cNvPr id="26" name="column-top"/>
          <p:cNvSpPr/>
          <p:nvPr/>
        </p:nvSpPr>
        <p:spPr>
          <a:xfrm>
            <a:off x="2478024" y="3621024"/>
            <a:ext cx="237744" cy="118872"/>
          </a:xfrm>
          <a:prstGeom prst="ellipse">
            <a:avLst/>
          </a:prstGeom>
          <a:solidFill>
            <a:srgbClr val="DFC7AE"/>
          </a:solidFill>
          <a:ln/>
        </p:spPr>
      </p:sp>
      <p:sp>
        <p:nvSpPr>
          <p:cNvPr id="27" name="column"/>
          <p:cNvSpPr/>
          <p:nvPr/>
        </p:nvSpPr>
        <p:spPr>
          <a:xfrm>
            <a:off x="2825496" y="3685032"/>
            <a:ext cx="237744" cy="548640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28" name="column-bottom"/>
          <p:cNvSpPr/>
          <p:nvPr/>
        </p:nvSpPr>
        <p:spPr>
          <a:xfrm>
            <a:off x="2825496" y="4169664"/>
            <a:ext cx="237744" cy="118872"/>
          </a:xfrm>
          <a:prstGeom prst="ellipse">
            <a:avLst/>
          </a:prstGeom>
          <a:solidFill>
            <a:srgbClr val="C49A6C"/>
          </a:solidFill>
          <a:ln/>
        </p:spPr>
      </p:sp>
      <p:sp>
        <p:nvSpPr>
          <p:cNvPr id="29" name="column-top"/>
          <p:cNvSpPr/>
          <p:nvPr/>
        </p:nvSpPr>
        <p:spPr>
          <a:xfrm>
            <a:off x="2825496" y="3621024"/>
            <a:ext cx="237744" cy="118872"/>
          </a:xfrm>
          <a:prstGeom prst="ellipse">
            <a:avLst/>
          </a:prstGeom>
          <a:solidFill>
            <a:srgbClr val="DFC7AE"/>
          </a:solidFill>
          <a:ln/>
        </p:spPr>
      </p:sp>
      <p:sp>
        <p:nvSpPr>
          <p:cNvPr id="30" name="column"/>
          <p:cNvSpPr/>
          <p:nvPr/>
        </p:nvSpPr>
        <p:spPr>
          <a:xfrm>
            <a:off x="3547872" y="2788920"/>
            <a:ext cx="237744" cy="548640"/>
          </a:xfrm>
          <a:prstGeom prst="rect">
            <a:avLst/>
          </a:prstGeom>
          <a:solidFill>
            <a:srgbClr val="9A6440"/>
          </a:solidFill>
          <a:ln/>
        </p:spPr>
      </p:sp>
      <p:sp>
        <p:nvSpPr>
          <p:cNvPr id="31" name="column-bottom"/>
          <p:cNvSpPr/>
          <p:nvPr/>
        </p:nvSpPr>
        <p:spPr>
          <a:xfrm>
            <a:off x="3547872" y="3273552"/>
            <a:ext cx="237744" cy="118872"/>
          </a:xfrm>
          <a:prstGeom prst="ellipse">
            <a:avLst/>
          </a:prstGeom>
          <a:solidFill>
            <a:srgbClr val="9A6440"/>
          </a:solidFill>
          <a:ln/>
        </p:spPr>
      </p:sp>
      <p:sp>
        <p:nvSpPr>
          <p:cNvPr id="32" name="column-top"/>
          <p:cNvSpPr/>
          <p:nvPr/>
        </p:nvSpPr>
        <p:spPr>
          <a:xfrm>
            <a:off x="3547872" y="2724912"/>
            <a:ext cx="237744" cy="118872"/>
          </a:xfrm>
          <a:prstGeom prst="ellipse">
            <a:avLst/>
          </a:prstGeom>
          <a:solidFill>
            <a:srgbClr val="C7AA96"/>
          </a:solidFill>
          <a:ln/>
        </p:spPr>
      </p:sp>
      <p:sp>
        <p:nvSpPr>
          <p:cNvPr id="33" name="column"/>
          <p:cNvSpPr/>
          <p:nvPr/>
        </p:nvSpPr>
        <p:spPr>
          <a:xfrm>
            <a:off x="3895344" y="2788920"/>
            <a:ext cx="237744" cy="548640"/>
          </a:xfrm>
          <a:prstGeom prst="rect">
            <a:avLst/>
          </a:prstGeom>
          <a:solidFill>
            <a:srgbClr val="9A6440"/>
          </a:solidFill>
          <a:ln/>
        </p:spPr>
      </p:sp>
      <p:sp>
        <p:nvSpPr>
          <p:cNvPr id="34" name="column-bottom"/>
          <p:cNvSpPr/>
          <p:nvPr/>
        </p:nvSpPr>
        <p:spPr>
          <a:xfrm>
            <a:off x="3895344" y="3273552"/>
            <a:ext cx="237744" cy="118872"/>
          </a:xfrm>
          <a:prstGeom prst="ellipse">
            <a:avLst/>
          </a:prstGeom>
          <a:solidFill>
            <a:srgbClr val="9A6440"/>
          </a:solidFill>
          <a:ln/>
        </p:spPr>
      </p:sp>
      <p:sp>
        <p:nvSpPr>
          <p:cNvPr id="35" name="column-top"/>
          <p:cNvSpPr/>
          <p:nvPr/>
        </p:nvSpPr>
        <p:spPr>
          <a:xfrm>
            <a:off x="3895344" y="2724912"/>
            <a:ext cx="237744" cy="118872"/>
          </a:xfrm>
          <a:prstGeom prst="ellipse">
            <a:avLst/>
          </a:prstGeom>
          <a:solidFill>
            <a:srgbClr val="C7AA96"/>
          </a:solidFill>
          <a:ln/>
        </p:spPr>
      </p:sp>
      <p:sp>
        <p:nvSpPr>
          <p:cNvPr id="36" name="column"/>
          <p:cNvSpPr/>
          <p:nvPr/>
        </p:nvSpPr>
        <p:spPr>
          <a:xfrm>
            <a:off x="4242816" y="2788920"/>
            <a:ext cx="237744" cy="548640"/>
          </a:xfrm>
          <a:prstGeom prst="rect">
            <a:avLst/>
          </a:prstGeom>
          <a:solidFill>
            <a:srgbClr val="9A6440"/>
          </a:solidFill>
          <a:ln/>
        </p:spPr>
      </p:sp>
      <p:sp>
        <p:nvSpPr>
          <p:cNvPr id="37" name="column-bottom"/>
          <p:cNvSpPr/>
          <p:nvPr/>
        </p:nvSpPr>
        <p:spPr>
          <a:xfrm>
            <a:off x="4242816" y="3273552"/>
            <a:ext cx="237744" cy="118872"/>
          </a:xfrm>
          <a:prstGeom prst="ellipse">
            <a:avLst/>
          </a:prstGeom>
          <a:solidFill>
            <a:srgbClr val="9A6440"/>
          </a:solidFill>
          <a:ln/>
        </p:spPr>
      </p:sp>
      <p:sp>
        <p:nvSpPr>
          <p:cNvPr id="38" name="column-top"/>
          <p:cNvSpPr/>
          <p:nvPr/>
        </p:nvSpPr>
        <p:spPr>
          <a:xfrm>
            <a:off x="4242816" y="2724912"/>
            <a:ext cx="237744" cy="118872"/>
          </a:xfrm>
          <a:prstGeom prst="ellipse">
            <a:avLst/>
          </a:prstGeom>
          <a:solidFill>
            <a:srgbClr val="C7AA96"/>
          </a:solidFill>
          <a:ln/>
        </p:spPr>
      </p:sp>
      <p:sp>
        <p:nvSpPr>
          <p:cNvPr id="39" name="column"/>
          <p:cNvSpPr/>
          <p:nvPr/>
        </p:nvSpPr>
        <p:spPr>
          <a:xfrm>
            <a:off x="3547872" y="3685032"/>
            <a:ext cx="237744" cy="548640"/>
          </a:xfrm>
          <a:prstGeom prst="rect">
            <a:avLst/>
          </a:prstGeom>
          <a:solidFill>
            <a:srgbClr val="9A6440"/>
          </a:solidFill>
          <a:ln/>
        </p:spPr>
      </p:sp>
      <p:sp>
        <p:nvSpPr>
          <p:cNvPr id="40" name="column-bottom"/>
          <p:cNvSpPr/>
          <p:nvPr/>
        </p:nvSpPr>
        <p:spPr>
          <a:xfrm>
            <a:off x="3547872" y="4169664"/>
            <a:ext cx="237744" cy="118872"/>
          </a:xfrm>
          <a:prstGeom prst="ellipse">
            <a:avLst/>
          </a:prstGeom>
          <a:solidFill>
            <a:srgbClr val="9A6440"/>
          </a:solidFill>
          <a:ln/>
        </p:spPr>
      </p:sp>
      <p:sp>
        <p:nvSpPr>
          <p:cNvPr id="41" name="column-top"/>
          <p:cNvSpPr/>
          <p:nvPr/>
        </p:nvSpPr>
        <p:spPr>
          <a:xfrm>
            <a:off x="3547872" y="3621024"/>
            <a:ext cx="237744" cy="118872"/>
          </a:xfrm>
          <a:prstGeom prst="ellipse">
            <a:avLst/>
          </a:prstGeom>
          <a:solidFill>
            <a:srgbClr val="C7AA96"/>
          </a:solidFill>
          <a:ln/>
        </p:spPr>
      </p:sp>
      <p:sp>
        <p:nvSpPr>
          <p:cNvPr id="42" name="column"/>
          <p:cNvSpPr/>
          <p:nvPr/>
        </p:nvSpPr>
        <p:spPr>
          <a:xfrm>
            <a:off x="3895344" y="3685032"/>
            <a:ext cx="237744" cy="548640"/>
          </a:xfrm>
          <a:prstGeom prst="rect">
            <a:avLst/>
          </a:prstGeom>
          <a:solidFill>
            <a:srgbClr val="9A6440"/>
          </a:solidFill>
          <a:ln/>
        </p:spPr>
      </p:sp>
      <p:sp>
        <p:nvSpPr>
          <p:cNvPr id="43" name="column-bottom"/>
          <p:cNvSpPr/>
          <p:nvPr/>
        </p:nvSpPr>
        <p:spPr>
          <a:xfrm>
            <a:off x="3895344" y="4169664"/>
            <a:ext cx="237744" cy="118872"/>
          </a:xfrm>
          <a:prstGeom prst="ellipse">
            <a:avLst/>
          </a:prstGeom>
          <a:solidFill>
            <a:srgbClr val="9A6440"/>
          </a:solidFill>
          <a:ln/>
        </p:spPr>
      </p:sp>
      <p:sp>
        <p:nvSpPr>
          <p:cNvPr id="44" name="column-top"/>
          <p:cNvSpPr/>
          <p:nvPr/>
        </p:nvSpPr>
        <p:spPr>
          <a:xfrm>
            <a:off x="3895344" y="3621024"/>
            <a:ext cx="237744" cy="118872"/>
          </a:xfrm>
          <a:prstGeom prst="ellipse">
            <a:avLst/>
          </a:prstGeom>
          <a:solidFill>
            <a:srgbClr val="C7AA96"/>
          </a:solidFill>
          <a:ln/>
        </p:spPr>
      </p:sp>
      <p:sp>
        <p:nvSpPr>
          <p:cNvPr id="45" name="column"/>
          <p:cNvSpPr/>
          <p:nvPr/>
        </p:nvSpPr>
        <p:spPr>
          <a:xfrm>
            <a:off x="4242816" y="3685032"/>
            <a:ext cx="237744" cy="548640"/>
          </a:xfrm>
          <a:prstGeom prst="rect">
            <a:avLst/>
          </a:prstGeom>
          <a:solidFill>
            <a:srgbClr val="9A6440"/>
          </a:solidFill>
          <a:ln/>
        </p:spPr>
      </p:sp>
      <p:sp>
        <p:nvSpPr>
          <p:cNvPr id="46" name="column-bottom"/>
          <p:cNvSpPr/>
          <p:nvPr/>
        </p:nvSpPr>
        <p:spPr>
          <a:xfrm>
            <a:off x="4242816" y="4169664"/>
            <a:ext cx="237744" cy="118872"/>
          </a:xfrm>
          <a:prstGeom prst="ellipse">
            <a:avLst/>
          </a:prstGeom>
          <a:solidFill>
            <a:srgbClr val="9A6440"/>
          </a:solidFill>
          <a:ln/>
        </p:spPr>
      </p:sp>
      <p:sp>
        <p:nvSpPr>
          <p:cNvPr id="47" name="column-top"/>
          <p:cNvSpPr/>
          <p:nvPr/>
        </p:nvSpPr>
        <p:spPr>
          <a:xfrm>
            <a:off x="4242816" y="3621024"/>
            <a:ext cx="237744" cy="118872"/>
          </a:xfrm>
          <a:prstGeom prst="ellipse">
            <a:avLst/>
          </a:prstGeom>
          <a:solidFill>
            <a:srgbClr val="C7AA96"/>
          </a:solidFill>
          <a:ln/>
        </p:spPr>
      </p:sp>
      <p:sp>
        <p:nvSpPr>
          <p:cNvPr id="48" name="column"/>
          <p:cNvSpPr/>
          <p:nvPr/>
        </p:nvSpPr>
        <p:spPr>
          <a:xfrm>
            <a:off x="4965192" y="2788920"/>
            <a:ext cx="237744" cy="548640"/>
          </a:xfrm>
          <a:prstGeom prst="rect">
            <a:avLst/>
          </a:prstGeom>
          <a:solidFill>
            <a:srgbClr val="6B3220"/>
          </a:solidFill>
          <a:ln/>
        </p:spPr>
      </p:sp>
      <p:sp>
        <p:nvSpPr>
          <p:cNvPr id="49" name="column-bottom"/>
          <p:cNvSpPr/>
          <p:nvPr/>
        </p:nvSpPr>
        <p:spPr>
          <a:xfrm>
            <a:off x="4965192" y="3273552"/>
            <a:ext cx="237744" cy="118872"/>
          </a:xfrm>
          <a:prstGeom prst="ellipse">
            <a:avLst/>
          </a:prstGeom>
          <a:solidFill>
            <a:srgbClr val="6B3220"/>
          </a:solidFill>
          <a:ln/>
        </p:spPr>
      </p:sp>
      <p:sp>
        <p:nvSpPr>
          <p:cNvPr id="50" name="column-top"/>
          <p:cNvSpPr/>
          <p:nvPr/>
        </p:nvSpPr>
        <p:spPr>
          <a:xfrm>
            <a:off x="4965192" y="2724912"/>
            <a:ext cx="237744" cy="118872"/>
          </a:xfrm>
          <a:prstGeom prst="ellipse">
            <a:avLst/>
          </a:prstGeom>
          <a:solidFill>
            <a:srgbClr val="AE8E84"/>
          </a:solidFill>
          <a:ln/>
        </p:spPr>
      </p:sp>
      <p:sp>
        <p:nvSpPr>
          <p:cNvPr id="51" name="column"/>
          <p:cNvSpPr/>
          <p:nvPr/>
        </p:nvSpPr>
        <p:spPr>
          <a:xfrm>
            <a:off x="5312664" y="2788920"/>
            <a:ext cx="237744" cy="548640"/>
          </a:xfrm>
          <a:prstGeom prst="rect">
            <a:avLst/>
          </a:prstGeom>
          <a:solidFill>
            <a:srgbClr val="6B3220"/>
          </a:solidFill>
          <a:ln/>
        </p:spPr>
      </p:sp>
      <p:sp>
        <p:nvSpPr>
          <p:cNvPr id="52" name="column-bottom"/>
          <p:cNvSpPr/>
          <p:nvPr/>
        </p:nvSpPr>
        <p:spPr>
          <a:xfrm>
            <a:off x="5312664" y="3273552"/>
            <a:ext cx="237744" cy="118872"/>
          </a:xfrm>
          <a:prstGeom prst="ellipse">
            <a:avLst/>
          </a:prstGeom>
          <a:solidFill>
            <a:srgbClr val="6B3220"/>
          </a:solidFill>
          <a:ln/>
        </p:spPr>
      </p:sp>
      <p:sp>
        <p:nvSpPr>
          <p:cNvPr id="53" name="column-top"/>
          <p:cNvSpPr/>
          <p:nvPr/>
        </p:nvSpPr>
        <p:spPr>
          <a:xfrm>
            <a:off x="5312664" y="2724912"/>
            <a:ext cx="237744" cy="118872"/>
          </a:xfrm>
          <a:prstGeom prst="ellipse">
            <a:avLst/>
          </a:prstGeom>
          <a:solidFill>
            <a:srgbClr val="AE8E84"/>
          </a:solidFill>
          <a:ln/>
        </p:spPr>
      </p:sp>
      <p:sp>
        <p:nvSpPr>
          <p:cNvPr id="54" name="column"/>
          <p:cNvSpPr/>
          <p:nvPr/>
        </p:nvSpPr>
        <p:spPr>
          <a:xfrm>
            <a:off x="5660136" y="2788920"/>
            <a:ext cx="237744" cy="548640"/>
          </a:xfrm>
          <a:prstGeom prst="rect">
            <a:avLst/>
          </a:prstGeom>
          <a:solidFill>
            <a:srgbClr val="6B3220"/>
          </a:solidFill>
          <a:ln/>
        </p:spPr>
      </p:sp>
      <p:sp>
        <p:nvSpPr>
          <p:cNvPr id="55" name="column-bottom"/>
          <p:cNvSpPr/>
          <p:nvPr/>
        </p:nvSpPr>
        <p:spPr>
          <a:xfrm>
            <a:off x="5660136" y="3273552"/>
            <a:ext cx="237744" cy="118872"/>
          </a:xfrm>
          <a:prstGeom prst="ellipse">
            <a:avLst/>
          </a:prstGeom>
          <a:solidFill>
            <a:srgbClr val="6B3220"/>
          </a:solidFill>
          <a:ln/>
        </p:spPr>
      </p:sp>
      <p:sp>
        <p:nvSpPr>
          <p:cNvPr id="56" name="column-top"/>
          <p:cNvSpPr/>
          <p:nvPr/>
        </p:nvSpPr>
        <p:spPr>
          <a:xfrm>
            <a:off x="5660136" y="2724912"/>
            <a:ext cx="237744" cy="118872"/>
          </a:xfrm>
          <a:prstGeom prst="ellipse">
            <a:avLst/>
          </a:prstGeom>
          <a:solidFill>
            <a:srgbClr val="AE8E84"/>
          </a:solidFill>
          <a:ln/>
        </p:spPr>
      </p:sp>
      <p:sp>
        <p:nvSpPr>
          <p:cNvPr id="57" name="column"/>
          <p:cNvSpPr/>
          <p:nvPr/>
        </p:nvSpPr>
        <p:spPr>
          <a:xfrm>
            <a:off x="4965192" y="3685032"/>
            <a:ext cx="237744" cy="548640"/>
          </a:xfrm>
          <a:prstGeom prst="rect">
            <a:avLst/>
          </a:prstGeom>
          <a:solidFill>
            <a:srgbClr val="6B3220"/>
          </a:solidFill>
          <a:ln/>
        </p:spPr>
      </p:sp>
      <p:sp>
        <p:nvSpPr>
          <p:cNvPr id="58" name="column-bottom"/>
          <p:cNvSpPr/>
          <p:nvPr/>
        </p:nvSpPr>
        <p:spPr>
          <a:xfrm>
            <a:off x="4965192" y="4169664"/>
            <a:ext cx="237744" cy="118872"/>
          </a:xfrm>
          <a:prstGeom prst="ellipse">
            <a:avLst/>
          </a:prstGeom>
          <a:solidFill>
            <a:srgbClr val="6B3220"/>
          </a:solidFill>
          <a:ln/>
        </p:spPr>
      </p:sp>
      <p:sp>
        <p:nvSpPr>
          <p:cNvPr id="59" name="column-top"/>
          <p:cNvSpPr/>
          <p:nvPr/>
        </p:nvSpPr>
        <p:spPr>
          <a:xfrm>
            <a:off x="4965192" y="3621024"/>
            <a:ext cx="237744" cy="118872"/>
          </a:xfrm>
          <a:prstGeom prst="ellipse">
            <a:avLst/>
          </a:prstGeom>
          <a:solidFill>
            <a:srgbClr val="AE8E84"/>
          </a:solidFill>
          <a:ln/>
        </p:spPr>
      </p:sp>
      <p:sp>
        <p:nvSpPr>
          <p:cNvPr id="60" name="column"/>
          <p:cNvSpPr/>
          <p:nvPr/>
        </p:nvSpPr>
        <p:spPr>
          <a:xfrm>
            <a:off x="5312664" y="3685032"/>
            <a:ext cx="237744" cy="548640"/>
          </a:xfrm>
          <a:prstGeom prst="rect">
            <a:avLst/>
          </a:prstGeom>
          <a:solidFill>
            <a:srgbClr val="6B3220"/>
          </a:solidFill>
          <a:ln/>
        </p:spPr>
      </p:sp>
      <p:sp>
        <p:nvSpPr>
          <p:cNvPr id="61" name="column-bottom"/>
          <p:cNvSpPr/>
          <p:nvPr/>
        </p:nvSpPr>
        <p:spPr>
          <a:xfrm>
            <a:off x="5312664" y="4169664"/>
            <a:ext cx="237744" cy="118872"/>
          </a:xfrm>
          <a:prstGeom prst="ellipse">
            <a:avLst/>
          </a:prstGeom>
          <a:solidFill>
            <a:srgbClr val="6B3220"/>
          </a:solidFill>
          <a:ln/>
        </p:spPr>
      </p:sp>
      <p:sp>
        <p:nvSpPr>
          <p:cNvPr id="62" name="column-top"/>
          <p:cNvSpPr/>
          <p:nvPr/>
        </p:nvSpPr>
        <p:spPr>
          <a:xfrm>
            <a:off x="5312664" y="3621024"/>
            <a:ext cx="237744" cy="118872"/>
          </a:xfrm>
          <a:prstGeom prst="ellipse">
            <a:avLst/>
          </a:prstGeom>
          <a:solidFill>
            <a:srgbClr val="AE8E84"/>
          </a:solidFill>
          <a:ln/>
        </p:spPr>
      </p:sp>
      <p:sp>
        <p:nvSpPr>
          <p:cNvPr id="63" name="column"/>
          <p:cNvSpPr/>
          <p:nvPr/>
        </p:nvSpPr>
        <p:spPr>
          <a:xfrm>
            <a:off x="5660136" y="3685032"/>
            <a:ext cx="237744" cy="548640"/>
          </a:xfrm>
          <a:prstGeom prst="rect">
            <a:avLst/>
          </a:prstGeom>
          <a:solidFill>
            <a:srgbClr val="6B3220"/>
          </a:solidFill>
          <a:ln/>
        </p:spPr>
      </p:sp>
      <p:sp>
        <p:nvSpPr>
          <p:cNvPr id="64" name="column-bottom"/>
          <p:cNvSpPr/>
          <p:nvPr/>
        </p:nvSpPr>
        <p:spPr>
          <a:xfrm>
            <a:off x="5660136" y="4169664"/>
            <a:ext cx="237744" cy="118872"/>
          </a:xfrm>
          <a:prstGeom prst="ellipse">
            <a:avLst/>
          </a:prstGeom>
          <a:solidFill>
            <a:srgbClr val="6B3220"/>
          </a:solidFill>
          <a:ln/>
        </p:spPr>
      </p:sp>
      <p:sp>
        <p:nvSpPr>
          <p:cNvPr id="65" name="column-top"/>
          <p:cNvSpPr/>
          <p:nvPr/>
        </p:nvSpPr>
        <p:spPr>
          <a:xfrm>
            <a:off x="5660136" y="3621024"/>
            <a:ext cx="237744" cy="118872"/>
          </a:xfrm>
          <a:prstGeom prst="ellipse">
            <a:avLst/>
          </a:prstGeom>
          <a:solidFill>
            <a:srgbClr val="AE8E84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685800" y="45720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3 почвы × 2 плотности × 3 колонки · колонка 152 × 300 мм</a:t>
            </a:r>
            <a:endParaRPr lang="en-US" sz="1250" dirty="0"/>
          </a:p>
        </p:txBody>
      </p:sp>
      <p:sp>
        <p:nvSpPr>
          <p:cNvPr id="67" name="Text 64"/>
          <p:cNvSpPr txBox="1"/>
          <p:nvPr/>
        </p:nvSpPr>
        <p:spPr>
          <a:xfrm>
            <a:off x="685800" y="482803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физическая глина — частицы мельче 0,01 мм; все почвы незасолённые</a:t>
            </a:r>
            <a:endParaRPr lang="en-US" sz="1250" dirty="0"/>
          </a:p>
        </p:txBody>
      </p:sp>
      <p:sp>
        <p:nvSpPr>
          <p:cNvPr id="68" name="Text 65"/>
          <p:cNvSpPr txBox="1"/>
          <p:nvPr/>
        </p:nvSpPr>
        <p:spPr>
          <a:xfrm>
            <a:off x="662940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180</a:t>
            </a:r>
            <a:endParaRPr lang="en-US" sz="6600" dirty="0"/>
          </a:p>
        </p:txBody>
      </p:sp>
      <p:sp>
        <p:nvSpPr>
          <p:cNvPr id="69" name="Text 66"/>
          <p:cNvSpPr txBox="1"/>
          <p:nvPr/>
        </p:nvSpPr>
        <p:spPr>
          <a:xfrm>
            <a:off x="8458200" y="1810512"/>
            <a:ext cx="3047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измерений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6 вариантов × 3 колонки × 10 ступеней влажности → 60 средних</a:t>
            </a:r>
            <a:endParaRPr lang="en-US" sz="1600" dirty="0"/>
          </a:p>
        </p:txBody>
      </p:sp>
      <p:sp>
        <p:nvSpPr>
          <p:cNvPr id="70" name="rule"/>
          <p:cNvSpPr/>
          <p:nvPr/>
        </p:nvSpPr>
        <p:spPr>
          <a:xfrm>
            <a:off x="6629400" y="2788920"/>
            <a:ext cx="48764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pic>
        <p:nvPicPr>
          <p:cNvPr id="71" name="Image 0" descr="Sc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3008376"/>
            <a:ext cx="384048" cy="384048"/>
          </a:xfrm>
          <a:prstGeom prst="rect">
            <a:avLst/>
          </a:prstGeom>
        </p:spPr>
      </p:pic>
      <p:sp>
        <p:nvSpPr>
          <p:cNvPr id="72" name="Text 68"/>
          <p:cNvSpPr txBox="1"/>
          <p:nvPr/>
        </p:nvSpPr>
        <p:spPr>
          <a:xfrm>
            <a:off x="7178040" y="2971800"/>
            <a:ext cx="4327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Ключ ответов — весовой метод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сушка при 105 °C; точность ±0,005</a:t>
            </a:r>
            <a:endParaRPr lang="en-US" sz="1600" dirty="0"/>
          </a:p>
        </p:txBody>
      </p:sp>
      <p:pic>
        <p:nvPicPr>
          <p:cNvPr id="73" name="Image 1" descr="Targ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831336"/>
            <a:ext cx="384048" cy="384048"/>
          </a:xfrm>
          <a:prstGeom prst="rect">
            <a:avLst/>
          </a:prstGeom>
        </p:spPr>
      </p:pic>
      <p:sp>
        <p:nvSpPr>
          <p:cNvPr id="74" name="Text 69"/>
          <p:cNvSpPr txBox="1"/>
          <p:nvPr/>
        </p:nvSpPr>
        <p:spPr>
          <a:xfrm>
            <a:off x="7178040" y="3794760"/>
            <a:ext cx="43278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Сдвиг прицела (MB) и типичный промах (RMSE)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критерий годности: RMSE ≤ 0,02</a:t>
            </a:r>
            <a:endParaRPr lang="en-US" sz="1600" dirty="0"/>
          </a:p>
        </p:txBody>
      </p:sp>
      <p:sp>
        <p:nvSpPr>
          <p:cNvPr id="75" name="Text 70"/>
          <p:cNvSpPr txBox="1"/>
          <p:nvPr/>
        </p:nvSpPr>
        <p:spPr>
          <a:xfrm>
            <a:off x="6629400" y="4553712"/>
            <a:ext cx="4876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Каждое решение убирает постороннюю причину: пестроту поля, температуру, перетекание воды</a:t>
            </a:r>
            <a:endParaRPr lang="en-US" sz="1250" dirty="0"/>
          </a:p>
        </p:txBody>
      </p:sp>
      <p:sp>
        <p:nvSpPr>
          <p:cNvPr id="76" name="line"/>
          <p:cNvSpPr/>
          <p:nvPr/>
        </p:nvSpPr>
        <p:spPr>
          <a:xfrm>
            <a:off x="3429000" y="5321808"/>
            <a:ext cx="8076895" cy="0"/>
          </a:xfrm>
          <a:prstGeom prst="line">
            <a:avLst/>
          </a:prstGeom>
          <a:noFill/>
          <a:ln w="12700">
            <a:solidFill>
              <a:srgbClr val="B5ADA5"/>
            </a:solidFill>
            <a:prstDash val="solid"/>
          </a:ln>
        </p:spPr>
      </p:sp>
      <p:sp>
        <p:nvSpPr>
          <p:cNvPr id="77" name="line"/>
          <p:cNvSpPr/>
          <p:nvPr/>
        </p:nvSpPr>
        <p:spPr>
          <a:xfrm>
            <a:off x="3429000" y="5321808"/>
            <a:ext cx="0" cy="73152"/>
          </a:xfrm>
          <a:prstGeom prst="line">
            <a:avLst/>
          </a:prstGeom>
          <a:noFill/>
          <a:ln w="12700">
            <a:solidFill>
              <a:srgbClr val="B5ADA5"/>
            </a:solidFill>
            <a:prstDash val="solid"/>
          </a:ln>
        </p:spPr>
      </p:sp>
      <p:sp>
        <p:nvSpPr>
          <p:cNvPr id="78" name="line"/>
          <p:cNvSpPr/>
          <p:nvPr/>
        </p:nvSpPr>
        <p:spPr>
          <a:xfrm>
            <a:off x="11505895" y="5321808"/>
            <a:ext cx="0" cy="73152"/>
          </a:xfrm>
          <a:prstGeom prst="line">
            <a:avLst/>
          </a:prstGeom>
          <a:noFill/>
          <a:ln w="12700">
            <a:solidFill>
              <a:srgbClr val="B5ADA5"/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3429000" y="5029200"/>
            <a:ext cx="8076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повторяется на каждой из 10 ступеней влажности</a:t>
            </a:r>
            <a:endParaRPr lang="en-US" sz="1200" dirty="0"/>
          </a:p>
        </p:txBody>
      </p:sp>
      <p:sp>
        <p:nvSpPr>
          <p:cNvPr id="80" name="step-bar"/>
          <p:cNvSpPr/>
          <p:nvPr/>
        </p:nvSpPr>
        <p:spPr>
          <a:xfrm>
            <a:off x="685800" y="5486400"/>
            <a:ext cx="2587752" cy="45720"/>
          </a:xfrm>
          <a:prstGeom prst="rect">
            <a:avLst/>
          </a:prstGeom>
          <a:solidFill>
            <a:srgbClr val="BFDFE3"/>
          </a:solidFill>
          <a:ln/>
        </p:spPr>
      </p:sp>
      <p:sp>
        <p:nvSpPr>
          <p:cNvPr id="81" name="Text 76"/>
          <p:cNvSpPr txBox="1"/>
          <p:nvPr/>
        </p:nvSpPr>
        <p:spPr>
          <a:xfrm>
            <a:off x="685800" y="5596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2" name="Text 77"/>
          <p:cNvSpPr txBox="1"/>
          <p:nvPr/>
        </p:nvSpPr>
        <p:spPr>
          <a:xfrm>
            <a:off x="1051560" y="559612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Насыщение снизу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48 ч</a:t>
            </a:r>
            <a:endParaRPr lang="en-US" sz="1600" dirty="0"/>
          </a:p>
        </p:txBody>
      </p:sp>
      <p:sp>
        <p:nvSpPr>
          <p:cNvPr id="83" name="step-bar"/>
          <p:cNvSpPr/>
          <p:nvPr/>
        </p:nvSpPr>
        <p:spPr>
          <a:xfrm>
            <a:off x="3429000" y="5486400"/>
            <a:ext cx="2587752" cy="45720"/>
          </a:xfrm>
          <a:prstGeom prst="rect">
            <a:avLst/>
          </a:prstGeom>
          <a:solidFill>
            <a:srgbClr val="BFDFE3"/>
          </a:solidFill>
          <a:ln/>
        </p:spPr>
      </p:sp>
      <p:sp>
        <p:nvSpPr>
          <p:cNvPr id="84" name="Text 79"/>
          <p:cNvSpPr txBox="1"/>
          <p:nvPr/>
        </p:nvSpPr>
        <p:spPr>
          <a:xfrm>
            <a:off x="3429000" y="5596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5" name="Text 80"/>
          <p:cNvSpPr txBox="1"/>
          <p:nvPr/>
        </p:nvSpPr>
        <p:spPr>
          <a:xfrm>
            <a:off x="3794760" y="559612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Иссушение ступенями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при 20 °C</a:t>
            </a:r>
            <a:endParaRPr lang="en-US" sz="1600" dirty="0"/>
          </a:p>
        </p:txBody>
      </p:sp>
      <p:sp>
        <p:nvSpPr>
          <p:cNvPr id="86" name="step-bar"/>
          <p:cNvSpPr/>
          <p:nvPr/>
        </p:nvSpPr>
        <p:spPr>
          <a:xfrm>
            <a:off x="6172200" y="5486400"/>
            <a:ext cx="2587752" cy="45720"/>
          </a:xfrm>
          <a:prstGeom prst="rect">
            <a:avLst/>
          </a:prstGeom>
          <a:solidFill>
            <a:srgbClr val="BFDFE3"/>
          </a:solidFill>
          <a:ln/>
        </p:spPr>
      </p:sp>
      <p:sp>
        <p:nvSpPr>
          <p:cNvPr id="87" name="Text 82"/>
          <p:cNvSpPr txBox="1"/>
          <p:nvPr/>
        </p:nvSpPr>
        <p:spPr>
          <a:xfrm>
            <a:off x="6172200" y="5596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88" name="Text 83"/>
          <p:cNvSpPr txBox="1"/>
          <p:nvPr/>
        </p:nvSpPr>
        <p:spPr>
          <a:xfrm>
            <a:off x="6537960" y="559612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Равновесие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8–36 ч на ступени</a:t>
            </a:r>
            <a:endParaRPr lang="en-US" sz="1600" dirty="0"/>
          </a:p>
        </p:txBody>
      </p:sp>
      <p:sp>
        <p:nvSpPr>
          <p:cNvPr id="89" name="step-bar"/>
          <p:cNvSpPr/>
          <p:nvPr/>
        </p:nvSpPr>
        <p:spPr>
          <a:xfrm>
            <a:off x="8915400" y="5486400"/>
            <a:ext cx="2587752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0" name="Text 85"/>
          <p:cNvSpPr txBox="1"/>
          <p:nvPr/>
        </p:nvSpPr>
        <p:spPr>
          <a:xfrm>
            <a:off x="8915400" y="5596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91" name="Text 86"/>
          <p:cNvSpPr txBox="1"/>
          <p:nvPr/>
        </p:nvSpPr>
        <p:spPr>
          <a:xfrm>
            <a:off x="9281160" y="5596128"/>
            <a:ext cx="2221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Снимок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время пробега + масса колонки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влажнее почва, тем сильнее завышение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РЕЗУЛЬТАТ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Зачем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проверяли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Что нашли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доказали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делать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764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ошибка датчика Δθ, м³/м³</a:t>
            </a:r>
            <a:endParaRPr lang="en-US" sz="1250" dirty="0"/>
          </a:p>
        </p:txBody>
      </p:sp>
      <p:sp>
        <p:nvSpPr>
          <p:cNvPr id="7" name="rule"/>
          <p:cNvSpPr/>
          <p:nvPr/>
        </p:nvSpPr>
        <p:spPr>
          <a:xfrm>
            <a:off x="1325880" y="4528566"/>
            <a:ext cx="603504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8" name="rule"/>
          <p:cNvSpPr/>
          <p:nvPr/>
        </p:nvSpPr>
        <p:spPr>
          <a:xfrm>
            <a:off x="1325880" y="3735324"/>
            <a:ext cx="603504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9" name="rule"/>
          <p:cNvSpPr/>
          <p:nvPr/>
        </p:nvSpPr>
        <p:spPr>
          <a:xfrm>
            <a:off x="1325880" y="2942082"/>
            <a:ext cx="603504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10" name="rule"/>
          <p:cNvSpPr/>
          <p:nvPr/>
        </p:nvSpPr>
        <p:spPr>
          <a:xfrm>
            <a:off x="1325880" y="2148840"/>
            <a:ext cx="603504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11" name="rule"/>
          <p:cNvSpPr/>
          <p:nvPr/>
        </p:nvSpPr>
        <p:spPr>
          <a:xfrm>
            <a:off x="1325880" y="5321808"/>
            <a:ext cx="6035040" cy="0"/>
          </a:xfrm>
          <a:prstGeom prst="line">
            <a:avLst/>
          </a:prstGeom>
          <a:noFill/>
          <a:ln w="12700">
            <a:solidFill>
              <a:srgbClr val="B5ADA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52029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440969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0,01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61645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0,02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282321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0,03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20299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0,04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53766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258568" y="53766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0,1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465576" y="53766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0,2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672584" y="53766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879592" y="53766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0,4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53766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65099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влажность по эталону θ, м³/м³ · плотность 1,35 г/см³</a:t>
            </a:r>
            <a:endParaRPr lang="en-US" sz="1250" dirty="0"/>
          </a:p>
        </p:txBody>
      </p:sp>
      <p:sp>
        <p:nvSpPr>
          <p:cNvPr id="24" name="passport-limit"/>
          <p:cNvSpPr/>
          <p:nvPr/>
        </p:nvSpPr>
        <p:spPr>
          <a:xfrm>
            <a:off x="1325880" y="3338703"/>
            <a:ext cx="603504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1399032" y="3064383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паспортный предел 0,025</a:t>
            </a:r>
            <a:endParaRPr lang="en-US" sz="1200" dirty="0"/>
          </a:p>
        </p:txBody>
      </p:sp>
      <p:sp>
        <p:nvSpPr>
          <p:cNvPr id="26" name="C-outside"/>
          <p:cNvSpPr/>
          <p:nvPr/>
        </p:nvSpPr>
        <p:spPr>
          <a:xfrm>
            <a:off x="6153912" y="2307488"/>
            <a:ext cx="965606" cy="872566"/>
          </a:xfrm>
          <a:custGeom>
            <a:avLst/>
            <a:gdLst/>
            <a:ahLst/>
            <a:cxnLst/>
            <a:rect l="l" t="t" r="r" b="b"/>
            <a:pathLst>
              <a:path w="965606" h="872566">
                <a:moveTo>
                  <a:pt x="0" y="872566"/>
                </a:moveTo>
                <a:lnTo>
                  <a:pt x="482803" y="555269"/>
                </a:lnTo>
                <a:lnTo>
                  <a:pt x="965606" y="0"/>
                </a:lnTo>
              </a:path>
            </a:pathLst>
          </a:custGeom>
          <a:noFill/>
          <a:ln w="19050" cap="rnd">
            <a:solidFill>
              <a:srgbClr val="6B3220"/>
            </a:solidFill>
            <a:prstDash val="sysDot"/>
            <a:round/>
          </a:ln>
        </p:spPr>
      </p:sp>
      <p:sp>
        <p:nvSpPr>
          <p:cNvPr id="27" name="series-A"/>
          <p:cNvSpPr/>
          <p:nvPr/>
        </p:nvSpPr>
        <p:spPr>
          <a:xfrm>
            <a:off x="1929384" y="4449242"/>
            <a:ext cx="4224528" cy="872566"/>
          </a:xfrm>
          <a:custGeom>
            <a:avLst/>
            <a:gdLst/>
            <a:ahLst/>
            <a:cxnLst/>
            <a:rect l="l" t="t" r="r" b="b"/>
            <a:pathLst>
              <a:path w="4224528" h="872566">
                <a:moveTo>
                  <a:pt x="0" y="872566"/>
                </a:moveTo>
                <a:lnTo>
                  <a:pt x="603504" y="793242"/>
                </a:lnTo>
                <a:lnTo>
                  <a:pt x="1810512" y="634594"/>
                </a:lnTo>
                <a:lnTo>
                  <a:pt x="3017520" y="475945"/>
                </a:lnTo>
                <a:lnTo>
                  <a:pt x="3983126" y="79324"/>
                </a:lnTo>
                <a:lnTo>
                  <a:pt x="4224528" y="0"/>
                </a:lnTo>
              </a:path>
            </a:pathLst>
          </a:custGeom>
          <a:noFill/>
          <a:ln w="31750" cap="rnd">
            <a:solidFill>
              <a:srgbClr val="C49A6C"/>
            </a:solidFill>
            <a:prstDash val="solid"/>
            <a:round/>
          </a:ln>
        </p:spPr>
      </p:sp>
      <p:sp>
        <p:nvSpPr>
          <p:cNvPr id="28" name="marker"/>
          <p:cNvSpPr/>
          <p:nvPr/>
        </p:nvSpPr>
        <p:spPr>
          <a:xfrm>
            <a:off x="1874520" y="5266944"/>
            <a:ext cx="109728" cy="109728"/>
          </a:xfrm>
          <a:prstGeom prst="ellipse">
            <a:avLst/>
          </a:prstGeom>
          <a:solidFill>
            <a:srgbClr val="C49A6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marker"/>
          <p:cNvSpPr/>
          <p:nvPr/>
        </p:nvSpPr>
        <p:spPr>
          <a:xfrm>
            <a:off x="2478024" y="5187620"/>
            <a:ext cx="109728" cy="109728"/>
          </a:xfrm>
          <a:prstGeom prst="ellipse">
            <a:avLst/>
          </a:prstGeom>
          <a:solidFill>
            <a:srgbClr val="C49A6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marker"/>
          <p:cNvSpPr/>
          <p:nvPr/>
        </p:nvSpPr>
        <p:spPr>
          <a:xfrm>
            <a:off x="3685032" y="5028971"/>
            <a:ext cx="109728" cy="109728"/>
          </a:xfrm>
          <a:prstGeom prst="ellipse">
            <a:avLst/>
          </a:prstGeom>
          <a:solidFill>
            <a:srgbClr val="C49A6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marker"/>
          <p:cNvSpPr/>
          <p:nvPr/>
        </p:nvSpPr>
        <p:spPr>
          <a:xfrm>
            <a:off x="4892040" y="4870323"/>
            <a:ext cx="109728" cy="109728"/>
          </a:xfrm>
          <a:prstGeom prst="ellipse">
            <a:avLst/>
          </a:prstGeom>
          <a:solidFill>
            <a:srgbClr val="C49A6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marker"/>
          <p:cNvSpPr/>
          <p:nvPr/>
        </p:nvSpPr>
        <p:spPr>
          <a:xfrm>
            <a:off x="5857646" y="4473702"/>
            <a:ext cx="109728" cy="109728"/>
          </a:xfrm>
          <a:prstGeom prst="ellipse">
            <a:avLst/>
          </a:prstGeom>
          <a:solidFill>
            <a:srgbClr val="C49A6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marker"/>
          <p:cNvSpPr/>
          <p:nvPr/>
        </p:nvSpPr>
        <p:spPr>
          <a:xfrm>
            <a:off x="6099048" y="4394378"/>
            <a:ext cx="109728" cy="109728"/>
          </a:xfrm>
          <a:prstGeom prst="ellipse">
            <a:avLst/>
          </a:prstGeom>
          <a:solidFill>
            <a:srgbClr val="C49A6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series-B"/>
          <p:cNvSpPr/>
          <p:nvPr/>
        </p:nvSpPr>
        <p:spPr>
          <a:xfrm>
            <a:off x="1929384" y="3814648"/>
            <a:ext cx="4224528" cy="1427836"/>
          </a:xfrm>
          <a:custGeom>
            <a:avLst/>
            <a:gdLst/>
            <a:ahLst/>
            <a:cxnLst/>
            <a:rect l="l" t="t" r="r" b="b"/>
            <a:pathLst>
              <a:path w="4224528" h="1427836">
                <a:moveTo>
                  <a:pt x="0" y="1427836"/>
                </a:moveTo>
                <a:lnTo>
                  <a:pt x="603504" y="1348511"/>
                </a:lnTo>
                <a:lnTo>
                  <a:pt x="1810512" y="1110539"/>
                </a:lnTo>
                <a:lnTo>
                  <a:pt x="3017520" y="793242"/>
                </a:lnTo>
                <a:lnTo>
                  <a:pt x="3983126" y="158648"/>
                </a:lnTo>
                <a:lnTo>
                  <a:pt x="4224528" y="0"/>
                </a:lnTo>
              </a:path>
            </a:pathLst>
          </a:custGeom>
          <a:noFill/>
          <a:ln w="31750" cap="rnd">
            <a:solidFill>
              <a:srgbClr val="9A6440"/>
            </a:solidFill>
            <a:prstDash val="solid"/>
            <a:round/>
          </a:ln>
        </p:spPr>
      </p:sp>
      <p:sp>
        <p:nvSpPr>
          <p:cNvPr id="35" name="marker"/>
          <p:cNvSpPr/>
          <p:nvPr/>
        </p:nvSpPr>
        <p:spPr>
          <a:xfrm>
            <a:off x="1874520" y="5187620"/>
            <a:ext cx="109728" cy="109728"/>
          </a:xfrm>
          <a:prstGeom prst="ellipse">
            <a:avLst/>
          </a:prstGeom>
          <a:solidFill>
            <a:srgbClr val="9A644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marker"/>
          <p:cNvSpPr/>
          <p:nvPr/>
        </p:nvSpPr>
        <p:spPr>
          <a:xfrm>
            <a:off x="2478024" y="5108296"/>
            <a:ext cx="109728" cy="109728"/>
          </a:xfrm>
          <a:prstGeom prst="ellipse">
            <a:avLst/>
          </a:prstGeom>
          <a:solidFill>
            <a:srgbClr val="9A644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marker"/>
          <p:cNvSpPr/>
          <p:nvPr/>
        </p:nvSpPr>
        <p:spPr>
          <a:xfrm>
            <a:off x="3685032" y="4870323"/>
            <a:ext cx="109728" cy="109728"/>
          </a:xfrm>
          <a:prstGeom prst="ellipse">
            <a:avLst/>
          </a:prstGeom>
          <a:solidFill>
            <a:srgbClr val="9A644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marker"/>
          <p:cNvSpPr/>
          <p:nvPr/>
        </p:nvSpPr>
        <p:spPr>
          <a:xfrm>
            <a:off x="4892040" y="4553026"/>
            <a:ext cx="109728" cy="109728"/>
          </a:xfrm>
          <a:prstGeom prst="ellipse">
            <a:avLst/>
          </a:prstGeom>
          <a:solidFill>
            <a:srgbClr val="9A644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marker"/>
          <p:cNvSpPr/>
          <p:nvPr/>
        </p:nvSpPr>
        <p:spPr>
          <a:xfrm>
            <a:off x="5857646" y="3918433"/>
            <a:ext cx="109728" cy="109728"/>
          </a:xfrm>
          <a:prstGeom prst="ellipse">
            <a:avLst/>
          </a:prstGeom>
          <a:solidFill>
            <a:srgbClr val="9A644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marker"/>
          <p:cNvSpPr/>
          <p:nvPr/>
        </p:nvSpPr>
        <p:spPr>
          <a:xfrm>
            <a:off x="6099048" y="3759784"/>
            <a:ext cx="109728" cy="109728"/>
          </a:xfrm>
          <a:prstGeom prst="ellipse">
            <a:avLst/>
          </a:prstGeom>
          <a:solidFill>
            <a:srgbClr val="9A644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series-C"/>
          <p:cNvSpPr/>
          <p:nvPr/>
        </p:nvSpPr>
        <p:spPr>
          <a:xfrm>
            <a:off x="1929384" y="3180055"/>
            <a:ext cx="4224528" cy="2062429"/>
          </a:xfrm>
          <a:custGeom>
            <a:avLst/>
            <a:gdLst/>
            <a:ahLst/>
            <a:cxnLst/>
            <a:rect l="l" t="t" r="r" b="b"/>
            <a:pathLst>
              <a:path w="4224528" h="2062429">
                <a:moveTo>
                  <a:pt x="0" y="2062429"/>
                </a:moveTo>
                <a:lnTo>
                  <a:pt x="603504" y="1983105"/>
                </a:lnTo>
                <a:lnTo>
                  <a:pt x="1810512" y="1665808"/>
                </a:lnTo>
                <a:lnTo>
                  <a:pt x="3017520" y="1189863"/>
                </a:lnTo>
                <a:lnTo>
                  <a:pt x="3983126" y="396621"/>
                </a:lnTo>
                <a:lnTo>
                  <a:pt x="4224528" y="0"/>
                </a:lnTo>
              </a:path>
            </a:pathLst>
          </a:custGeom>
          <a:noFill/>
          <a:ln w="31750" cap="rnd">
            <a:solidFill>
              <a:srgbClr val="6B3220"/>
            </a:solidFill>
            <a:prstDash val="solid"/>
            <a:round/>
          </a:ln>
        </p:spPr>
      </p:sp>
      <p:sp>
        <p:nvSpPr>
          <p:cNvPr id="42" name="marker"/>
          <p:cNvSpPr/>
          <p:nvPr/>
        </p:nvSpPr>
        <p:spPr>
          <a:xfrm>
            <a:off x="1874520" y="5187620"/>
            <a:ext cx="109728" cy="109728"/>
          </a:xfrm>
          <a:prstGeom prst="ellipse">
            <a:avLst/>
          </a:prstGeom>
          <a:solidFill>
            <a:srgbClr val="6B322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3" name="marker"/>
          <p:cNvSpPr/>
          <p:nvPr/>
        </p:nvSpPr>
        <p:spPr>
          <a:xfrm>
            <a:off x="2478024" y="5108296"/>
            <a:ext cx="109728" cy="109728"/>
          </a:xfrm>
          <a:prstGeom prst="ellipse">
            <a:avLst/>
          </a:prstGeom>
          <a:solidFill>
            <a:srgbClr val="6B322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4" name="marker"/>
          <p:cNvSpPr/>
          <p:nvPr/>
        </p:nvSpPr>
        <p:spPr>
          <a:xfrm>
            <a:off x="3685032" y="4790999"/>
            <a:ext cx="109728" cy="109728"/>
          </a:xfrm>
          <a:prstGeom prst="ellipse">
            <a:avLst/>
          </a:prstGeom>
          <a:solidFill>
            <a:srgbClr val="6B322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marker"/>
          <p:cNvSpPr/>
          <p:nvPr/>
        </p:nvSpPr>
        <p:spPr>
          <a:xfrm>
            <a:off x="4892040" y="4315054"/>
            <a:ext cx="109728" cy="109728"/>
          </a:xfrm>
          <a:prstGeom prst="ellipse">
            <a:avLst/>
          </a:prstGeom>
          <a:solidFill>
            <a:srgbClr val="6B322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marker"/>
          <p:cNvSpPr/>
          <p:nvPr/>
        </p:nvSpPr>
        <p:spPr>
          <a:xfrm>
            <a:off x="5857646" y="3521812"/>
            <a:ext cx="109728" cy="109728"/>
          </a:xfrm>
          <a:prstGeom prst="ellipse">
            <a:avLst/>
          </a:prstGeom>
          <a:solidFill>
            <a:srgbClr val="6B322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marker"/>
          <p:cNvSpPr/>
          <p:nvPr/>
        </p:nvSpPr>
        <p:spPr>
          <a:xfrm>
            <a:off x="6099048" y="3125191"/>
            <a:ext cx="109728" cy="109728"/>
          </a:xfrm>
          <a:prstGeom prst="ellipse">
            <a:avLst/>
          </a:prstGeom>
          <a:solidFill>
            <a:srgbClr val="6B322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8" name="marker"/>
          <p:cNvSpPr/>
          <p:nvPr/>
        </p:nvSpPr>
        <p:spPr>
          <a:xfrm>
            <a:off x="6577279" y="2803322"/>
            <a:ext cx="118872" cy="1188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3220"/>
            </a:solidFill>
            <a:prstDash val="solid"/>
          </a:ln>
        </p:spPr>
      </p:sp>
      <p:sp>
        <p:nvSpPr>
          <p:cNvPr id="49" name="marker"/>
          <p:cNvSpPr/>
          <p:nvPr/>
        </p:nvSpPr>
        <p:spPr>
          <a:xfrm>
            <a:off x="7060082" y="2248052"/>
            <a:ext cx="118872" cy="1188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322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244998" y="218861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состояния вне анализа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6272784" y="433037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 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10–20 %</a:t>
            </a:r>
            <a:endParaRPr lang="en-US" sz="1250" dirty="0"/>
          </a:p>
        </p:txBody>
      </p:sp>
      <p:sp>
        <p:nvSpPr>
          <p:cNvPr id="52" name="Text 49"/>
          <p:cNvSpPr txBox="1"/>
          <p:nvPr/>
        </p:nvSpPr>
        <p:spPr>
          <a:xfrm>
            <a:off x="6272784" y="36957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 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40–50 %</a:t>
            </a:r>
            <a:endParaRPr lang="en-US" sz="1250" dirty="0"/>
          </a:p>
        </p:txBody>
      </p:sp>
      <p:sp>
        <p:nvSpPr>
          <p:cNvPr id="53" name="Text 50"/>
          <p:cNvSpPr txBox="1"/>
          <p:nvPr/>
        </p:nvSpPr>
        <p:spPr>
          <a:xfrm>
            <a:off x="4283050" y="349746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 </a:t>
            </a:r>
            <a:pPr algn="r"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50–65 %</a:t>
            </a:r>
            <a:endParaRPr lang="en-US" sz="1250" dirty="0"/>
          </a:p>
        </p:txBody>
      </p:sp>
      <p:sp>
        <p:nvSpPr>
          <p:cNvPr id="54" name="line"/>
          <p:cNvSpPr/>
          <p:nvPr/>
        </p:nvSpPr>
        <p:spPr>
          <a:xfrm>
            <a:off x="1325880" y="6135624"/>
            <a:ext cx="320040" cy="0"/>
          </a:xfrm>
          <a:prstGeom prst="line">
            <a:avLst/>
          </a:prstGeom>
          <a:noFill/>
          <a:ln w="31750">
            <a:solidFill>
              <a:srgbClr val="C49A6C"/>
            </a:solidFill>
            <a:prstDash val="solid"/>
          </a:ln>
        </p:spPr>
      </p:sp>
      <p:sp>
        <p:nvSpPr>
          <p:cNvPr id="55" name="marker"/>
          <p:cNvSpPr/>
          <p:nvPr/>
        </p:nvSpPr>
        <p:spPr>
          <a:xfrm>
            <a:off x="1440180" y="6089904"/>
            <a:ext cx="91440" cy="91440"/>
          </a:xfrm>
          <a:prstGeom prst="ellipse">
            <a:avLst/>
          </a:prstGeom>
          <a:solidFill>
            <a:srgbClr val="C49A6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719072" y="60167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A · 10–20 % физ. глины</a:t>
            </a:r>
            <a:endParaRPr lang="en-US" sz="1150" dirty="0"/>
          </a:p>
        </p:txBody>
      </p:sp>
      <p:sp>
        <p:nvSpPr>
          <p:cNvPr id="57" name="line"/>
          <p:cNvSpPr/>
          <p:nvPr/>
        </p:nvSpPr>
        <p:spPr>
          <a:xfrm>
            <a:off x="3383280" y="6135624"/>
            <a:ext cx="320040" cy="0"/>
          </a:xfrm>
          <a:prstGeom prst="line">
            <a:avLst/>
          </a:prstGeom>
          <a:noFill/>
          <a:ln w="31750">
            <a:solidFill>
              <a:srgbClr val="9A6440"/>
            </a:solidFill>
            <a:prstDash val="solid"/>
          </a:ln>
        </p:spPr>
      </p:sp>
      <p:sp>
        <p:nvSpPr>
          <p:cNvPr id="58" name="marker"/>
          <p:cNvSpPr/>
          <p:nvPr/>
        </p:nvSpPr>
        <p:spPr>
          <a:xfrm>
            <a:off x="3497580" y="6089904"/>
            <a:ext cx="91440" cy="91440"/>
          </a:xfrm>
          <a:prstGeom prst="ellipse">
            <a:avLst/>
          </a:prstGeom>
          <a:solidFill>
            <a:srgbClr val="9A644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3776472" y="60167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B · 40–50 %</a:t>
            </a:r>
            <a:endParaRPr lang="en-US" sz="1150" dirty="0"/>
          </a:p>
        </p:txBody>
      </p:sp>
      <p:sp>
        <p:nvSpPr>
          <p:cNvPr id="60" name="line"/>
          <p:cNvSpPr/>
          <p:nvPr/>
        </p:nvSpPr>
        <p:spPr>
          <a:xfrm>
            <a:off x="4663440" y="6135624"/>
            <a:ext cx="320040" cy="0"/>
          </a:xfrm>
          <a:prstGeom prst="line">
            <a:avLst/>
          </a:prstGeom>
          <a:noFill/>
          <a:ln w="31750">
            <a:solidFill>
              <a:srgbClr val="6B3220"/>
            </a:solidFill>
            <a:prstDash val="solid"/>
          </a:ln>
        </p:spPr>
      </p:sp>
      <p:sp>
        <p:nvSpPr>
          <p:cNvPr id="61" name="marker"/>
          <p:cNvSpPr/>
          <p:nvPr/>
        </p:nvSpPr>
        <p:spPr>
          <a:xfrm>
            <a:off x="4777740" y="6089904"/>
            <a:ext cx="91440" cy="91440"/>
          </a:xfrm>
          <a:prstGeom prst="ellipse">
            <a:avLst/>
          </a:prstGeom>
          <a:solidFill>
            <a:srgbClr val="6B322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056632" y="60167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C · 50–65 %</a:t>
            </a:r>
            <a:endParaRPr lang="en-US" sz="1150" dirty="0"/>
          </a:p>
        </p:txBody>
      </p:sp>
      <p:sp>
        <p:nvSpPr>
          <p:cNvPr id="63" name="marker"/>
          <p:cNvSpPr/>
          <p:nvPr/>
        </p:nvSpPr>
        <p:spPr>
          <a:xfrm>
            <a:off x="5939028" y="6085332"/>
            <a:ext cx="100584" cy="1005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322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099048" y="60167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вне анализа</a:t>
            </a:r>
            <a:endParaRPr lang="en-US" sz="1150" dirty="0"/>
          </a:p>
        </p:txBody>
      </p:sp>
      <p:sp>
        <p:nvSpPr>
          <p:cNvPr id="65" name="Text 62"/>
          <p:cNvSpPr txBox="1"/>
          <p:nvPr/>
        </p:nvSpPr>
        <p:spPr>
          <a:xfrm>
            <a:off x="8001000" y="1755648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≤ 0,014</a:t>
            </a:r>
            <a:endParaRPr lang="en-US" sz="3400" dirty="0"/>
          </a:p>
        </p:txBody>
      </p:sp>
      <p:sp>
        <p:nvSpPr>
          <p:cNvPr id="66" name="Text 63"/>
          <p:cNvSpPr txBox="1"/>
          <p:nvPr/>
        </p:nvSpPr>
        <p:spPr>
          <a:xfrm>
            <a:off x="8001000" y="2322576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типичный промах (RMSE) везде ниже критерия 0,02</a:t>
            </a:r>
            <a:endParaRPr lang="en-US" sz="1300" dirty="0"/>
          </a:p>
        </p:txBody>
      </p:sp>
      <p:sp>
        <p:nvSpPr>
          <p:cNvPr id="67" name="rule"/>
          <p:cNvSpPr/>
          <p:nvPr/>
        </p:nvSpPr>
        <p:spPr>
          <a:xfrm>
            <a:off x="8001000" y="2880360"/>
            <a:ext cx="35048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001000" y="2990088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+6…10 мм</a:t>
            </a:r>
            <a:endParaRPr lang="en-US" sz="3400" dirty="0"/>
          </a:p>
        </p:txBody>
      </p:sp>
      <p:sp>
        <p:nvSpPr>
          <p:cNvPr id="69" name="Text 66"/>
          <p:cNvSpPr txBox="1"/>
          <p:nvPr/>
        </p:nvSpPr>
        <p:spPr>
          <a:xfrm>
            <a:off x="8001000" y="3557016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средний сдвиг вверх в тяжёлых почвах на метровый слой (MB +0,006…+0,010, описательно); в лёгкой — на уровне погрешности</a:t>
            </a:r>
            <a:endParaRPr lang="en-US" sz="1300" dirty="0"/>
          </a:p>
        </p:txBody>
      </p:sp>
      <p:sp>
        <p:nvSpPr>
          <p:cNvPr id="70" name="rule"/>
          <p:cNvSpPr/>
          <p:nvPr/>
        </p:nvSpPr>
        <p:spPr>
          <a:xfrm>
            <a:off x="8001000" y="4297680"/>
            <a:ext cx="35048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001000" y="4407408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× 2,6</a:t>
            </a:r>
            <a:endParaRPr lang="en-US" sz="3400" dirty="0"/>
          </a:p>
        </p:txBody>
      </p:sp>
      <p:sp>
        <p:nvSpPr>
          <p:cNvPr id="72" name="Text 69"/>
          <p:cNvSpPr txBox="1"/>
          <p:nvPr/>
        </p:nvSpPr>
        <p:spPr>
          <a:xfrm>
            <a:off x="8001000" y="4974336"/>
            <a:ext cx="3504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во столько раз быстрее растёт ошибка в самой тяжёлой почве, чем в лёгкой (θ 0,20 → 0,40)</a:t>
            </a:r>
            <a:endParaRPr lang="en-US" sz="1300" dirty="0"/>
          </a:p>
        </p:txBody>
      </p:sp>
      <p:sp>
        <p:nvSpPr>
          <p:cNvPr id="73" name="analogy"/>
          <p:cNvSpPr/>
          <p:nvPr/>
        </p:nvSpPr>
        <p:spPr>
          <a:xfrm>
            <a:off x="8001000" y="5504688"/>
            <a:ext cx="3504895" cy="768096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pic>
        <p:nvPicPr>
          <p:cNvPr id="74" name="Image 0" descr="Gau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5687568"/>
            <a:ext cx="402336" cy="402336"/>
          </a:xfrm>
          <a:prstGeom prst="rect">
            <a:avLst/>
          </a:prstGeom>
        </p:spPr>
      </p:pic>
      <p:sp>
        <p:nvSpPr>
          <p:cNvPr id="75" name="Text 71"/>
          <p:cNvSpPr txBox="1"/>
          <p:nvPr/>
        </p:nvSpPr>
        <p:spPr>
          <a:xfrm>
            <a:off x="8659368" y="5504688"/>
            <a:ext cx="272765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Как спидометр: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чем быстрее, тем сильнее завышает → постоянная поправка не сработает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«Не значимо» — не значит «невиновен»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ДОКАЗАТЕЛЬСТВО 1 · ЭФФЕКТ ПОЧВЫ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Зачем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проверяли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нашли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делать</a:t>
            </a:r>
            <a:endParaRPr lang="en-US" sz="1000" dirty="0"/>
          </a:p>
        </p:txBody>
      </p:sp>
      <p:pic>
        <p:nvPicPr>
          <p:cNvPr id="6" name="Image 0" descr="Musi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7830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Если смешать всё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28600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доли разброса ошибки · 60 средних по колонкам</a:t>
            </a:r>
            <a:endParaRPr lang="en-US" sz="1200" dirty="0"/>
          </a:p>
        </p:txBody>
      </p:sp>
      <p:sp>
        <p:nvSpPr>
          <p:cNvPr id="9" name="share-0"/>
          <p:cNvSpPr/>
          <p:nvPr/>
        </p:nvSpPr>
        <p:spPr>
          <a:xfrm>
            <a:off x="685800" y="2606040"/>
            <a:ext cx="397330" cy="4572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share-1"/>
          <p:cNvSpPr/>
          <p:nvPr/>
        </p:nvSpPr>
        <p:spPr>
          <a:xfrm>
            <a:off x="1105990" y="2606040"/>
            <a:ext cx="43663" cy="4572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1" name="share-2"/>
          <p:cNvSpPr/>
          <p:nvPr/>
        </p:nvSpPr>
        <p:spPr>
          <a:xfrm>
            <a:off x="1172512" y="2606040"/>
            <a:ext cx="10973" cy="4572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share-3"/>
          <p:cNvSpPr/>
          <p:nvPr/>
        </p:nvSpPr>
        <p:spPr>
          <a:xfrm>
            <a:off x="1206345" y="2606040"/>
            <a:ext cx="3920901" cy="457200"/>
          </a:xfrm>
          <a:prstGeom prst="rect">
            <a:avLst/>
          </a:prstGeom>
          <a:solidFill>
            <a:srgbClr val="DDD8D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1371600" y="26243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внутри вариантов 89,8 %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в основном рост ошибки с влажностью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3227832"/>
            <a:ext cx="146304" cy="1463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86968" y="3172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почва 9,1 %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920240" y="3227832"/>
            <a:ext cx="146304" cy="1463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121408" y="3172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плотность 1,0 %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383280" y="3227832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584448" y="3172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взаимодействие 0,1 %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85800" y="36118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 = 0,074 → «не значимо»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" y="40507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Но «нет доказательств» ≠ «невиновен»</a:t>
            </a:r>
            <a:endParaRPr lang="en-US" sz="1700" dirty="0"/>
          </a:p>
        </p:txBody>
      </p:sp>
      <p:sp>
        <p:nvSpPr>
          <p:cNvPr id="22" name="Text 18"/>
          <p:cNvSpPr txBox="1"/>
          <p:nvPr/>
        </p:nvSpPr>
        <p:spPr>
          <a:xfrm>
            <a:off x="685800" y="443484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Эффект почвы заглушён ростом ошибки с влажностью — как разговор на концерте заглушает музыка</a:t>
            </a:r>
            <a:endParaRPr lang="en-US" sz="1350" dirty="0"/>
          </a:p>
        </p:txBody>
      </p:sp>
      <p:pic>
        <p:nvPicPr>
          <p:cNvPr id="23" name="Image 1" descr="Alert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40680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115568" y="5394960"/>
            <a:ext cx="4005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Граница вывода: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уровни влажности — состояния одних и тех же колонок, почва в группе одна → вывод описательный</a:t>
            </a:r>
            <a:endParaRPr lang="en-US" sz="1300" dirty="0"/>
          </a:p>
        </p:txBody>
      </p:sp>
      <p:sp>
        <p:nvSpPr>
          <p:cNvPr id="25" name="rule"/>
          <p:cNvSpPr/>
          <p:nvPr/>
        </p:nvSpPr>
        <p:spPr>
          <a:xfrm>
            <a:off x="5532120" y="1783080"/>
            <a:ext cx="0" cy="448056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pic>
        <p:nvPicPr>
          <p:cNvPr id="26" name="Image 2" descr="VolumeOf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8308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309360" y="1783080"/>
            <a:ext cx="5196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Выключим музыку: та же влажность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5852160" y="22585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ошибка Δθ, м³/м³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680960" y="2258568"/>
            <a:ext cx="3824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ни одна линия не идёт вниз: A &lt; B ≤ C</a:t>
            </a:r>
            <a:endParaRPr lang="en-US" sz="1250" dirty="0"/>
          </a:p>
        </p:txBody>
      </p:sp>
      <p:sp>
        <p:nvSpPr>
          <p:cNvPr id="30" name="rule"/>
          <p:cNvSpPr/>
          <p:nvPr/>
        </p:nvSpPr>
        <p:spPr>
          <a:xfrm>
            <a:off x="6675120" y="4251960"/>
            <a:ext cx="374904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31" name="rule"/>
          <p:cNvSpPr/>
          <p:nvPr/>
        </p:nvSpPr>
        <p:spPr>
          <a:xfrm>
            <a:off x="6675120" y="3429000"/>
            <a:ext cx="374904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32" name="rule"/>
          <p:cNvSpPr/>
          <p:nvPr/>
        </p:nvSpPr>
        <p:spPr>
          <a:xfrm>
            <a:off x="6675120" y="2606040"/>
            <a:ext cx="374904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33" name="rule"/>
          <p:cNvSpPr/>
          <p:nvPr/>
        </p:nvSpPr>
        <p:spPr>
          <a:xfrm>
            <a:off x="6675120" y="5074920"/>
            <a:ext cx="3749040" cy="0"/>
          </a:xfrm>
          <a:prstGeom prst="line">
            <a:avLst/>
          </a:prstGeom>
          <a:noFill/>
          <a:ln w="12700">
            <a:solidFill>
              <a:srgbClr val="B5ADA5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852160" y="49560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5852160" y="413308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0,01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5852160" y="331012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0,02</a:t>
            </a:r>
            <a:endParaRPr lang="en-US" sz="1200" dirty="0"/>
          </a:p>
        </p:txBody>
      </p:sp>
      <p:sp>
        <p:nvSpPr>
          <p:cNvPr id="37" name="Text 31"/>
          <p:cNvSpPr txBox="1"/>
          <p:nvPr/>
        </p:nvSpPr>
        <p:spPr>
          <a:xfrm>
            <a:off x="5852160" y="24871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0,03</a:t>
            </a:r>
            <a:endParaRPr lang="en-US" sz="1200" dirty="0"/>
          </a:p>
        </p:txBody>
      </p:sp>
      <p:sp>
        <p:nvSpPr>
          <p:cNvPr id="38" name="level-0,05"/>
          <p:cNvSpPr/>
          <p:nvPr/>
        </p:nvSpPr>
        <p:spPr>
          <a:xfrm>
            <a:off x="6949440" y="4992624"/>
            <a:ext cx="3200400" cy="82296"/>
          </a:xfrm>
          <a:custGeom>
            <a:avLst/>
            <a:gdLst/>
            <a:ahLst/>
            <a:cxnLst/>
            <a:rect l="l" t="t" r="r" b="b"/>
            <a:pathLst>
              <a:path w="3200400" h="82296">
                <a:moveTo>
                  <a:pt x="0" y="82296"/>
                </a:moveTo>
                <a:lnTo>
                  <a:pt x="1600200" y="0"/>
                </a:lnTo>
                <a:lnTo>
                  <a:pt x="3200400" y="0"/>
                </a:lnTo>
              </a:path>
            </a:pathLst>
          </a:custGeom>
          <a:noFill/>
          <a:ln w="25400" cap="rnd">
            <a:solidFill>
              <a:srgbClr val="7FBFC6"/>
            </a:solidFill>
            <a:prstDash val="solid"/>
            <a:round/>
          </a:ln>
        </p:spPr>
      </p:sp>
      <p:sp>
        <p:nvSpPr>
          <p:cNvPr id="39" name="marker"/>
          <p:cNvSpPr/>
          <p:nvPr/>
        </p:nvSpPr>
        <p:spPr>
          <a:xfrm>
            <a:off x="6899148" y="5024628"/>
            <a:ext cx="100584" cy="100584"/>
          </a:xfrm>
          <a:prstGeom prst="ellipse">
            <a:avLst/>
          </a:prstGeom>
          <a:solidFill>
            <a:srgbClr val="7FBFC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marker"/>
          <p:cNvSpPr/>
          <p:nvPr/>
        </p:nvSpPr>
        <p:spPr>
          <a:xfrm>
            <a:off x="8499348" y="4942332"/>
            <a:ext cx="100584" cy="100584"/>
          </a:xfrm>
          <a:prstGeom prst="ellipse">
            <a:avLst/>
          </a:prstGeom>
          <a:solidFill>
            <a:srgbClr val="7FBFC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1" name="marker"/>
          <p:cNvSpPr/>
          <p:nvPr/>
        </p:nvSpPr>
        <p:spPr>
          <a:xfrm>
            <a:off x="10099548" y="4942332"/>
            <a:ext cx="100584" cy="100584"/>
          </a:xfrm>
          <a:prstGeom prst="ellipse">
            <a:avLst/>
          </a:prstGeom>
          <a:solidFill>
            <a:srgbClr val="7FBFC6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level-0,10"/>
          <p:cNvSpPr/>
          <p:nvPr/>
        </p:nvSpPr>
        <p:spPr>
          <a:xfrm>
            <a:off x="6949440" y="4910328"/>
            <a:ext cx="3200400" cy="82296"/>
          </a:xfrm>
          <a:custGeom>
            <a:avLst/>
            <a:gdLst/>
            <a:ahLst/>
            <a:cxnLst/>
            <a:rect l="l" t="t" r="r" b="b"/>
            <a:pathLst>
              <a:path w="3200400" h="82296">
                <a:moveTo>
                  <a:pt x="0" y="82296"/>
                </a:moveTo>
                <a:lnTo>
                  <a:pt x="1600200" y="0"/>
                </a:lnTo>
                <a:lnTo>
                  <a:pt x="3200400" y="0"/>
                </a:lnTo>
              </a:path>
            </a:pathLst>
          </a:custGeom>
          <a:noFill/>
          <a:ln w="25400" cap="rnd">
            <a:solidFill>
              <a:srgbClr val="5EAAB4"/>
            </a:solidFill>
            <a:prstDash val="solid"/>
            <a:round/>
          </a:ln>
        </p:spPr>
      </p:sp>
      <p:sp>
        <p:nvSpPr>
          <p:cNvPr id="43" name="marker"/>
          <p:cNvSpPr/>
          <p:nvPr/>
        </p:nvSpPr>
        <p:spPr>
          <a:xfrm>
            <a:off x="6899148" y="4942332"/>
            <a:ext cx="100584" cy="100584"/>
          </a:xfrm>
          <a:prstGeom prst="ellipse">
            <a:avLst/>
          </a:prstGeom>
          <a:solidFill>
            <a:srgbClr val="5EAAB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4" name="marker"/>
          <p:cNvSpPr/>
          <p:nvPr/>
        </p:nvSpPr>
        <p:spPr>
          <a:xfrm>
            <a:off x="8499348" y="4860036"/>
            <a:ext cx="100584" cy="100584"/>
          </a:xfrm>
          <a:prstGeom prst="ellipse">
            <a:avLst/>
          </a:prstGeom>
          <a:solidFill>
            <a:srgbClr val="5EAAB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marker"/>
          <p:cNvSpPr/>
          <p:nvPr/>
        </p:nvSpPr>
        <p:spPr>
          <a:xfrm>
            <a:off x="10099548" y="4860036"/>
            <a:ext cx="100584" cy="100584"/>
          </a:xfrm>
          <a:prstGeom prst="ellipse">
            <a:avLst/>
          </a:prstGeom>
          <a:solidFill>
            <a:srgbClr val="5EAAB4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level-0,20"/>
          <p:cNvSpPr/>
          <p:nvPr/>
        </p:nvSpPr>
        <p:spPr>
          <a:xfrm>
            <a:off x="6949440" y="4581144"/>
            <a:ext cx="3200400" cy="246888"/>
          </a:xfrm>
          <a:custGeom>
            <a:avLst/>
            <a:gdLst/>
            <a:ahLst/>
            <a:cxnLst/>
            <a:rect l="l" t="t" r="r" b="b"/>
            <a:pathLst>
              <a:path w="3200400" h="246888">
                <a:moveTo>
                  <a:pt x="0" y="246888"/>
                </a:moveTo>
                <a:lnTo>
                  <a:pt x="1600200" y="82296"/>
                </a:lnTo>
                <a:lnTo>
                  <a:pt x="3200400" y="0"/>
                </a:lnTo>
              </a:path>
            </a:pathLst>
          </a:custGeom>
          <a:noFill/>
          <a:ln w="25400" cap="rnd">
            <a:solidFill>
              <a:srgbClr val="3F93A0"/>
            </a:solidFill>
            <a:prstDash val="solid"/>
            <a:round/>
          </a:ln>
        </p:spPr>
      </p:sp>
      <p:sp>
        <p:nvSpPr>
          <p:cNvPr id="47" name="marker"/>
          <p:cNvSpPr/>
          <p:nvPr/>
        </p:nvSpPr>
        <p:spPr>
          <a:xfrm>
            <a:off x="6899148" y="4777740"/>
            <a:ext cx="100584" cy="100584"/>
          </a:xfrm>
          <a:prstGeom prst="ellipse">
            <a:avLst/>
          </a:prstGeom>
          <a:solidFill>
            <a:srgbClr val="3F93A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8" name="marker"/>
          <p:cNvSpPr/>
          <p:nvPr/>
        </p:nvSpPr>
        <p:spPr>
          <a:xfrm>
            <a:off x="8499348" y="4613148"/>
            <a:ext cx="100584" cy="100584"/>
          </a:xfrm>
          <a:prstGeom prst="ellipse">
            <a:avLst/>
          </a:prstGeom>
          <a:solidFill>
            <a:srgbClr val="3F93A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9" name="marker"/>
          <p:cNvSpPr/>
          <p:nvPr/>
        </p:nvSpPr>
        <p:spPr>
          <a:xfrm>
            <a:off x="10099548" y="4530852"/>
            <a:ext cx="100584" cy="100584"/>
          </a:xfrm>
          <a:prstGeom prst="ellipse">
            <a:avLst/>
          </a:prstGeom>
          <a:solidFill>
            <a:srgbClr val="3F93A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0" name="level-0,30"/>
          <p:cNvSpPr/>
          <p:nvPr/>
        </p:nvSpPr>
        <p:spPr>
          <a:xfrm>
            <a:off x="6949440" y="4087368"/>
            <a:ext cx="3200400" cy="576072"/>
          </a:xfrm>
          <a:custGeom>
            <a:avLst/>
            <a:gdLst/>
            <a:ahLst/>
            <a:cxnLst/>
            <a:rect l="l" t="t" r="r" b="b"/>
            <a:pathLst>
              <a:path w="3200400" h="576072">
                <a:moveTo>
                  <a:pt x="0" y="576072"/>
                </a:moveTo>
                <a:lnTo>
                  <a:pt x="1600200" y="246888"/>
                </a:lnTo>
                <a:lnTo>
                  <a:pt x="3200400" y="0"/>
                </a:lnTo>
              </a:path>
            </a:pathLst>
          </a:custGeom>
          <a:noFill/>
          <a:ln w="25400" cap="rnd">
            <a:solidFill>
              <a:srgbClr val="26798A"/>
            </a:solidFill>
            <a:prstDash val="solid"/>
            <a:round/>
          </a:ln>
        </p:spPr>
      </p:sp>
      <p:sp>
        <p:nvSpPr>
          <p:cNvPr id="51" name="marker"/>
          <p:cNvSpPr/>
          <p:nvPr/>
        </p:nvSpPr>
        <p:spPr>
          <a:xfrm>
            <a:off x="6899148" y="4613148"/>
            <a:ext cx="100584" cy="100584"/>
          </a:xfrm>
          <a:prstGeom prst="ellipse">
            <a:avLst/>
          </a:prstGeom>
          <a:solidFill>
            <a:srgbClr val="26798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2" name="marker"/>
          <p:cNvSpPr/>
          <p:nvPr/>
        </p:nvSpPr>
        <p:spPr>
          <a:xfrm>
            <a:off x="8499348" y="4283964"/>
            <a:ext cx="100584" cy="100584"/>
          </a:xfrm>
          <a:prstGeom prst="ellipse">
            <a:avLst/>
          </a:prstGeom>
          <a:solidFill>
            <a:srgbClr val="26798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3" name="marker"/>
          <p:cNvSpPr/>
          <p:nvPr/>
        </p:nvSpPr>
        <p:spPr>
          <a:xfrm>
            <a:off x="10099548" y="4037076"/>
            <a:ext cx="100584" cy="100584"/>
          </a:xfrm>
          <a:prstGeom prst="ellipse">
            <a:avLst/>
          </a:prstGeom>
          <a:solidFill>
            <a:srgbClr val="26798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4" name="level-0,38"/>
          <p:cNvSpPr/>
          <p:nvPr/>
        </p:nvSpPr>
        <p:spPr>
          <a:xfrm>
            <a:off x="6949440" y="3264408"/>
            <a:ext cx="3200400" cy="987552"/>
          </a:xfrm>
          <a:custGeom>
            <a:avLst/>
            <a:gdLst/>
            <a:ahLst/>
            <a:cxnLst/>
            <a:rect l="l" t="t" r="r" b="b"/>
            <a:pathLst>
              <a:path w="3200400" h="987552">
                <a:moveTo>
                  <a:pt x="0" y="987552"/>
                </a:moveTo>
                <a:lnTo>
                  <a:pt x="1600200" y="411480"/>
                </a:lnTo>
                <a:lnTo>
                  <a:pt x="3200400" y="0"/>
                </a:lnTo>
              </a:path>
            </a:pathLst>
          </a:custGeom>
          <a:noFill/>
          <a:ln w="25400" cap="rnd">
            <a:solidFill>
              <a:srgbClr val="165F70"/>
            </a:solidFill>
            <a:prstDash val="solid"/>
            <a:round/>
          </a:ln>
        </p:spPr>
      </p:sp>
      <p:sp>
        <p:nvSpPr>
          <p:cNvPr id="55" name="marker"/>
          <p:cNvSpPr/>
          <p:nvPr/>
        </p:nvSpPr>
        <p:spPr>
          <a:xfrm>
            <a:off x="6899148" y="4201668"/>
            <a:ext cx="100584" cy="100584"/>
          </a:xfrm>
          <a:prstGeom prst="ellipse">
            <a:avLst/>
          </a:prstGeom>
          <a:solidFill>
            <a:srgbClr val="165F7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6" name="marker"/>
          <p:cNvSpPr/>
          <p:nvPr/>
        </p:nvSpPr>
        <p:spPr>
          <a:xfrm>
            <a:off x="8499348" y="3625596"/>
            <a:ext cx="100584" cy="100584"/>
          </a:xfrm>
          <a:prstGeom prst="ellipse">
            <a:avLst/>
          </a:prstGeom>
          <a:solidFill>
            <a:srgbClr val="165F7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7" name="marker"/>
          <p:cNvSpPr/>
          <p:nvPr/>
        </p:nvSpPr>
        <p:spPr>
          <a:xfrm>
            <a:off x="10099548" y="3214116"/>
            <a:ext cx="100584" cy="100584"/>
          </a:xfrm>
          <a:prstGeom prst="ellipse">
            <a:avLst/>
          </a:prstGeom>
          <a:solidFill>
            <a:srgbClr val="165F7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8" name="level-0,40"/>
          <p:cNvSpPr/>
          <p:nvPr/>
        </p:nvSpPr>
        <p:spPr>
          <a:xfrm>
            <a:off x="6949440" y="2852928"/>
            <a:ext cx="3200400" cy="1316736"/>
          </a:xfrm>
          <a:custGeom>
            <a:avLst/>
            <a:gdLst/>
            <a:ahLst/>
            <a:cxnLst/>
            <a:rect l="l" t="t" r="r" b="b"/>
            <a:pathLst>
              <a:path w="3200400" h="1316736">
                <a:moveTo>
                  <a:pt x="0" y="1316736"/>
                </a:moveTo>
                <a:lnTo>
                  <a:pt x="1600200" y="658368"/>
                </a:lnTo>
                <a:lnTo>
                  <a:pt x="3200400" y="0"/>
                </a:lnTo>
              </a:path>
            </a:pathLst>
          </a:custGeom>
          <a:noFill/>
          <a:ln w="25400" cap="rnd">
            <a:solidFill>
              <a:srgbClr val="0A4452"/>
            </a:solidFill>
            <a:prstDash val="solid"/>
            <a:round/>
          </a:ln>
        </p:spPr>
      </p:sp>
      <p:sp>
        <p:nvSpPr>
          <p:cNvPr id="59" name="marker"/>
          <p:cNvSpPr/>
          <p:nvPr/>
        </p:nvSpPr>
        <p:spPr>
          <a:xfrm>
            <a:off x="6899148" y="4119372"/>
            <a:ext cx="100584" cy="100584"/>
          </a:xfrm>
          <a:prstGeom prst="ellipse">
            <a:avLst/>
          </a:prstGeom>
          <a:solidFill>
            <a:srgbClr val="0A445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0" name="marker"/>
          <p:cNvSpPr/>
          <p:nvPr/>
        </p:nvSpPr>
        <p:spPr>
          <a:xfrm>
            <a:off x="8499348" y="3461004"/>
            <a:ext cx="100584" cy="100584"/>
          </a:xfrm>
          <a:prstGeom prst="ellipse">
            <a:avLst/>
          </a:prstGeom>
          <a:solidFill>
            <a:srgbClr val="0A445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1" name="marker"/>
          <p:cNvSpPr/>
          <p:nvPr/>
        </p:nvSpPr>
        <p:spPr>
          <a:xfrm>
            <a:off x="10099548" y="2802636"/>
            <a:ext cx="100584" cy="100584"/>
          </a:xfrm>
          <a:prstGeom prst="ellipse">
            <a:avLst/>
          </a:prstGeom>
          <a:solidFill>
            <a:srgbClr val="0A445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10287000" y="2734056"/>
            <a:ext cx="1218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θ = 0,40</a:t>
            </a:r>
            <a:endParaRPr lang="en-US" sz="1200" dirty="0"/>
          </a:p>
        </p:txBody>
      </p:sp>
      <p:sp>
        <p:nvSpPr>
          <p:cNvPr id="63" name="Text 57"/>
          <p:cNvSpPr txBox="1"/>
          <p:nvPr/>
        </p:nvSpPr>
        <p:spPr>
          <a:xfrm>
            <a:off x="10287000" y="3145536"/>
            <a:ext cx="1218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0,38</a:t>
            </a:r>
            <a:endParaRPr lang="en-US" sz="1200" dirty="0"/>
          </a:p>
        </p:txBody>
      </p:sp>
      <p:sp>
        <p:nvSpPr>
          <p:cNvPr id="64" name="Text 58"/>
          <p:cNvSpPr txBox="1"/>
          <p:nvPr/>
        </p:nvSpPr>
        <p:spPr>
          <a:xfrm>
            <a:off x="10287000" y="3968496"/>
            <a:ext cx="1218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0,30</a:t>
            </a:r>
            <a:endParaRPr lang="en-US" sz="1200" dirty="0"/>
          </a:p>
        </p:txBody>
      </p:sp>
      <p:sp>
        <p:nvSpPr>
          <p:cNvPr id="65" name="Text 59"/>
          <p:cNvSpPr txBox="1"/>
          <p:nvPr/>
        </p:nvSpPr>
        <p:spPr>
          <a:xfrm>
            <a:off x="10287000" y="4462272"/>
            <a:ext cx="1218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0,20</a:t>
            </a:r>
            <a:endParaRPr lang="en-US" sz="1200" dirty="0"/>
          </a:p>
        </p:txBody>
      </p:sp>
      <p:sp>
        <p:nvSpPr>
          <p:cNvPr id="66" name="Text 60"/>
          <p:cNvSpPr txBox="1"/>
          <p:nvPr/>
        </p:nvSpPr>
        <p:spPr>
          <a:xfrm>
            <a:off x="10287000" y="4832604"/>
            <a:ext cx="12188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0,05 и 0,10</a:t>
            </a:r>
            <a:endParaRPr lang="en-US" sz="1200" dirty="0"/>
          </a:p>
        </p:txBody>
      </p:sp>
      <p:sp>
        <p:nvSpPr>
          <p:cNvPr id="67" name="Shape 61"/>
          <p:cNvSpPr/>
          <p:nvPr/>
        </p:nvSpPr>
        <p:spPr>
          <a:xfrm>
            <a:off x="6766560" y="5230368"/>
            <a:ext cx="128016" cy="128016"/>
          </a:xfrm>
          <a:prstGeom prst="rect">
            <a:avLst/>
          </a:prstGeom>
          <a:solidFill>
            <a:srgbClr val="C49A6C"/>
          </a:solidFill>
          <a:ln/>
        </p:spPr>
      </p:sp>
      <p:sp>
        <p:nvSpPr>
          <p:cNvPr id="68" name="Text 62"/>
          <p:cNvSpPr txBox="1"/>
          <p:nvPr/>
        </p:nvSpPr>
        <p:spPr>
          <a:xfrm>
            <a:off x="6931152" y="51389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</a:t>
            </a:r>
            <a:endParaRPr lang="en-US" sz="1500" dirty="0"/>
          </a:p>
        </p:txBody>
      </p:sp>
      <p:sp>
        <p:nvSpPr>
          <p:cNvPr id="69" name="Shape 63"/>
          <p:cNvSpPr/>
          <p:nvPr/>
        </p:nvSpPr>
        <p:spPr>
          <a:xfrm>
            <a:off x="8366760" y="5230368"/>
            <a:ext cx="128016" cy="128016"/>
          </a:xfrm>
          <a:prstGeom prst="rect">
            <a:avLst/>
          </a:prstGeom>
          <a:solidFill>
            <a:srgbClr val="9A6440"/>
          </a:solidFill>
          <a:ln/>
        </p:spPr>
      </p:sp>
      <p:sp>
        <p:nvSpPr>
          <p:cNvPr id="70" name="Text 64"/>
          <p:cNvSpPr txBox="1"/>
          <p:nvPr/>
        </p:nvSpPr>
        <p:spPr>
          <a:xfrm>
            <a:off x="8531352" y="51389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</a:t>
            </a:r>
            <a:endParaRPr lang="en-US" sz="1500" dirty="0"/>
          </a:p>
        </p:txBody>
      </p:sp>
      <p:sp>
        <p:nvSpPr>
          <p:cNvPr id="71" name="Shape 65"/>
          <p:cNvSpPr/>
          <p:nvPr/>
        </p:nvSpPr>
        <p:spPr>
          <a:xfrm>
            <a:off x="9966960" y="5230368"/>
            <a:ext cx="128016" cy="128016"/>
          </a:xfrm>
          <a:prstGeom prst="rect">
            <a:avLst/>
          </a:prstGeom>
          <a:solidFill>
            <a:srgbClr val="6B3220"/>
          </a:solidFill>
          <a:ln/>
        </p:spPr>
      </p:sp>
      <p:sp>
        <p:nvSpPr>
          <p:cNvPr id="72" name="Text 66"/>
          <p:cNvSpPr txBox="1"/>
          <p:nvPr/>
        </p:nvSpPr>
        <p:spPr>
          <a:xfrm>
            <a:off x="10131552" y="513892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</a:t>
            </a:r>
            <a:endParaRPr lang="en-US" sz="1500" dirty="0"/>
          </a:p>
        </p:txBody>
      </p:sp>
      <p:sp>
        <p:nvSpPr>
          <p:cNvPr id="73" name="Text 67"/>
          <p:cNvSpPr txBox="1"/>
          <p:nvPr/>
        </p:nvSpPr>
        <p:spPr>
          <a:xfrm>
            <a:off x="5852160" y="5577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по уровням (блоки)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 = 0,013</a:t>
            </a:r>
            <a:endParaRPr lang="en-US" sz="1600" dirty="0"/>
          </a:p>
        </p:txBody>
      </p:sp>
      <p:sp>
        <p:nvSpPr>
          <p:cNvPr id="74" name="rule"/>
          <p:cNvSpPr/>
          <p:nvPr/>
        </p:nvSpPr>
        <p:spPr>
          <a:xfrm>
            <a:off x="7653528" y="5596128"/>
            <a:ext cx="0" cy="64008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75" name="Text 69"/>
          <p:cNvSpPr txBox="1"/>
          <p:nvPr/>
        </p:nvSpPr>
        <p:spPr>
          <a:xfrm>
            <a:off x="7744968" y="5577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только порядок (Фридман)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 = 0,004</a:t>
            </a:r>
            <a:endParaRPr lang="en-US" sz="1600" dirty="0"/>
          </a:p>
        </p:txBody>
      </p:sp>
      <p:sp>
        <p:nvSpPr>
          <p:cNvPr id="76" name="rule"/>
          <p:cNvSpPr/>
          <p:nvPr/>
        </p:nvSpPr>
        <p:spPr>
          <a:xfrm>
            <a:off x="9546336" y="5596128"/>
            <a:ext cx="0" cy="64008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77" name="Text 71"/>
          <p:cNvSpPr txBox="1"/>
          <p:nvPr/>
        </p:nvSpPr>
        <p:spPr>
          <a:xfrm>
            <a:off x="9637776" y="5577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если уровни независимы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(1/3)⁶ ≈ 1 из 729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Второй подозреваемый и несбывшийся прогноз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ДОКАЗАТЕЛЬСТВО 2 · МЕХАНИЗМ И ПЛОТНОСТЬ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Зачем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проверяли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нашли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делать</a:t>
            </a:r>
            <a:endParaRPr lang="en-US" sz="1000" dirty="0"/>
          </a:p>
        </p:txBody>
      </p:sp>
      <p:pic>
        <p:nvPicPr>
          <p:cNvPr id="6" name="Image 0" descr="DeviceCct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347472" cy="3474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17830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Глина и соли всегда в кадре вместе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2585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ECe, дСм/м — след солей</a:t>
            </a:r>
            <a:endParaRPr lang="en-US" sz="1200" dirty="0"/>
          </a:p>
        </p:txBody>
      </p:sp>
      <p:sp>
        <p:nvSpPr>
          <p:cNvPr id="9" name="marker"/>
          <p:cNvSpPr/>
          <p:nvPr/>
        </p:nvSpPr>
        <p:spPr>
          <a:xfrm>
            <a:off x="3232404" y="2318004"/>
            <a:ext cx="118872" cy="118872"/>
          </a:xfrm>
          <a:prstGeom prst="ellipse">
            <a:avLst/>
          </a:prstGeom>
          <a:solidFill>
            <a:srgbClr val="9A644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401568" y="22585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1,35 г/см³</a:t>
            </a:r>
            <a:endParaRPr lang="en-US" sz="1150" dirty="0"/>
          </a:p>
        </p:txBody>
      </p:sp>
      <p:sp>
        <p:nvSpPr>
          <p:cNvPr id="11" name="marker"/>
          <p:cNvSpPr/>
          <p:nvPr/>
        </p:nvSpPr>
        <p:spPr>
          <a:xfrm>
            <a:off x="4375404" y="2318004"/>
            <a:ext cx="118872" cy="1188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9A644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44568" y="22585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1,52 г/см³</a:t>
            </a:r>
            <a:endParaRPr lang="en-US" sz="1150" dirty="0"/>
          </a:p>
        </p:txBody>
      </p:sp>
      <p:sp>
        <p:nvSpPr>
          <p:cNvPr id="13" name="rule"/>
          <p:cNvSpPr/>
          <p:nvPr/>
        </p:nvSpPr>
        <p:spPr>
          <a:xfrm>
            <a:off x="1280160" y="4343400"/>
            <a:ext cx="416052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14" name="rule"/>
          <p:cNvSpPr/>
          <p:nvPr/>
        </p:nvSpPr>
        <p:spPr>
          <a:xfrm>
            <a:off x="1280160" y="3931920"/>
            <a:ext cx="416052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15" name="rule"/>
          <p:cNvSpPr/>
          <p:nvPr/>
        </p:nvSpPr>
        <p:spPr>
          <a:xfrm>
            <a:off x="1280160" y="3520440"/>
            <a:ext cx="416052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16" name="rule"/>
          <p:cNvSpPr/>
          <p:nvPr/>
        </p:nvSpPr>
        <p:spPr>
          <a:xfrm>
            <a:off x="1280160" y="3108960"/>
            <a:ext cx="416052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17" name="rule"/>
          <p:cNvSpPr/>
          <p:nvPr/>
        </p:nvSpPr>
        <p:spPr>
          <a:xfrm>
            <a:off x="1280160" y="2697480"/>
            <a:ext cx="416052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18" name="rule"/>
          <p:cNvSpPr/>
          <p:nvPr/>
        </p:nvSpPr>
        <p:spPr>
          <a:xfrm>
            <a:off x="1280160" y="4754880"/>
            <a:ext cx="4160520" cy="0"/>
          </a:xfrm>
          <a:prstGeom prst="line">
            <a:avLst/>
          </a:prstGeom>
          <a:noFill/>
          <a:ln w="12700">
            <a:solidFill>
              <a:srgbClr val="B5ADA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46360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0,2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85800" y="4224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" y="38130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0,4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85800" y="340156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0,5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85800" y="299008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0,6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85800" y="25786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0,7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005840" y="48097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392680" y="48097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3779520" y="48097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5166360" y="48097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12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1280160" y="504748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гигроскопичность MH, % — след глины</a:t>
            </a:r>
            <a:endParaRPr lang="en-US" sz="1200" dirty="0"/>
          </a:p>
        </p:txBody>
      </p:sp>
      <p:sp>
        <p:nvSpPr>
          <p:cNvPr id="30" name="marker"/>
          <p:cNvSpPr/>
          <p:nvPr/>
        </p:nvSpPr>
        <p:spPr>
          <a:xfrm>
            <a:off x="1930527" y="4059936"/>
            <a:ext cx="155448" cy="155448"/>
          </a:xfrm>
          <a:prstGeom prst="ellipse">
            <a:avLst/>
          </a:prstGeom>
          <a:solidFill>
            <a:srgbClr val="C49A6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marker"/>
          <p:cNvSpPr/>
          <p:nvPr/>
        </p:nvSpPr>
        <p:spPr>
          <a:xfrm>
            <a:off x="1999869" y="4347972"/>
            <a:ext cx="155448" cy="1554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49A6C"/>
            </a:solidFill>
            <a:prstDash val="solid"/>
          </a:ln>
        </p:spPr>
      </p:sp>
      <p:sp>
        <p:nvSpPr>
          <p:cNvPr id="32" name="marker"/>
          <p:cNvSpPr/>
          <p:nvPr/>
        </p:nvSpPr>
        <p:spPr>
          <a:xfrm>
            <a:off x="3456051" y="3360420"/>
            <a:ext cx="155448" cy="155448"/>
          </a:xfrm>
          <a:prstGeom prst="ellipse">
            <a:avLst/>
          </a:prstGeom>
          <a:solidFill>
            <a:srgbClr val="9A644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marker"/>
          <p:cNvSpPr/>
          <p:nvPr/>
        </p:nvSpPr>
        <p:spPr>
          <a:xfrm>
            <a:off x="3560064" y="3648456"/>
            <a:ext cx="155448" cy="1554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6440"/>
            </a:solidFill>
            <a:prstDash val="solid"/>
          </a:ln>
        </p:spPr>
      </p:sp>
      <p:sp>
        <p:nvSpPr>
          <p:cNvPr id="34" name="marker"/>
          <p:cNvSpPr/>
          <p:nvPr/>
        </p:nvSpPr>
        <p:spPr>
          <a:xfrm>
            <a:off x="5154930" y="2990088"/>
            <a:ext cx="155448" cy="155448"/>
          </a:xfrm>
          <a:prstGeom prst="ellipse">
            <a:avLst/>
          </a:prstGeom>
          <a:solidFill>
            <a:srgbClr val="6B322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marker"/>
          <p:cNvSpPr/>
          <p:nvPr/>
        </p:nvSpPr>
        <p:spPr>
          <a:xfrm>
            <a:off x="5050917" y="3483864"/>
            <a:ext cx="155448" cy="1554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3220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2181606" y="409194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3724466" y="33924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4816602" y="310438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1371600" y="2743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 = 0,88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685800" y="54132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сдвиг ~ MH: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R² = 0,88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    сдвиг ~ ECe: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R² = 0,96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685800" y="57607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Всего 6 точек (3 почвы × 2 плотности): кто виноват — данные не скажут</a:t>
            </a:r>
            <a:endParaRPr lang="en-US" sz="1300" dirty="0"/>
          </a:p>
        </p:txBody>
      </p:sp>
      <p:sp>
        <p:nvSpPr>
          <p:cNvPr id="42" name="rule"/>
          <p:cNvSpPr/>
          <p:nvPr/>
        </p:nvSpPr>
        <p:spPr>
          <a:xfrm>
            <a:off x="5806440" y="1783080"/>
            <a:ext cx="0" cy="448056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pic>
        <p:nvPicPr>
          <p:cNvPr id="43" name="Image 1" descr="LinkOf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347472" cy="347472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6583680" y="1783080"/>
            <a:ext cx="4922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Прогноз для плотности не сбылся</a:t>
            </a:r>
            <a:endParaRPr lang="en-US" sz="1700" dirty="0"/>
          </a:p>
        </p:txBody>
      </p:sp>
      <p:sp>
        <p:nvSpPr>
          <p:cNvPr id="45" name="Text 40"/>
          <p:cNvSpPr txBox="1"/>
          <p:nvPr/>
        </p:nvSpPr>
        <p:spPr>
          <a:xfrm>
            <a:off x="6126480" y="2258568"/>
            <a:ext cx="5379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сдвиг при уплотнении 1,35 → 1,52, мм в метровом слое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6126480" y="2596896"/>
            <a:ext cx="146304" cy="146304"/>
          </a:xfrm>
          <a:prstGeom prst="rect">
            <a:avLst/>
          </a:prstGeom>
          <a:solidFill>
            <a:srgbClr val="BCC2C3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6327648" y="2542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прогноз теории смеси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8366760" y="2596896"/>
            <a:ext cx="146304" cy="1463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8567928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наблюдалось</a:t>
            </a:r>
            <a:endParaRPr lang="en-US" sz="1200" dirty="0"/>
          </a:p>
        </p:txBody>
      </p:sp>
      <p:sp>
        <p:nvSpPr>
          <p:cNvPr id="50" name="rule"/>
          <p:cNvSpPr/>
          <p:nvPr/>
        </p:nvSpPr>
        <p:spPr>
          <a:xfrm>
            <a:off x="6629400" y="4407408"/>
            <a:ext cx="4876495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51" name="rule"/>
          <p:cNvSpPr/>
          <p:nvPr/>
        </p:nvSpPr>
        <p:spPr>
          <a:xfrm>
            <a:off x="6629400" y="3666744"/>
            <a:ext cx="4876495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52" name="rule"/>
          <p:cNvSpPr/>
          <p:nvPr/>
        </p:nvSpPr>
        <p:spPr>
          <a:xfrm>
            <a:off x="6629400" y="3296412"/>
            <a:ext cx="4876495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53" name="rule"/>
          <p:cNvSpPr/>
          <p:nvPr/>
        </p:nvSpPr>
        <p:spPr>
          <a:xfrm>
            <a:off x="6629400" y="2926080"/>
            <a:ext cx="4876495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54" name="rule"/>
          <p:cNvSpPr/>
          <p:nvPr/>
        </p:nvSpPr>
        <p:spPr>
          <a:xfrm>
            <a:off x="6629400" y="4037076"/>
            <a:ext cx="4876495" cy="0"/>
          </a:xfrm>
          <a:prstGeom prst="line">
            <a:avLst/>
          </a:prstGeom>
          <a:noFill/>
          <a:ln w="12700">
            <a:solidFill>
              <a:srgbClr val="B5ADA5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6126480" y="42885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−4</a:t>
            </a:r>
            <a:endParaRPr lang="en-US" sz="1200" dirty="0"/>
          </a:p>
        </p:txBody>
      </p:sp>
      <p:sp>
        <p:nvSpPr>
          <p:cNvPr id="56" name="Text 51"/>
          <p:cNvSpPr txBox="1"/>
          <p:nvPr/>
        </p:nvSpPr>
        <p:spPr>
          <a:xfrm>
            <a:off x="6126480" y="39182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</a:t>
            </a:r>
            <a:endParaRPr lang="en-US" sz="1200" dirty="0"/>
          </a:p>
        </p:txBody>
      </p:sp>
      <p:sp>
        <p:nvSpPr>
          <p:cNvPr id="57" name="Text 52"/>
          <p:cNvSpPr txBox="1"/>
          <p:nvPr/>
        </p:nvSpPr>
        <p:spPr>
          <a:xfrm>
            <a:off x="6126480" y="354787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+4</a:t>
            </a:r>
            <a:endParaRPr lang="en-US" sz="1200" dirty="0"/>
          </a:p>
        </p:txBody>
      </p:sp>
      <p:sp>
        <p:nvSpPr>
          <p:cNvPr id="58" name="Text 53"/>
          <p:cNvSpPr txBox="1"/>
          <p:nvPr/>
        </p:nvSpPr>
        <p:spPr>
          <a:xfrm>
            <a:off x="6126480" y="31775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+8</a:t>
            </a:r>
            <a:endParaRPr lang="en-US" sz="1200" dirty="0"/>
          </a:p>
        </p:txBody>
      </p:sp>
      <p:sp>
        <p:nvSpPr>
          <p:cNvPr id="59" name="Text 54"/>
          <p:cNvSpPr txBox="1"/>
          <p:nvPr/>
        </p:nvSpPr>
        <p:spPr>
          <a:xfrm>
            <a:off x="6126480" y="280720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+12</a:t>
            </a:r>
            <a:endParaRPr lang="en-US" sz="1200" dirty="0"/>
          </a:p>
        </p:txBody>
      </p:sp>
      <p:sp>
        <p:nvSpPr>
          <p:cNvPr id="60" name="predicted"/>
          <p:cNvSpPr/>
          <p:nvPr/>
        </p:nvSpPr>
        <p:spPr>
          <a:xfrm>
            <a:off x="6903720" y="3157538"/>
            <a:ext cx="420624" cy="879539"/>
          </a:xfrm>
          <a:prstGeom prst="rect">
            <a:avLst/>
          </a:prstGeom>
          <a:solidFill>
            <a:srgbClr val="BCC2C3"/>
          </a:solidFill>
          <a:ln/>
        </p:spPr>
      </p:sp>
      <p:sp>
        <p:nvSpPr>
          <p:cNvPr id="61" name="observed"/>
          <p:cNvSpPr/>
          <p:nvPr/>
        </p:nvSpPr>
        <p:spPr>
          <a:xfrm>
            <a:off x="7397496" y="4037076"/>
            <a:ext cx="420624" cy="18516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2" name="Text 57"/>
          <p:cNvSpPr txBox="1"/>
          <p:nvPr/>
        </p:nvSpPr>
        <p:spPr>
          <a:xfrm>
            <a:off x="6793992" y="288321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+9,5</a:t>
            </a:r>
            <a:endParaRPr lang="en-US" sz="1250" dirty="0"/>
          </a:p>
        </p:txBody>
      </p:sp>
      <p:sp>
        <p:nvSpPr>
          <p:cNvPr id="63" name="Text 58"/>
          <p:cNvSpPr txBox="1"/>
          <p:nvPr/>
        </p:nvSpPr>
        <p:spPr>
          <a:xfrm>
            <a:off x="7287768" y="424053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−2</a:t>
            </a:r>
            <a:endParaRPr lang="en-US" sz="1250" dirty="0"/>
          </a:p>
        </p:txBody>
      </p:sp>
      <p:sp>
        <p:nvSpPr>
          <p:cNvPr id="64" name="Text 59"/>
          <p:cNvSpPr txBox="1"/>
          <p:nvPr/>
        </p:nvSpPr>
        <p:spPr>
          <a:xfrm>
            <a:off x="7086600" y="4498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</a:t>
            </a:r>
            <a:endParaRPr lang="en-US" sz="1400" dirty="0"/>
          </a:p>
        </p:txBody>
      </p:sp>
      <p:sp>
        <p:nvSpPr>
          <p:cNvPr id="65" name="predicted"/>
          <p:cNvSpPr/>
          <p:nvPr/>
        </p:nvSpPr>
        <p:spPr>
          <a:xfrm>
            <a:off x="8503920" y="3157538"/>
            <a:ext cx="420624" cy="879539"/>
          </a:xfrm>
          <a:prstGeom prst="rect">
            <a:avLst/>
          </a:prstGeom>
          <a:solidFill>
            <a:srgbClr val="BCC2C3"/>
          </a:solidFill>
          <a:ln/>
        </p:spPr>
      </p:sp>
      <p:sp>
        <p:nvSpPr>
          <p:cNvPr id="66" name="observed"/>
          <p:cNvSpPr/>
          <p:nvPr/>
        </p:nvSpPr>
        <p:spPr>
          <a:xfrm>
            <a:off x="8997696" y="4037076"/>
            <a:ext cx="420624" cy="92583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7" name="Text 62"/>
          <p:cNvSpPr txBox="1"/>
          <p:nvPr/>
        </p:nvSpPr>
        <p:spPr>
          <a:xfrm>
            <a:off x="8394192" y="288321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+9,5</a:t>
            </a:r>
            <a:endParaRPr lang="en-US" sz="1250" dirty="0"/>
          </a:p>
        </p:txBody>
      </p:sp>
      <p:sp>
        <p:nvSpPr>
          <p:cNvPr id="68" name="Text 63"/>
          <p:cNvSpPr txBox="1"/>
          <p:nvPr/>
        </p:nvSpPr>
        <p:spPr>
          <a:xfrm>
            <a:off x="8887968" y="4147947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−1</a:t>
            </a:r>
            <a:endParaRPr lang="en-US" sz="1250" dirty="0"/>
          </a:p>
        </p:txBody>
      </p:sp>
      <p:sp>
        <p:nvSpPr>
          <p:cNvPr id="69" name="Text 64"/>
          <p:cNvSpPr txBox="1"/>
          <p:nvPr/>
        </p:nvSpPr>
        <p:spPr>
          <a:xfrm>
            <a:off x="8686800" y="4498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</a:t>
            </a:r>
            <a:endParaRPr lang="en-US" sz="1400" dirty="0"/>
          </a:p>
        </p:txBody>
      </p:sp>
      <p:sp>
        <p:nvSpPr>
          <p:cNvPr id="70" name="predicted"/>
          <p:cNvSpPr/>
          <p:nvPr/>
        </p:nvSpPr>
        <p:spPr>
          <a:xfrm>
            <a:off x="10104120" y="3157538"/>
            <a:ext cx="420624" cy="879539"/>
          </a:xfrm>
          <a:prstGeom prst="rect">
            <a:avLst/>
          </a:prstGeom>
          <a:solidFill>
            <a:srgbClr val="BCC2C3"/>
          </a:solidFill>
          <a:ln/>
        </p:spPr>
      </p:sp>
      <p:sp>
        <p:nvSpPr>
          <p:cNvPr id="71" name="observed"/>
          <p:cNvSpPr/>
          <p:nvPr/>
        </p:nvSpPr>
        <p:spPr>
          <a:xfrm>
            <a:off x="10597896" y="4037076"/>
            <a:ext cx="420624" cy="18516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2" name="Text 67"/>
          <p:cNvSpPr txBox="1"/>
          <p:nvPr/>
        </p:nvSpPr>
        <p:spPr>
          <a:xfrm>
            <a:off x="9994392" y="288321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+9,5</a:t>
            </a:r>
            <a:endParaRPr lang="en-US" sz="1250" dirty="0"/>
          </a:p>
        </p:txBody>
      </p:sp>
      <p:sp>
        <p:nvSpPr>
          <p:cNvPr id="73" name="Text 68"/>
          <p:cNvSpPr txBox="1"/>
          <p:nvPr/>
        </p:nvSpPr>
        <p:spPr>
          <a:xfrm>
            <a:off x="10488168" y="424053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−2</a:t>
            </a:r>
            <a:endParaRPr lang="en-US" sz="1250" dirty="0"/>
          </a:p>
        </p:txBody>
      </p:sp>
      <p:sp>
        <p:nvSpPr>
          <p:cNvPr id="74" name="Text 69"/>
          <p:cNvSpPr txBox="1"/>
          <p:nvPr/>
        </p:nvSpPr>
        <p:spPr>
          <a:xfrm>
            <a:off x="10287000" y="4498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</a:t>
            </a:r>
            <a:endParaRPr lang="en-US" sz="1400" dirty="0"/>
          </a:p>
        </p:txBody>
      </p:sp>
      <p:sp>
        <p:nvSpPr>
          <p:cNvPr id="75" name="link-0"/>
          <p:cNvSpPr/>
          <p:nvPr/>
        </p:nvSpPr>
        <p:spPr>
          <a:xfrm>
            <a:off x="6126480" y="4873752"/>
            <a:ext cx="170078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6" name="Text 71"/>
          <p:cNvSpPr txBox="1"/>
          <p:nvPr/>
        </p:nvSpPr>
        <p:spPr>
          <a:xfrm>
            <a:off x="6263640" y="4873752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модель смеси</a:t>
            </a:r>
            <a:endParaRPr lang="en-US" sz="1250" dirty="0"/>
          </a:p>
        </p:txBody>
      </p:sp>
      <p:sp>
        <p:nvSpPr>
          <p:cNvPr id="77" name="badge"/>
          <p:cNvSpPr/>
          <p:nvPr/>
        </p:nvSpPr>
        <p:spPr>
          <a:xfrm>
            <a:off x="7470648" y="493776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8" name="Text 73"/>
          <p:cNvSpPr txBox="1"/>
          <p:nvPr/>
        </p:nvSpPr>
        <p:spPr>
          <a:xfrm>
            <a:off x="7470648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?</a:t>
            </a:r>
            <a:endParaRPr lang="en-US" sz="1300" dirty="0"/>
          </a:p>
        </p:txBody>
      </p:sp>
      <p:sp>
        <p:nvSpPr>
          <p:cNvPr id="79" name="line"/>
          <p:cNvSpPr/>
          <p:nvPr/>
        </p:nvSpPr>
        <p:spPr>
          <a:xfrm>
            <a:off x="7827264" y="5074920"/>
            <a:ext cx="128016" cy="0"/>
          </a:xfrm>
          <a:prstGeom prst="line">
            <a:avLst/>
          </a:prstGeom>
          <a:noFill/>
          <a:ln w="25400">
            <a:solidFill>
              <a:srgbClr val="B5ADA5"/>
            </a:solidFill>
            <a:prstDash val="solid"/>
          </a:ln>
        </p:spPr>
      </p:sp>
      <p:sp>
        <p:nvSpPr>
          <p:cNvPr id="80" name="link-1"/>
          <p:cNvSpPr/>
          <p:nvPr/>
        </p:nvSpPr>
        <p:spPr>
          <a:xfrm>
            <a:off x="7955280" y="4873752"/>
            <a:ext cx="170078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81" name="Text 76"/>
          <p:cNvSpPr txBox="1"/>
          <p:nvPr/>
        </p:nvSpPr>
        <p:spPr>
          <a:xfrm>
            <a:off x="8092440" y="4873752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та же влажность</a:t>
            </a:r>
            <a:endParaRPr lang="en-US" sz="1250" dirty="0"/>
          </a:p>
        </p:txBody>
      </p:sp>
      <p:sp>
        <p:nvSpPr>
          <p:cNvPr id="82" name="badge"/>
          <p:cNvSpPr/>
          <p:nvPr/>
        </p:nvSpPr>
        <p:spPr>
          <a:xfrm>
            <a:off x="9299448" y="493776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3" name="Text 78"/>
          <p:cNvSpPr txBox="1"/>
          <p:nvPr/>
        </p:nvSpPr>
        <p:spPr>
          <a:xfrm>
            <a:off x="9299448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×</a:t>
            </a:r>
            <a:endParaRPr lang="en-US" sz="1300" dirty="0"/>
          </a:p>
        </p:txBody>
      </p:sp>
      <p:sp>
        <p:nvSpPr>
          <p:cNvPr id="84" name="line"/>
          <p:cNvSpPr/>
          <p:nvPr/>
        </p:nvSpPr>
        <p:spPr>
          <a:xfrm>
            <a:off x="9656064" y="5074920"/>
            <a:ext cx="128016" cy="0"/>
          </a:xfrm>
          <a:prstGeom prst="line">
            <a:avLst/>
          </a:prstGeom>
          <a:noFill/>
          <a:ln w="25400">
            <a:solidFill>
              <a:srgbClr val="B5ADA5"/>
            </a:solidFill>
            <a:prstDash val="solid"/>
          </a:ln>
        </p:spPr>
      </p:sp>
      <p:sp>
        <p:nvSpPr>
          <p:cNvPr id="85" name="link-2"/>
          <p:cNvSpPr/>
          <p:nvPr/>
        </p:nvSpPr>
        <p:spPr>
          <a:xfrm>
            <a:off x="9784080" y="4873752"/>
            <a:ext cx="170078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86" name="Text 81"/>
          <p:cNvSpPr txBox="1"/>
          <p:nvPr/>
        </p:nvSpPr>
        <p:spPr>
          <a:xfrm>
            <a:off x="9921240" y="4873752"/>
            <a:ext cx="1243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та же ECe</a:t>
            </a:r>
            <a:endParaRPr lang="en-US" sz="1250" dirty="0"/>
          </a:p>
        </p:txBody>
      </p:sp>
      <p:sp>
        <p:nvSpPr>
          <p:cNvPr id="87" name="badge"/>
          <p:cNvSpPr/>
          <p:nvPr/>
        </p:nvSpPr>
        <p:spPr>
          <a:xfrm>
            <a:off x="11128248" y="4937760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8" name="Text 83"/>
          <p:cNvSpPr txBox="1"/>
          <p:nvPr/>
        </p:nvSpPr>
        <p:spPr>
          <a:xfrm>
            <a:off x="11128248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×</a:t>
            </a:r>
            <a:endParaRPr lang="en-US" sz="1300" dirty="0"/>
          </a:p>
        </p:txBody>
      </p:sp>
      <p:sp>
        <p:nvSpPr>
          <p:cNvPr id="89" name="Text 84"/>
          <p:cNvSpPr txBox="1"/>
          <p:nvPr/>
        </p:nvSpPr>
        <p:spPr>
          <a:xfrm>
            <a:off x="6126480" y="5413248"/>
            <a:ext cx="5379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Все звенья целы ⇒ прогноз сбывается. Не сбылся ⇒ порвалось хотя бы одно.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Кандидаты: у плотных вариантов ECe ниже на 0,07–0,12 дСм/м, диапазоны влажности разные — но полностью разрыв они не объясняют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Насколько твёрды улики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ЧЕСТНАЯ ОЦЕНКА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Зачем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проверяли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нашли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Как доказали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делать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105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УТВЕРЖДЕНИЕ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18105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ТИП СВЯЗИ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18105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ТВЁРДОСТЬ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1810512"/>
            <a:ext cx="2864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СЛАБОЕ МЕСТО</a:t>
            </a:r>
            <a:endParaRPr lang="en-US" sz="1100" dirty="0"/>
          </a:p>
        </p:txBody>
      </p:sp>
      <p:sp>
        <p:nvSpPr>
          <p:cNvPr id="10" name="rule"/>
          <p:cNvSpPr/>
          <p:nvPr/>
        </p:nvSpPr>
        <p:spPr>
          <a:xfrm>
            <a:off x="685800" y="2130552"/>
            <a:ext cx="1082009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1945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Типичный промах (RMSE) &lt; 0,02 везде</a:t>
            </a:r>
            <a:endParaRPr lang="en-US" sz="1500" dirty="0"/>
          </a:p>
        </p:txBody>
      </p:sp>
      <p:pic>
        <p:nvPicPr>
          <p:cNvPr id="12" name="Image 0" descr="Ruler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3500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00600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прямое измерение</a:t>
            </a:r>
            <a:endParaRPr lang="en-US" sz="1400" dirty="0"/>
          </a:p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видим прямо</a:t>
            </a:r>
            <a:endParaRPr lang="en-US" sz="1400" dirty="0"/>
          </a:p>
        </p:txBody>
      </p:sp>
      <p:sp>
        <p:nvSpPr>
          <p:cNvPr id="14" name="strength"/>
          <p:cNvSpPr/>
          <p:nvPr/>
        </p:nvSpPr>
        <p:spPr>
          <a:xfrm>
            <a:off x="7269480" y="2377440"/>
            <a:ext cx="292608" cy="10972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5" name="strength"/>
          <p:cNvSpPr/>
          <p:nvPr/>
        </p:nvSpPr>
        <p:spPr>
          <a:xfrm>
            <a:off x="7616952" y="2377440"/>
            <a:ext cx="292608" cy="10972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6" name="strength"/>
          <p:cNvSpPr/>
          <p:nvPr/>
        </p:nvSpPr>
        <p:spPr>
          <a:xfrm>
            <a:off x="7964424" y="2377440"/>
            <a:ext cx="292608" cy="10972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269480" y="2542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высокая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641080" y="2194560"/>
            <a:ext cx="2864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лаборатория; средние трёх колонок, без разброса между датчиками</a:t>
            </a:r>
            <a:endParaRPr lang="en-US" sz="1300" dirty="0"/>
          </a:p>
        </p:txBody>
      </p:sp>
      <p:sp>
        <p:nvSpPr>
          <p:cNvPr id="19" name="rule"/>
          <p:cNvSpPr/>
          <p:nvPr/>
        </p:nvSpPr>
        <p:spPr>
          <a:xfrm>
            <a:off x="685800" y="2871216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5800" y="29077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Ошибка растёт с влажностью</a:t>
            </a:r>
            <a:endParaRPr lang="en-US" sz="1500" dirty="0"/>
          </a:p>
        </p:txBody>
      </p:sp>
      <p:pic>
        <p:nvPicPr>
          <p:cNvPr id="21" name="Image 1" descr="Ey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06324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800600" y="290779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прямое наблюдение</a:t>
            </a:r>
            <a:endParaRPr lang="en-US" sz="1400" dirty="0"/>
          </a:p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видим прямо</a:t>
            </a:r>
            <a:endParaRPr lang="en-US" sz="1400" dirty="0"/>
          </a:p>
        </p:txBody>
      </p:sp>
      <p:sp>
        <p:nvSpPr>
          <p:cNvPr id="23" name="strength"/>
          <p:cNvSpPr/>
          <p:nvPr/>
        </p:nvSpPr>
        <p:spPr>
          <a:xfrm>
            <a:off x="7269480" y="3090672"/>
            <a:ext cx="292608" cy="10972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24" name="strength"/>
          <p:cNvSpPr/>
          <p:nvPr/>
        </p:nvSpPr>
        <p:spPr>
          <a:xfrm>
            <a:off x="7616952" y="3090672"/>
            <a:ext cx="292608" cy="10972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25" name="strength"/>
          <p:cNvSpPr/>
          <p:nvPr/>
        </p:nvSpPr>
        <p:spPr>
          <a:xfrm>
            <a:off x="7964424" y="3090672"/>
            <a:ext cx="292608" cy="10972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7269480" y="32552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высокая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8641080" y="2907792"/>
            <a:ext cx="2864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до θ 0,40 (и два состояния вне анализа); только иссушение</a:t>
            </a:r>
            <a:endParaRPr lang="en-US" sz="1300" dirty="0"/>
          </a:p>
        </p:txBody>
      </p:sp>
      <p:sp>
        <p:nvSpPr>
          <p:cNvPr id="28" name="rule"/>
          <p:cNvSpPr/>
          <p:nvPr/>
        </p:nvSpPr>
        <p:spPr>
          <a:xfrm>
            <a:off x="685800" y="3584448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85800" y="362102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На равной влажности A &lt; B ≤ C</a:t>
            </a:r>
            <a:endParaRPr lang="en-US" sz="1500" dirty="0"/>
          </a:p>
        </p:txBody>
      </p:sp>
      <p:pic>
        <p:nvPicPr>
          <p:cNvPr id="30" name="Image 2" descr="ChartDo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776472"/>
            <a:ext cx="329184" cy="32918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4800600" y="362102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статистический вывод</a:t>
            </a:r>
            <a:endParaRPr lang="en-US" sz="1400" dirty="0"/>
          </a:p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обобщаем</a:t>
            </a:r>
            <a:endParaRPr lang="en-US" sz="1400" dirty="0"/>
          </a:p>
        </p:txBody>
      </p:sp>
      <p:sp>
        <p:nvSpPr>
          <p:cNvPr id="32" name="strength"/>
          <p:cNvSpPr/>
          <p:nvPr/>
        </p:nvSpPr>
        <p:spPr>
          <a:xfrm>
            <a:off x="7269480" y="3803904"/>
            <a:ext cx="292608" cy="10972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33" name="strength"/>
          <p:cNvSpPr/>
          <p:nvPr/>
        </p:nvSpPr>
        <p:spPr>
          <a:xfrm>
            <a:off x="7616952" y="3803904"/>
            <a:ext cx="292608" cy="10972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34" name="strength"/>
          <p:cNvSpPr/>
          <p:nvPr/>
        </p:nvSpPr>
        <p:spPr>
          <a:xfrm>
            <a:off x="7964424" y="3803904"/>
            <a:ext cx="292608" cy="109728"/>
          </a:xfrm>
          <a:prstGeom prst="roundRect">
            <a:avLst>
              <a:gd name="adj" fmla="val 25000"/>
            </a:avLst>
          </a:prstGeom>
          <a:solidFill>
            <a:srgbClr val="E6E2DD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7269480" y="39684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средняя</a:t>
            </a:r>
            <a:endParaRPr lang="en-US" sz="1150" dirty="0"/>
          </a:p>
        </p:txBody>
      </p:sp>
      <p:sp>
        <p:nvSpPr>
          <p:cNvPr id="36" name="Text 30"/>
          <p:cNvSpPr txBox="1"/>
          <p:nvPr/>
        </p:nvSpPr>
        <p:spPr>
          <a:xfrm>
            <a:off x="8641080" y="3621024"/>
            <a:ext cx="2864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уровни — состояния одних колонок; одна почва на группу</a:t>
            </a:r>
            <a:endParaRPr lang="en-US" sz="1300" dirty="0"/>
          </a:p>
        </p:txBody>
      </p:sp>
      <p:sp>
        <p:nvSpPr>
          <p:cNvPr id="37" name="rule"/>
          <p:cNvSpPr/>
          <p:nvPr/>
        </p:nvSpPr>
        <p:spPr>
          <a:xfrm>
            <a:off x="685800" y="4297680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85800" y="433425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Прогноз смеси для плотности не сбылся</a:t>
            </a:r>
            <a:endParaRPr lang="en-US" sz="1500" dirty="0"/>
          </a:p>
        </p:txBody>
      </p:sp>
      <p:pic>
        <p:nvPicPr>
          <p:cNvPr id="39" name="Image 3" descr="MathFunc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4489704"/>
            <a:ext cx="329184" cy="329184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4800600" y="433425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количественная модель</a:t>
            </a:r>
            <a:endParaRPr lang="en-US" sz="1400" dirty="0"/>
          </a:p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предсказываем</a:t>
            </a:r>
            <a:endParaRPr lang="en-US" sz="1400" dirty="0"/>
          </a:p>
        </p:txBody>
      </p:sp>
      <p:sp>
        <p:nvSpPr>
          <p:cNvPr id="41" name="strength"/>
          <p:cNvSpPr/>
          <p:nvPr/>
        </p:nvSpPr>
        <p:spPr>
          <a:xfrm>
            <a:off x="7269480" y="4517136"/>
            <a:ext cx="292608" cy="10972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42" name="strength"/>
          <p:cNvSpPr/>
          <p:nvPr/>
        </p:nvSpPr>
        <p:spPr>
          <a:xfrm>
            <a:off x="7616952" y="4517136"/>
            <a:ext cx="292608" cy="10972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sp>
        <p:nvSpPr>
          <p:cNvPr id="43" name="strength"/>
          <p:cNvSpPr/>
          <p:nvPr/>
        </p:nvSpPr>
        <p:spPr>
          <a:xfrm>
            <a:off x="7964424" y="4517136"/>
            <a:ext cx="292608" cy="109728"/>
          </a:xfrm>
          <a:prstGeom prst="roundRect">
            <a:avLst>
              <a:gd name="adj" fmla="val 25000"/>
            </a:avLst>
          </a:prstGeom>
          <a:solidFill>
            <a:srgbClr val="E6E2DD"/>
          </a:solidFill>
          <a:ln/>
        </p:spPr>
      </p:sp>
      <p:sp>
        <p:nvSpPr>
          <p:cNvPr id="44" name="Text 37"/>
          <p:cNvSpPr txBox="1"/>
          <p:nvPr/>
        </p:nvSpPr>
        <p:spPr>
          <a:xfrm>
            <a:off x="7269480" y="46817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средняя</a:t>
            </a:r>
            <a:endParaRPr lang="en-US" sz="1150" dirty="0"/>
          </a:p>
        </p:txBody>
      </p:sp>
      <p:sp>
        <p:nvSpPr>
          <p:cNvPr id="45" name="Text 38"/>
          <p:cNvSpPr txBox="1"/>
          <p:nvPr/>
        </p:nvSpPr>
        <p:spPr>
          <a:xfrm>
            <a:off x="8641080" y="4334256"/>
            <a:ext cx="2864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ECe и диапазоны влажности вариантов различались</a:t>
            </a:r>
            <a:endParaRPr lang="en-US" sz="1300" dirty="0"/>
          </a:p>
        </p:txBody>
      </p:sp>
      <p:sp>
        <p:nvSpPr>
          <p:cNvPr id="46" name="rule"/>
          <p:cNvSpPr/>
          <p:nvPr/>
        </p:nvSpPr>
        <p:spPr>
          <a:xfrm>
            <a:off x="685800" y="5010912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685800" y="50474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Виновата именно поверхность глин</a:t>
            </a:r>
            <a:endParaRPr lang="en-US" sz="1500" dirty="0"/>
          </a:p>
        </p:txBody>
      </p:sp>
      <p:pic>
        <p:nvPicPr>
          <p:cNvPr id="48" name="Image 4" descr="Fingerpri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5202936"/>
            <a:ext cx="329184" cy="329184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4800600" y="50474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косвенный показатель</a:t>
            </a:r>
            <a:endParaRPr lang="en-US" sz="1400" dirty="0"/>
          </a:p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судим по следам</a:t>
            </a:r>
            <a:endParaRPr lang="en-US" sz="1400" dirty="0"/>
          </a:p>
        </p:txBody>
      </p:sp>
      <p:sp>
        <p:nvSpPr>
          <p:cNvPr id="50" name="strength"/>
          <p:cNvSpPr/>
          <p:nvPr/>
        </p:nvSpPr>
        <p:spPr>
          <a:xfrm>
            <a:off x="7269480" y="5230368"/>
            <a:ext cx="292608" cy="109728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51" name="strength"/>
          <p:cNvSpPr/>
          <p:nvPr/>
        </p:nvSpPr>
        <p:spPr>
          <a:xfrm>
            <a:off x="7616952" y="5230368"/>
            <a:ext cx="292608" cy="109728"/>
          </a:xfrm>
          <a:prstGeom prst="roundRect">
            <a:avLst>
              <a:gd name="adj" fmla="val 25000"/>
            </a:avLst>
          </a:prstGeom>
          <a:solidFill>
            <a:srgbClr val="E6E2DD"/>
          </a:solidFill>
          <a:ln/>
        </p:spPr>
      </p:sp>
      <p:sp>
        <p:nvSpPr>
          <p:cNvPr id="52" name="strength"/>
          <p:cNvSpPr/>
          <p:nvPr/>
        </p:nvSpPr>
        <p:spPr>
          <a:xfrm>
            <a:off x="7964424" y="5230368"/>
            <a:ext cx="292608" cy="109728"/>
          </a:xfrm>
          <a:prstGeom prst="roundRect">
            <a:avLst>
              <a:gd name="adj" fmla="val 25000"/>
            </a:avLst>
          </a:prstGeom>
          <a:solidFill>
            <a:srgbClr val="E6E2DD"/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7269480" y="5394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низкая</a:t>
            </a:r>
            <a:endParaRPr lang="en-US" sz="1150" dirty="0"/>
          </a:p>
        </p:txBody>
      </p:sp>
      <p:sp>
        <p:nvSpPr>
          <p:cNvPr id="54" name="Text 46"/>
          <p:cNvSpPr txBox="1"/>
          <p:nvPr/>
        </p:nvSpPr>
        <p:spPr>
          <a:xfrm>
            <a:off x="8641080" y="5047488"/>
            <a:ext cx="28648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не отделена от солей (r = 0,88); всего три почвы</a:t>
            </a:r>
            <a:endParaRPr lang="en-US" sz="1300" dirty="0"/>
          </a:p>
        </p:txBody>
      </p:sp>
      <p:sp>
        <p:nvSpPr>
          <p:cNvPr id="55" name="rule"/>
          <p:cNvSpPr/>
          <p:nvPr/>
        </p:nvSpPr>
        <p:spPr>
          <a:xfrm>
            <a:off x="685800" y="5724144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pic>
        <p:nvPicPr>
          <p:cNvPr id="56" name="Image 5" descr="Arrow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870448"/>
            <a:ext cx="329184" cy="329184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1143000" y="585216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Слабые места — это адреса следующих опытов </a:t>
            </a:r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(слайд 11)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делать, пока дело не закрыто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ПРАКТИКА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Зачем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проверяли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нашли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доказали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Что делать</a:t>
            </a:r>
            <a:endParaRPr lang="en-US" sz="1000" dirty="0"/>
          </a:p>
        </p:txBody>
      </p:sp>
      <p:sp>
        <p:nvSpPr>
          <p:cNvPr id="6" name="light"/>
          <p:cNvSpPr/>
          <p:nvPr/>
        </p:nvSpPr>
        <p:spPr>
          <a:xfrm>
            <a:off x="685800" y="1856232"/>
            <a:ext cx="274320" cy="27432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97280" y="18653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ЗЕЛЁНЫЙ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093976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Лёгкие незасолённые (10–20 % физ. глины)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как наша почва A: заводская калибровка годится без поправки</a:t>
            </a:r>
            <a:endParaRPr lang="en-US" sz="1600" dirty="0"/>
          </a:p>
        </p:txBody>
      </p:sp>
      <p:sp>
        <p:nvSpPr>
          <p:cNvPr id="9" name="rule"/>
          <p:cNvSpPr/>
          <p:nvPr/>
        </p:nvSpPr>
        <p:spPr>
          <a:xfrm>
            <a:off x="685800" y="2834640"/>
            <a:ext cx="5577840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10" name="light"/>
          <p:cNvSpPr/>
          <p:nvPr/>
        </p:nvSpPr>
        <p:spPr>
          <a:xfrm>
            <a:off x="685800" y="295351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7280" y="29626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ЖЁЛТЫЙ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3191256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Тяжёлые почвы, 40–65 % физ. глины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завышение 6–10 мм воды в метровом слое, до 27 мм во влажной: калибровка под почву или 1–2 весовые проверки за сезон</a:t>
            </a:r>
            <a:endParaRPr lang="en-US" sz="1600" dirty="0"/>
          </a:p>
        </p:txBody>
      </p:sp>
      <p:sp>
        <p:nvSpPr>
          <p:cNvPr id="13" name="rule"/>
          <p:cNvSpPr/>
          <p:nvPr/>
        </p:nvSpPr>
        <p:spPr>
          <a:xfrm>
            <a:off x="685800" y="3931920"/>
            <a:ext cx="5577840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14" name="light"/>
          <p:cNvSpPr/>
          <p:nvPr/>
        </p:nvSpPr>
        <p:spPr>
          <a:xfrm>
            <a:off x="685800" y="4050792"/>
            <a:ext cx="274320" cy="2743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97280" y="4059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КРАСНЫЙ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4288536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Постоянная поправка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не годится: ошибается и в сухой, и во влажной почве (график справа)</a:t>
            </a:r>
            <a:endParaRPr lang="en-US" sz="1600" dirty="0"/>
          </a:p>
        </p:txBody>
      </p:sp>
      <p:sp>
        <p:nvSpPr>
          <p:cNvPr id="17" name="rule"/>
          <p:cNvSpPr/>
          <p:nvPr/>
        </p:nvSpPr>
        <p:spPr>
          <a:xfrm>
            <a:off x="685800" y="5029200"/>
            <a:ext cx="5577840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18" name="light"/>
          <p:cNvSpPr/>
          <p:nvPr/>
        </p:nvSpPr>
        <p:spPr>
          <a:xfrm>
            <a:off x="685800" y="5148072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97280" y="51572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СЕРЫЙ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5385816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Серая зона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20–40 % физ. глины не испытаны; в поле нужна температурная поправка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1783080"/>
            <a:ext cx="4785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Почему постоянная поправка не годится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720840" y="2121408"/>
            <a:ext cx="4785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почва C, 1,35 г/см³ · Δθ, м³/м³</a:t>
            </a:r>
            <a:endParaRPr lang="en-US" sz="1200" dirty="0"/>
          </a:p>
        </p:txBody>
      </p:sp>
      <p:sp>
        <p:nvSpPr>
          <p:cNvPr id="23" name="rule"/>
          <p:cNvSpPr/>
          <p:nvPr/>
        </p:nvSpPr>
        <p:spPr>
          <a:xfrm>
            <a:off x="7269480" y="4709160"/>
            <a:ext cx="292608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24" name="rule"/>
          <p:cNvSpPr/>
          <p:nvPr/>
        </p:nvSpPr>
        <p:spPr>
          <a:xfrm>
            <a:off x="7269480" y="3634740"/>
            <a:ext cx="292608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25" name="rule"/>
          <p:cNvSpPr/>
          <p:nvPr/>
        </p:nvSpPr>
        <p:spPr>
          <a:xfrm>
            <a:off x="7269480" y="3097530"/>
            <a:ext cx="292608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26" name="rule"/>
          <p:cNvSpPr/>
          <p:nvPr/>
        </p:nvSpPr>
        <p:spPr>
          <a:xfrm>
            <a:off x="7269480" y="2560320"/>
            <a:ext cx="2926080" cy="0"/>
          </a:xfrm>
          <a:prstGeom prst="line">
            <a:avLst/>
          </a:prstGeom>
          <a:noFill/>
          <a:ln w="9525">
            <a:solidFill>
              <a:srgbClr val="ECE8E4"/>
            </a:solidFill>
            <a:prstDash val="solid"/>
          </a:ln>
        </p:spPr>
      </p:sp>
      <p:sp>
        <p:nvSpPr>
          <p:cNvPr id="27" name="rule"/>
          <p:cNvSpPr/>
          <p:nvPr/>
        </p:nvSpPr>
        <p:spPr>
          <a:xfrm>
            <a:off x="7269480" y="4171950"/>
            <a:ext cx="2926080" cy="0"/>
          </a:xfrm>
          <a:prstGeom prst="line">
            <a:avLst/>
          </a:prstGeom>
          <a:noFill/>
          <a:ln w="12700">
            <a:solidFill>
              <a:srgbClr val="B5ADA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20840" y="45902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−0,01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720840" y="405307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720840" y="35158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0,01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720840" y="297865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0,02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720840" y="24414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0,03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995160" y="47731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726680" y="47731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0,1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458200" y="47731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0,2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189720" y="47731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0,3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9921240" y="47731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0,4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7269480" y="50109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влажность θ, м³/м³</a:t>
            </a:r>
            <a:endParaRPr lang="en-US" sz="1200" dirty="0"/>
          </a:p>
        </p:txBody>
      </p:sp>
      <p:sp>
        <p:nvSpPr>
          <p:cNvPr id="39" name="error-C"/>
          <p:cNvSpPr/>
          <p:nvPr/>
        </p:nvSpPr>
        <p:spPr>
          <a:xfrm>
            <a:off x="7635240" y="2721483"/>
            <a:ext cx="2560320" cy="1396746"/>
          </a:xfrm>
          <a:custGeom>
            <a:avLst/>
            <a:gdLst/>
            <a:ahLst/>
            <a:cxnLst/>
            <a:rect l="l" t="t" r="r" b="b"/>
            <a:pathLst>
              <a:path w="2560320" h="1396746">
                <a:moveTo>
                  <a:pt x="0" y="1396746"/>
                </a:moveTo>
                <a:lnTo>
                  <a:pt x="365760" y="1343025"/>
                </a:lnTo>
                <a:lnTo>
                  <a:pt x="1097280" y="1128141"/>
                </a:lnTo>
                <a:lnTo>
                  <a:pt x="1828800" y="805815"/>
                </a:lnTo>
                <a:lnTo>
                  <a:pt x="2414016" y="268605"/>
                </a:lnTo>
                <a:lnTo>
                  <a:pt x="2560320" y="0"/>
                </a:lnTo>
              </a:path>
            </a:pathLst>
          </a:custGeom>
          <a:noFill/>
          <a:ln w="31750" cap="rnd">
            <a:solidFill>
              <a:schemeClr val="accent3"/>
            </a:solidFill>
            <a:prstDash val="solid"/>
            <a:round/>
          </a:ln>
        </p:spPr>
      </p:sp>
      <p:sp>
        <p:nvSpPr>
          <p:cNvPr id="40" name="residual-C"/>
          <p:cNvSpPr/>
          <p:nvPr/>
        </p:nvSpPr>
        <p:spPr>
          <a:xfrm>
            <a:off x="7635240" y="3258693"/>
            <a:ext cx="2560320" cy="1396746"/>
          </a:xfrm>
          <a:custGeom>
            <a:avLst/>
            <a:gdLst/>
            <a:ahLst/>
            <a:cxnLst/>
            <a:rect l="l" t="t" r="r" b="b"/>
            <a:pathLst>
              <a:path w="2560320" h="1396746">
                <a:moveTo>
                  <a:pt x="0" y="1396746"/>
                </a:moveTo>
                <a:lnTo>
                  <a:pt x="365760" y="1343025"/>
                </a:lnTo>
                <a:lnTo>
                  <a:pt x="1097280" y="1128141"/>
                </a:lnTo>
                <a:lnTo>
                  <a:pt x="1828800" y="805815"/>
                </a:lnTo>
                <a:lnTo>
                  <a:pt x="2414016" y="268605"/>
                </a:lnTo>
                <a:lnTo>
                  <a:pt x="2560320" y="0"/>
                </a:lnTo>
              </a:path>
            </a:pathLst>
          </a:custGeom>
          <a:noFill/>
          <a:ln w="31750" cap="rnd">
            <a:solidFill>
              <a:schemeClr val="accent1"/>
            </a:solidFill>
            <a:prstDash val="solid"/>
            <a:round/>
          </a:ln>
        </p:spPr>
      </p:sp>
      <p:sp>
        <p:nvSpPr>
          <p:cNvPr id="41" name="marker"/>
          <p:cNvSpPr/>
          <p:nvPr/>
        </p:nvSpPr>
        <p:spPr>
          <a:xfrm>
            <a:off x="7584948" y="4067937"/>
            <a:ext cx="100584" cy="100584"/>
          </a:xfrm>
          <a:prstGeom prst="ellipse">
            <a:avLst/>
          </a:prstGeom>
          <a:solidFill>
            <a:schemeClr val="accent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marker"/>
          <p:cNvSpPr/>
          <p:nvPr/>
        </p:nvSpPr>
        <p:spPr>
          <a:xfrm>
            <a:off x="7584948" y="4605147"/>
            <a:ext cx="100584" cy="100584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3" name="marker"/>
          <p:cNvSpPr/>
          <p:nvPr/>
        </p:nvSpPr>
        <p:spPr>
          <a:xfrm>
            <a:off x="7950708" y="4014216"/>
            <a:ext cx="100584" cy="100584"/>
          </a:xfrm>
          <a:prstGeom prst="ellipse">
            <a:avLst/>
          </a:prstGeom>
          <a:solidFill>
            <a:schemeClr val="accent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4" name="marker"/>
          <p:cNvSpPr/>
          <p:nvPr/>
        </p:nvSpPr>
        <p:spPr>
          <a:xfrm>
            <a:off x="7950708" y="4551426"/>
            <a:ext cx="100584" cy="100584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marker"/>
          <p:cNvSpPr/>
          <p:nvPr/>
        </p:nvSpPr>
        <p:spPr>
          <a:xfrm>
            <a:off x="8682228" y="3799332"/>
            <a:ext cx="100584" cy="100584"/>
          </a:xfrm>
          <a:prstGeom prst="ellipse">
            <a:avLst/>
          </a:prstGeom>
          <a:solidFill>
            <a:schemeClr val="accent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marker"/>
          <p:cNvSpPr/>
          <p:nvPr/>
        </p:nvSpPr>
        <p:spPr>
          <a:xfrm>
            <a:off x="8682228" y="4336542"/>
            <a:ext cx="100584" cy="100584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marker"/>
          <p:cNvSpPr/>
          <p:nvPr/>
        </p:nvSpPr>
        <p:spPr>
          <a:xfrm>
            <a:off x="9413748" y="3477006"/>
            <a:ext cx="100584" cy="100584"/>
          </a:xfrm>
          <a:prstGeom prst="ellipse">
            <a:avLst/>
          </a:prstGeom>
          <a:solidFill>
            <a:schemeClr val="accent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8" name="marker"/>
          <p:cNvSpPr/>
          <p:nvPr/>
        </p:nvSpPr>
        <p:spPr>
          <a:xfrm>
            <a:off x="9413748" y="4014216"/>
            <a:ext cx="100584" cy="100584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9" name="marker"/>
          <p:cNvSpPr/>
          <p:nvPr/>
        </p:nvSpPr>
        <p:spPr>
          <a:xfrm>
            <a:off x="9998964" y="2939796"/>
            <a:ext cx="100584" cy="100584"/>
          </a:xfrm>
          <a:prstGeom prst="ellipse">
            <a:avLst/>
          </a:prstGeom>
          <a:solidFill>
            <a:schemeClr val="accent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0" name="marker"/>
          <p:cNvSpPr/>
          <p:nvPr/>
        </p:nvSpPr>
        <p:spPr>
          <a:xfrm>
            <a:off x="9998964" y="3477006"/>
            <a:ext cx="100584" cy="100584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1" name="marker"/>
          <p:cNvSpPr/>
          <p:nvPr/>
        </p:nvSpPr>
        <p:spPr>
          <a:xfrm>
            <a:off x="10145268" y="2671191"/>
            <a:ext cx="100584" cy="100584"/>
          </a:xfrm>
          <a:prstGeom prst="ellipse">
            <a:avLst/>
          </a:prstGeom>
          <a:solidFill>
            <a:schemeClr val="accent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2" name="marker"/>
          <p:cNvSpPr/>
          <p:nvPr/>
        </p:nvSpPr>
        <p:spPr>
          <a:xfrm>
            <a:off x="10145268" y="3208401"/>
            <a:ext cx="100584" cy="100584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332720" y="2502027"/>
            <a:ext cx="11731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ошибка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0…+0,027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10332720" y="3148965"/>
            <a:ext cx="11731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после поправки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−0,009…+0,017</a:t>
            </a:r>
            <a:endParaRPr lang="en-US" sz="1200" dirty="0"/>
          </a:p>
        </p:txBody>
      </p:sp>
      <p:sp>
        <p:nvSpPr>
          <p:cNvPr id="55" name="proposal"/>
          <p:cNvSpPr/>
          <p:nvPr/>
        </p:nvSpPr>
        <p:spPr>
          <a:xfrm>
            <a:off x="6720840" y="5440680"/>
            <a:ext cx="4785055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pic>
        <p:nvPicPr>
          <p:cNvPr id="56" name="Image 0" descr="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5641848"/>
            <a:ext cx="402336" cy="402336"/>
          </a:xfrm>
          <a:prstGeom prst="rect">
            <a:avLst/>
          </a:prstGeom>
        </p:spPr>
      </p:pic>
      <p:sp>
        <p:nvSpPr>
          <p:cNvPr id="57" name="Text 53"/>
          <p:cNvSpPr txBox="1"/>
          <p:nvPr/>
        </p:nvSpPr>
        <p:spPr>
          <a:xfrm>
            <a:off x="7379208" y="5440680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Наше предложение (в поле не проверено):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пробы после полива и перед поливом — одна точка даёт сдвиг, две — ещё и наклон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закрыть дело: решающие опыты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ПЕРСПЕКТИВЫ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Зачем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проверяли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Что нашли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Как доказали</a:t>
            </a:r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Что делать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10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ЕСЛИ ВЕРНО…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206240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…ТО УВИДИМ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1810512"/>
            <a:ext cx="34134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РЕШАЮЩИЙ ОПЫТ</a:t>
            </a:r>
            <a:endParaRPr lang="en-US" sz="1100" dirty="0"/>
          </a:p>
        </p:txBody>
      </p:sp>
      <p:sp>
        <p:nvSpPr>
          <p:cNvPr id="9" name="rule"/>
          <p:cNvSpPr/>
          <p:nvPr/>
        </p:nvSpPr>
        <p:spPr>
          <a:xfrm>
            <a:off x="685800" y="2130552"/>
            <a:ext cx="1082009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19456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Виноваты соли (проводимость раствора)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206240" y="21945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ошибка растёт вместе с ECe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2194560"/>
            <a:ext cx="3413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засолённые варианты, ECe 1–4 дСм/м (отдельная статья)</a:t>
            </a:r>
            <a:endParaRPr lang="en-US" sz="1350" dirty="0"/>
          </a:p>
        </p:txBody>
      </p:sp>
      <p:sp>
        <p:nvSpPr>
          <p:cNvPr id="13" name="rule"/>
          <p:cNvSpPr/>
          <p:nvPr/>
        </p:nvSpPr>
        <p:spPr>
          <a:xfrm>
            <a:off x="685800" y="2825496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852928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Виновата поверхность глин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206240" y="285292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при равной ECe ошибка больше там, где больше смектита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2852928"/>
            <a:ext cx="3413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минералогия глин; пары почв с равной ECe</a:t>
            </a:r>
            <a:endParaRPr lang="en-US" sz="1350" dirty="0"/>
          </a:p>
        </p:txBody>
      </p:sp>
      <p:sp>
        <p:nvSpPr>
          <p:cNvPr id="17" name="rule"/>
          <p:cNvSpPr/>
          <p:nvPr/>
        </p:nvSpPr>
        <p:spPr>
          <a:xfrm>
            <a:off x="685800" y="3483864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511296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Плотность «спрятана» разницей ECe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4206240" y="351129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при выровненной ECe сдвиг ближе к прогнозу +0,009…+0,010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092440" y="3511296"/>
            <a:ext cx="3413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уплотнение одной почвы при одинаковой ECe</a:t>
            </a:r>
            <a:endParaRPr lang="en-US" sz="1350" dirty="0"/>
          </a:p>
        </p:txBody>
      </p:sp>
      <p:sp>
        <p:nvSpPr>
          <p:cNvPr id="21" name="rule"/>
          <p:cNvSpPr/>
          <p:nvPr/>
        </p:nvSpPr>
        <p:spPr>
          <a:xfrm>
            <a:off x="685800" y="4142232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4169664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Эффект почвы реален, а не артефакт колонок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206240" y="416966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сохранится в смешанной модели, учитывающей разброс колонок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8092440" y="4197096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переанализ 180 измерений</a:t>
            </a:r>
            <a:endParaRPr lang="en-US" sz="1350" dirty="0"/>
          </a:p>
        </p:txBody>
      </p:sp>
      <p:sp>
        <p:nvSpPr>
          <p:cNvPr id="25" name="data-ready"/>
          <p:cNvSpPr/>
          <p:nvPr/>
        </p:nvSpPr>
        <p:spPr>
          <a:xfrm>
            <a:off x="8092440" y="4489704"/>
            <a:ext cx="1572768" cy="24688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pic>
        <p:nvPicPr>
          <p:cNvPr id="26" name="Image 0" descr="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4521708"/>
            <a:ext cx="182880" cy="18288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421624" y="4489704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данные уже есть</a:t>
            </a:r>
            <a:endParaRPr lang="en-US" sz="1150" dirty="0"/>
          </a:p>
        </p:txBody>
      </p:sp>
      <p:sp>
        <p:nvSpPr>
          <p:cNvPr id="28" name="rule"/>
          <p:cNvSpPr/>
          <p:nvPr/>
        </p:nvSpPr>
        <p:spPr>
          <a:xfrm>
            <a:off x="685800" y="4800600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85800" y="4828032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Идея: завышение задаёт проводимость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4206240" y="482803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поправка по двум входам (время пробега + объёмная ЭП) уберёт большую часть ошибки</a:t>
            </a:r>
            <a:endParaRPr lang="en-US" sz="1350" dirty="0"/>
          </a:p>
        </p:txBody>
      </p:sp>
      <p:sp>
        <p:nvSpPr>
          <p:cNvPr id="31" name="Text 27"/>
          <p:cNvSpPr txBox="1"/>
          <p:nvPr/>
        </p:nvSpPr>
        <p:spPr>
          <a:xfrm>
            <a:off x="8092440" y="4828032"/>
            <a:ext cx="3413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мерить объёмную ЭП рядом с датчиком (в опыте не мерили)</a:t>
            </a:r>
            <a:endParaRPr lang="en-US" sz="1350" dirty="0"/>
          </a:p>
        </p:txBody>
      </p:sp>
      <p:sp>
        <p:nvSpPr>
          <p:cNvPr id="32" name="rule"/>
          <p:cNvSpPr/>
          <p:nvPr/>
        </p:nvSpPr>
        <p:spPr>
          <a:xfrm>
            <a:off x="685800" y="5458968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pic>
        <p:nvPicPr>
          <p:cNvPr id="33" name="Image 1" descr="MessageQues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23560"/>
            <a:ext cx="420624" cy="420624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252728" y="5559552"/>
            <a:ext cx="102531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Ваш ход: какой опыт различит гипотезы дешевле всего?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Так же стоит проверять любой датчик, который судит о воде по проницаемости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мысли, которые стоит унести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ИТОГ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4871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Годится, но не бесплатно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1546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8D1C9"/>
                </a:solidFill>
              </a:rPr>
              <a:t>По критерию 0,02 — да. Но при 40–65 % физ. глины средний сдвиг вверх, и сильнее во влажной почве</a:t>
            </a:r>
            <a:endParaRPr lang="en-US" sz="1450" dirty="0"/>
          </a:p>
        </p:txBody>
      </p:sp>
      <p:sp>
        <p:nvSpPr>
          <p:cNvPr id="8" name="rule"/>
          <p:cNvSpPr/>
          <p:nvPr/>
        </p:nvSpPr>
        <p:spPr>
          <a:xfrm>
            <a:off x="4248074" y="1828800"/>
            <a:ext cx="0" cy="2377440"/>
          </a:xfrm>
          <a:prstGeom prst="line">
            <a:avLst/>
          </a:prstGeom>
          <a:noFill/>
          <a:ln w="9525">
            <a:solidFill>
              <a:srgbClr val="453A3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81348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4381348" y="24871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Доказывать устойчивость, а не только p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381348" y="31546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8D1C9"/>
                </a:solidFill>
              </a:rPr>
              <a:t>Порядок почв сохранялся на каждом уровне влажности, два разных теста согласны; слабые места названы</a:t>
            </a:r>
            <a:endParaRPr lang="en-US" sz="1450" dirty="0"/>
          </a:p>
        </p:txBody>
      </p:sp>
      <p:sp>
        <p:nvSpPr>
          <p:cNvPr id="12" name="rule"/>
          <p:cNvSpPr/>
          <p:nvPr/>
        </p:nvSpPr>
        <p:spPr>
          <a:xfrm>
            <a:off x="7943621" y="1828800"/>
            <a:ext cx="0" cy="2377440"/>
          </a:xfrm>
          <a:prstGeom prst="line">
            <a:avLst/>
          </a:prstGeom>
          <a:noFill/>
          <a:ln w="9525">
            <a:solidFill>
              <a:srgbClr val="453A3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76895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8076895" y="2487168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Гипотеза подтверждена частично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8076895" y="31546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8D1C9"/>
                </a:solidFill>
              </a:rPr>
              <a:t>Связь с почвой и влажностью есть; механизм (глина или соли) не разделён; плотность — нет</a:t>
            </a:r>
            <a:endParaRPr lang="en-US" sz="1450" dirty="0"/>
          </a:p>
        </p:txBody>
      </p:sp>
      <p:sp>
        <p:nvSpPr>
          <p:cNvPr id="16" name="verdict-0"/>
          <p:cNvSpPr/>
          <p:nvPr/>
        </p:nvSpPr>
        <p:spPr>
          <a:xfrm>
            <a:off x="685800" y="4480560"/>
            <a:ext cx="3429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14400" y="4480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tx1"/>
                </a:solidFill>
              </a:rPr>
              <a:t>H1 · почва: </a:t>
            </a:r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частично</a:t>
            </a:r>
            <a:endParaRPr lang="en-US" sz="1550" dirty="0"/>
          </a:p>
        </p:txBody>
      </p:sp>
      <p:sp>
        <p:nvSpPr>
          <p:cNvPr id="18" name="verdict-1"/>
          <p:cNvSpPr/>
          <p:nvPr/>
        </p:nvSpPr>
        <p:spPr>
          <a:xfrm>
            <a:off x="4381348" y="4480560"/>
            <a:ext cx="3429000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609948" y="4480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H2 · влажность: </a:t>
            </a:r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подтверждена</a:t>
            </a:r>
            <a:endParaRPr lang="en-US" sz="1550" dirty="0"/>
          </a:p>
        </p:txBody>
      </p:sp>
      <p:sp>
        <p:nvSpPr>
          <p:cNvPr id="20" name="verdict-2"/>
          <p:cNvSpPr/>
          <p:nvPr/>
        </p:nvSpPr>
        <p:spPr>
          <a:xfrm>
            <a:off x="8076895" y="4480560"/>
            <a:ext cx="34290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305495" y="4480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chemeClr val="bg1"/>
                </a:solidFill>
              </a:rPr>
              <a:t>H3 · плотность: </a:t>
            </a:r>
            <a:pPr indent="0" marL="0">
              <a:buNone/>
            </a:pPr>
            <a:r>
              <a:rPr lang="en-US" sz="1550" dirty="0">
                <a:solidFill>
                  <a:schemeClr val="bg1"/>
                </a:solidFill>
              </a:rPr>
              <a:t>не подтверждена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5230368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Дело не закрыто — и теперь понятно, какой опыт его закроет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68756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Спасибо за внимание!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теорий и типы связей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ЗАПАСНОЙ СЛАЙД · ДЛЯ ВОПРОСОВ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Запасные слайды — для вопросов</a:t>
            </a:r>
            <a:endParaRPr lang="en-US" sz="1000" dirty="0"/>
          </a:p>
        </p:txBody>
      </p:sp>
      <p:sp>
        <p:nvSpPr>
          <p:cNvPr id="6" name="node"/>
          <p:cNvSpPr/>
          <p:nvPr/>
        </p:nvSpPr>
        <p:spPr>
          <a:xfrm>
            <a:off x="685800" y="178308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C8C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1828800"/>
            <a:ext cx="1591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Физика почв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доли фаз, плотность, набухание</a:t>
            </a:r>
            <a:endParaRPr lang="en-US" sz="1600" dirty="0"/>
          </a:p>
        </p:txBody>
      </p:sp>
      <p:sp>
        <p:nvSpPr>
          <p:cNvPr id="8" name="node"/>
          <p:cNvSpPr/>
          <p:nvPr/>
        </p:nvSpPr>
        <p:spPr>
          <a:xfrm>
            <a:off x="685800" y="32461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C8C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" y="3291840"/>
            <a:ext cx="1591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Химия глин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двойной слой, соли; прокси: MH, ECe</a:t>
            </a:r>
            <a:endParaRPr lang="en-US" sz="1600" dirty="0"/>
          </a:p>
        </p:txBody>
      </p:sp>
      <p:sp>
        <p:nvSpPr>
          <p:cNvPr id="10" name="node"/>
          <p:cNvSpPr/>
          <p:nvPr/>
        </p:nvSpPr>
        <p:spPr>
          <a:xfrm>
            <a:off x="2933624" y="178308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C8C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052496" y="1828800"/>
            <a:ext cx="1591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Теория смеси (CRIM)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√ε смеси = Σ доля × √ε</a:t>
            </a:r>
            <a:endParaRPr lang="en-US" sz="1600" dirty="0"/>
          </a:p>
        </p:txBody>
      </p:sp>
      <p:sp>
        <p:nvSpPr>
          <p:cNvPr id="12" name="node"/>
          <p:cNvSpPr/>
          <p:nvPr/>
        </p:nvSpPr>
        <p:spPr>
          <a:xfrm>
            <a:off x="2933624" y="32461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C8C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52496" y="3291840"/>
            <a:ext cx="1591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Электродинамика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скорость ∝ 1/√ε; потери сигнала</a:t>
            </a:r>
            <a:endParaRPr lang="en-US" sz="1600" dirty="0"/>
          </a:p>
        </p:txBody>
      </p:sp>
      <p:sp>
        <p:nvSpPr>
          <p:cNvPr id="14" name="node"/>
          <p:cNvSpPr/>
          <p:nvPr/>
        </p:nvSpPr>
        <p:spPr>
          <a:xfrm>
            <a:off x="5181448" y="25146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231C1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00320" y="2560320"/>
            <a:ext cx="1591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Датчик + уравнение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E8E3DD"/>
                </a:solidFill>
              </a:rPr>
              <a:t>τ → θ: эмпирический перевод</a:t>
            </a:r>
            <a:endParaRPr lang="en-US" sz="1600" dirty="0"/>
          </a:p>
        </p:txBody>
      </p:sp>
      <p:sp>
        <p:nvSpPr>
          <p:cNvPr id="16" name="node"/>
          <p:cNvSpPr/>
          <p:nvPr/>
        </p:nvSpPr>
        <p:spPr>
          <a:xfrm>
            <a:off x="7429271" y="178308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C8C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48143" y="1828800"/>
            <a:ext cx="1591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Метрология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эталон U = 0,005; MB, RMSE</a:t>
            </a:r>
            <a:endParaRPr lang="en-US" sz="1600" dirty="0"/>
          </a:p>
        </p:txBody>
      </p:sp>
      <p:sp>
        <p:nvSpPr>
          <p:cNvPr id="18" name="node"/>
          <p:cNvSpPr/>
          <p:nvPr/>
        </p:nvSpPr>
        <p:spPr>
          <a:xfrm>
            <a:off x="7429271" y="324612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FC8C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548143" y="3291840"/>
            <a:ext cx="1591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Статистика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дисперсионный анализ, блоки, регрессия</a:t>
            </a:r>
            <a:endParaRPr lang="en-US" sz="1600" dirty="0"/>
          </a:p>
        </p:txBody>
      </p:sp>
      <p:sp>
        <p:nvSpPr>
          <p:cNvPr id="20" name="node"/>
          <p:cNvSpPr/>
          <p:nvPr/>
        </p:nvSpPr>
        <p:spPr>
          <a:xfrm>
            <a:off x="9677095" y="2514600"/>
            <a:ext cx="1828800" cy="1143000"/>
          </a:xfrm>
          <a:prstGeom prst="roundRect">
            <a:avLst>
              <a:gd name="adj" fmla="val 6400"/>
            </a:avLst>
          </a:prstGeom>
          <a:solidFill>
            <a:srgbClr val="008C9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795967" y="2560320"/>
            <a:ext cx="15910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bg1"/>
                </a:solidFill>
              </a:rPr>
              <a:t>Мелиорация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E8E3DD"/>
                </a:solidFill>
              </a:rPr>
              <a:t>решение: порог полива</a:t>
            </a:r>
            <a:endParaRPr lang="en-US" sz="1600" dirty="0"/>
          </a:p>
        </p:txBody>
      </p:sp>
      <p:sp>
        <p:nvSpPr>
          <p:cNvPr id="22" name="line"/>
          <p:cNvSpPr/>
          <p:nvPr/>
        </p:nvSpPr>
        <p:spPr>
          <a:xfrm>
            <a:off x="2514600" y="2354580"/>
            <a:ext cx="419024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line"/>
          <p:cNvSpPr/>
          <p:nvPr/>
        </p:nvSpPr>
        <p:spPr>
          <a:xfrm>
            <a:off x="2514600" y="3817620"/>
            <a:ext cx="419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line"/>
          <p:cNvSpPr/>
          <p:nvPr/>
        </p:nvSpPr>
        <p:spPr>
          <a:xfrm flipV="1">
            <a:off x="3848024" y="2926080"/>
            <a:ext cx="0" cy="32004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line"/>
          <p:cNvSpPr/>
          <p:nvPr/>
        </p:nvSpPr>
        <p:spPr>
          <a:xfrm>
            <a:off x="4762424" y="2354580"/>
            <a:ext cx="419024" cy="50292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6" name="line"/>
          <p:cNvSpPr/>
          <p:nvPr/>
        </p:nvSpPr>
        <p:spPr>
          <a:xfrm flipV="1">
            <a:off x="4762424" y="3314700"/>
            <a:ext cx="419024" cy="5029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line"/>
          <p:cNvSpPr/>
          <p:nvPr/>
        </p:nvSpPr>
        <p:spPr>
          <a:xfrm flipV="1">
            <a:off x="7010248" y="2354580"/>
            <a:ext cx="419024" cy="5029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line"/>
          <p:cNvSpPr/>
          <p:nvPr/>
        </p:nvSpPr>
        <p:spPr>
          <a:xfrm>
            <a:off x="8343671" y="2926080"/>
            <a:ext cx="0" cy="3200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9" name="line"/>
          <p:cNvSpPr/>
          <p:nvPr/>
        </p:nvSpPr>
        <p:spPr>
          <a:xfrm flipV="1">
            <a:off x="9258071" y="3314700"/>
            <a:ext cx="419024" cy="5029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proxy-link"/>
          <p:cNvSpPr/>
          <p:nvPr/>
        </p:nvSpPr>
        <p:spPr>
          <a:xfrm>
            <a:off x="1600200" y="4389120"/>
            <a:ext cx="6743471" cy="182880"/>
          </a:xfrm>
          <a:custGeom>
            <a:avLst/>
            <a:gdLst/>
            <a:ahLst/>
            <a:cxnLst/>
            <a:rect l="l" t="t" r="r" b="b"/>
            <a:pathLst>
              <a:path w="6743471" h="182880">
                <a:moveTo>
                  <a:pt x="0" y="0"/>
                </a:moveTo>
                <a:lnTo>
                  <a:pt x="0" y="182880"/>
                </a:lnTo>
                <a:lnTo>
                  <a:pt x="6743471" y="182880"/>
                </a:lnTo>
                <a:lnTo>
                  <a:pt x="6743471" y="18288"/>
                </a:lnTo>
              </a:path>
            </a:pathLst>
          </a:custGeom>
          <a:noFill/>
          <a:ln w="25400" cap="rnd">
            <a:solidFill>
              <a:schemeClr val="accent3"/>
            </a:solidFill>
            <a:prstDash val="dash"/>
            <a:round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3116504" y="46085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прокси MH, ECe → регрессии</a:t>
            </a:r>
            <a:endParaRPr lang="en-US" sz="1150" dirty="0"/>
          </a:p>
        </p:txBody>
      </p:sp>
      <p:sp>
        <p:nvSpPr>
          <p:cNvPr id="32" name="rule"/>
          <p:cNvSpPr/>
          <p:nvPr/>
        </p:nvSpPr>
        <p:spPr>
          <a:xfrm>
            <a:off x="685800" y="5029200"/>
            <a:ext cx="2560320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33" name="line"/>
          <p:cNvSpPr/>
          <p:nvPr/>
        </p:nvSpPr>
        <p:spPr>
          <a:xfrm>
            <a:off x="685800" y="5285232"/>
            <a:ext cx="50292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307592" y="5148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Механизм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85800" y="5486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причина → следствие. Подводит, если есть обратная сила (связанная вода)</a:t>
            </a:r>
            <a:endParaRPr lang="en-US" sz="1200" dirty="0"/>
          </a:p>
        </p:txBody>
      </p:sp>
      <p:sp>
        <p:nvSpPr>
          <p:cNvPr id="36" name="rule"/>
          <p:cNvSpPr/>
          <p:nvPr/>
        </p:nvSpPr>
        <p:spPr>
          <a:xfrm>
            <a:off x="3429000" y="5029200"/>
            <a:ext cx="2560320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37" name="line"/>
          <p:cNvSpPr/>
          <p:nvPr/>
        </p:nvSpPr>
        <p:spPr>
          <a:xfrm>
            <a:off x="3429000" y="5285232"/>
            <a:ext cx="50292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050792" y="5148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Модель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3429000" y="5486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даёт число, его можно проверить. Подводит, если нарушены допущения (плотность)</a:t>
            </a:r>
            <a:endParaRPr lang="en-US" sz="1200" dirty="0"/>
          </a:p>
        </p:txBody>
      </p:sp>
      <p:sp>
        <p:nvSpPr>
          <p:cNvPr id="40" name="rule"/>
          <p:cNvSpPr/>
          <p:nvPr/>
        </p:nvSpPr>
        <p:spPr>
          <a:xfrm>
            <a:off x="6172200" y="5029200"/>
            <a:ext cx="2560320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41" name="line"/>
          <p:cNvSpPr/>
          <p:nvPr/>
        </p:nvSpPr>
        <p:spPr>
          <a:xfrm>
            <a:off x="6172200" y="5285232"/>
            <a:ext cx="50292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dash"/>
          </a:ln>
        </p:spPr>
      </p:sp>
      <p:sp>
        <p:nvSpPr>
          <p:cNvPr id="42" name="Text 39"/>
          <p:cNvSpPr txBox="1"/>
          <p:nvPr/>
        </p:nvSpPr>
        <p:spPr>
          <a:xfrm>
            <a:off x="6793992" y="5148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Косвенный показатель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172200" y="5486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судим о скрытом по видимому (MH, ECe). Подводит, если прокси ходят парой</a:t>
            </a:r>
            <a:endParaRPr lang="en-US" sz="1200" dirty="0"/>
          </a:p>
        </p:txBody>
      </p:sp>
      <p:sp>
        <p:nvSpPr>
          <p:cNvPr id="44" name="rule"/>
          <p:cNvSpPr/>
          <p:nvPr/>
        </p:nvSpPr>
        <p:spPr>
          <a:xfrm>
            <a:off x="8915400" y="5029200"/>
            <a:ext cx="2560320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45" name="line"/>
          <p:cNvSpPr/>
          <p:nvPr/>
        </p:nvSpPr>
        <p:spPr>
          <a:xfrm>
            <a:off x="8915400" y="5285232"/>
            <a:ext cx="502920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537192" y="51480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Статистический вывод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8915400" y="5486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от колонок к общему. Подводит, если наблюдения не независимы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Допущения нашего опыта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ЗАПАСНОЙ СЛАЙД · ДЛЯ ВОПРОСОВ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Запасные слайды — для вопросов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105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ДОПУЩЕНИЕ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1810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ЧТО МЫ СДЕЛАЛИ ИЛИ ЗНАЕМ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555480" y="1810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СТАТУС</a:t>
            </a:r>
            <a:endParaRPr lang="en-US" sz="1100" dirty="0"/>
          </a:p>
        </p:txBody>
      </p:sp>
      <p:sp>
        <p:nvSpPr>
          <p:cNvPr id="9" name="rule"/>
          <p:cNvSpPr/>
          <p:nvPr/>
        </p:nvSpPr>
        <p:spPr>
          <a:xfrm>
            <a:off x="685800" y="2130552"/>
            <a:ext cx="1082009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219456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«Эталон — это истина»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343400" y="219456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Два способа (вся колонка и микрокерны): расхождение ≤ 0,008, в среднем 0,003; U = 0,005</a:t>
            </a:r>
            <a:endParaRPr lang="en-US" sz="1350" dirty="0"/>
          </a:p>
        </p:txBody>
      </p:sp>
      <p:sp>
        <p:nvSpPr>
          <p:cNvPr id="12" name="status"/>
          <p:cNvSpPr/>
          <p:nvPr/>
        </p:nvSpPr>
        <p:spPr>
          <a:xfrm>
            <a:off x="9555480" y="2350008"/>
            <a:ext cx="1947672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555480" y="2350008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частично</a:t>
            </a:r>
            <a:endParaRPr lang="en-US" sz="1200" dirty="0"/>
          </a:p>
        </p:txBody>
      </p:sp>
      <p:sp>
        <p:nvSpPr>
          <p:cNvPr id="14" name="rule"/>
          <p:cNvSpPr/>
          <p:nvPr/>
        </p:nvSpPr>
        <p:spPr>
          <a:xfrm>
            <a:off x="685800" y="2825496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2852928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«Десять уровней — независимые наблюдения»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343400" y="285292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Нет: это последовательные состояния одних и тех же колонок</a:t>
            </a:r>
            <a:endParaRPr lang="en-US" sz="1350" dirty="0"/>
          </a:p>
        </p:txBody>
      </p:sp>
      <p:sp>
        <p:nvSpPr>
          <p:cNvPr id="17" name="status"/>
          <p:cNvSpPr/>
          <p:nvPr/>
        </p:nvSpPr>
        <p:spPr>
          <a:xfrm>
            <a:off x="9555480" y="3008376"/>
            <a:ext cx="1947672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555480" y="3008376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 описательные</a:t>
            </a:r>
            <a:endParaRPr lang="en-US" sz="1200" dirty="0"/>
          </a:p>
        </p:txBody>
      </p:sp>
      <p:sp>
        <p:nvSpPr>
          <p:cNvPr id="19" name="rule"/>
          <p:cNvSpPr/>
          <p:nvPr/>
        </p:nvSpPr>
        <p:spPr>
          <a:xfrm>
            <a:off x="685800" y="3483864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511296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«Одна почва представляет группу»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343400" y="3511296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В каждой группе одна почва</a:t>
            </a:r>
            <a:endParaRPr lang="en-US" sz="1350" dirty="0"/>
          </a:p>
        </p:txBody>
      </p:sp>
      <p:sp>
        <p:nvSpPr>
          <p:cNvPr id="22" name="status"/>
          <p:cNvSpPr/>
          <p:nvPr/>
        </p:nvSpPr>
        <p:spPr>
          <a:xfrm>
            <a:off x="9555480" y="3666744"/>
            <a:ext cx="1947672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555480" y="3666744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экстраполяция</a:t>
            </a:r>
            <a:endParaRPr lang="en-US" sz="1200" dirty="0"/>
          </a:p>
        </p:txBody>
      </p:sp>
      <p:sp>
        <p:nvSpPr>
          <p:cNvPr id="24" name="rule"/>
          <p:cNvSpPr/>
          <p:nvPr/>
        </p:nvSpPr>
        <p:spPr>
          <a:xfrm>
            <a:off x="685800" y="4142232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69664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«Колонка не мешает датчику»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343400" y="416966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До стенки 59–73 мм (рекомендуется ≥ 100), штанги доходят до дна</a:t>
            </a:r>
            <a:endParaRPr lang="en-US" sz="1350" dirty="0"/>
          </a:p>
        </p:txBody>
      </p:sp>
      <p:sp>
        <p:nvSpPr>
          <p:cNvPr id="27" name="status"/>
          <p:cNvSpPr/>
          <p:nvPr/>
        </p:nvSpPr>
        <p:spPr>
          <a:xfrm>
            <a:off x="9555480" y="4325112"/>
            <a:ext cx="1947672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555480" y="4325112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не проверено</a:t>
            </a:r>
            <a:endParaRPr lang="en-US" sz="1200" dirty="0"/>
          </a:p>
        </p:txBody>
      </p:sp>
      <p:sp>
        <p:nvSpPr>
          <p:cNvPr id="29" name="rule"/>
          <p:cNvSpPr/>
          <p:nvPr/>
        </p:nvSpPr>
        <p:spPr>
          <a:xfrm>
            <a:off x="685800" y="4800600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4828032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«Объём почвы постоянен»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343400" y="482803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Нарушено при набухании (почва C, 1,52 г/см³) — эталон по реальному объёму</a:t>
            </a:r>
            <a:endParaRPr lang="en-US" sz="1350" dirty="0"/>
          </a:p>
        </p:txBody>
      </p:sp>
      <p:sp>
        <p:nvSpPr>
          <p:cNvPr id="32" name="status"/>
          <p:cNvSpPr/>
          <p:nvPr/>
        </p:nvSpPr>
        <p:spPr>
          <a:xfrm>
            <a:off x="9555480" y="4983480"/>
            <a:ext cx="1947672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555480" y="4983480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учтено частично</a:t>
            </a:r>
            <a:endParaRPr lang="en-US" sz="1200" dirty="0"/>
          </a:p>
        </p:txBody>
      </p:sp>
      <p:sp>
        <p:nvSpPr>
          <p:cNvPr id="34" name="rule"/>
          <p:cNvSpPr/>
          <p:nvPr/>
        </p:nvSpPr>
        <p:spPr>
          <a:xfrm>
            <a:off x="685800" y="5458968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85800" y="5486400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«Округление опубликованных чисел не меняет выводов»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343400" y="548640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20 000 симуляций: доля эффекта почвы 0,07–0,11 держится; граница A–B неустойчива</a:t>
            </a:r>
            <a:endParaRPr lang="en-US" sz="1350" dirty="0"/>
          </a:p>
        </p:txBody>
      </p:sp>
      <p:sp>
        <p:nvSpPr>
          <p:cNvPr id="37" name="status"/>
          <p:cNvSpPr/>
          <p:nvPr/>
        </p:nvSpPr>
        <p:spPr>
          <a:xfrm>
            <a:off x="9555480" y="5641848"/>
            <a:ext cx="1947672" cy="3108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9555480" y="5641848"/>
            <a:ext cx="1947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проверено</a:t>
            </a:r>
            <a:endParaRPr lang="en-US" sz="1200" dirty="0"/>
          </a:p>
        </p:txBody>
      </p:sp>
      <p:sp>
        <p:nvSpPr>
          <p:cNvPr id="39" name="rule"/>
          <p:cNvSpPr/>
          <p:nvPr/>
        </p:nvSpPr>
        <p:spPr>
          <a:xfrm>
            <a:off x="685800" y="6117336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Расчёт прогноза модели смеси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ЗАПАСНОЙ СЛАЙД · ДЛЯ ВОПРОСОВ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Запасные слайды — для вопросов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105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ДОЛИ ОБЪЁМА ПРИ θ = 0,25 (ρs = 2,63 г/см³)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325880" y="3979377"/>
            <a:ext cx="1188720" cy="1717335"/>
          </a:xfrm>
          <a:prstGeom prst="rect">
            <a:avLst/>
          </a:prstGeom>
          <a:solidFill>
            <a:srgbClr val="B9AE9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325880" y="3979377"/>
            <a:ext cx="1188720" cy="1735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0,513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325880" y="3133557"/>
            <a:ext cx="1188720" cy="827532"/>
          </a:xfrm>
          <a:prstGeom prst="rect">
            <a:avLst/>
          </a:prstGeom>
          <a:solidFill>
            <a:srgbClr val="8FCCD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325880" y="3133557"/>
            <a:ext cx="11887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0,250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325880" y="2331720"/>
            <a:ext cx="1188720" cy="783549"/>
          </a:xfrm>
          <a:prstGeom prst="rect">
            <a:avLst/>
          </a:prstGeom>
          <a:solidFill>
            <a:srgbClr val="F1EEEA"/>
          </a:solidFill>
          <a:ln w="9525">
            <a:solidFill>
              <a:srgbClr val="D9D3C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25880" y="2331720"/>
            <a:ext cx="1188720" cy="801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0,237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5779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1,35 г/см³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246120" y="3759464"/>
            <a:ext cx="1188720" cy="1937248"/>
          </a:xfrm>
          <a:prstGeom prst="rect">
            <a:avLst/>
          </a:prstGeom>
          <a:solidFill>
            <a:srgbClr val="B9AE9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246120" y="3759464"/>
            <a:ext cx="1188720" cy="1955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0,578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26280" y="46092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твёрдая фаза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246120" y="2913644"/>
            <a:ext cx="1188720" cy="827532"/>
          </a:xfrm>
          <a:prstGeom prst="rect">
            <a:avLst/>
          </a:prstGeom>
          <a:solidFill>
            <a:srgbClr val="8FCCD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246120" y="2913644"/>
            <a:ext cx="1188720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0,250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526280" y="320853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вода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246120" y="2331720"/>
            <a:ext cx="1188720" cy="563636"/>
          </a:xfrm>
          <a:prstGeom prst="rect">
            <a:avLst/>
          </a:prstGeom>
          <a:solidFill>
            <a:srgbClr val="F1EEEA"/>
          </a:solidFill>
          <a:ln w="9525">
            <a:solidFill>
              <a:srgbClr val="D9D3C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46120" y="2331720"/>
            <a:ext cx="1188720" cy="581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0,172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26280" y="249466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воздух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063240" y="57790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1,52 г/см³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18288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6629400" y="1847088"/>
            <a:ext cx="4876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Модель: √ε смеси = φтв·√4,7 + θ·√80 + φвозд·√1</a:t>
            </a:r>
            <a:endParaRPr lang="en-US" sz="1450" dirty="0"/>
          </a:p>
        </p:txBody>
      </p:sp>
      <p:sp>
        <p:nvSpPr>
          <p:cNvPr id="26" name="rule"/>
          <p:cNvSpPr/>
          <p:nvPr/>
        </p:nvSpPr>
        <p:spPr>
          <a:xfrm>
            <a:off x="6172200" y="2542032"/>
            <a:ext cx="53336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7220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6629400" y="2624328"/>
            <a:ext cx="4876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Уплотнение 1,35 → 1,52: твёрдого больше на 0,17 / 2,63 ≈ 0,065 — вместо воздуха</a:t>
            </a:r>
            <a:endParaRPr lang="en-US" sz="1450" dirty="0"/>
          </a:p>
        </p:txBody>
      </p:sp>
      <p:sp>
        <p:nvSpPr>
          <p:cNvPr id="29" name="rule"/>
          <p:cNvSpPr/>
          <p:nvPr/>
        </p:nvSpPr>
        <p:spPr>
          <a:xfrm>
            <a:off x="6172200" y="3319272"/>
            <a:ext cx="53336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172200" y="3383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31" name="Text 28"/>
          <p:cNvSpPr txBox="1"/>
          <p:nvPr/>
        </p:nvSpPr>
        <p:spPr>
          <a:xfrm>
            <a:off x="6629400" y="3401568"/>
            <a:ext cx="4876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Пробег растёт: 0,065 × (√4,7 − 1) = 0,065 × 1,17 ≈ 0,076</a:t>
            </a:r>
            <a:endParaRPr lang="en-US" sz="1450" dirty="0"/>
          </a:p>
        </p:txBody>
      </p:sp>
      <p:sp>
        <p:nvSpPr>
          <p:cNvPr id="32" name="rule"/>
          <p:cNvSpPr/>
          <p:nvPr/>
        </p:nvSpPr>
        <p:spPr>
          <a:xfrm>
            <a:off x="6172200" y="4096512"/>
            <a:ext cx="53336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172200" y="41605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6629400" y="4178808"/>
            <a:ext cx="48764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Датчик читает это как воду вместо воздуха: 0,076 / (√80 − 1) = 0,076 / 7,94 ≈ 0,0095</a:t>
            </a:r>
            <a:endParaRPr lang="en-US" sz="1450" dirty="0"/>
          </a:p>
        </p:txBody>
      </p:sp>
      <p:sp>
        <p:nvSpPr>
          <p:cNvPr id="35" name="rule"/>
          <p:cNvSpPr/>
          <p:nvPr/>
        </p:nvSpPr>
        <p:spPr>
          <a:xfrm>
            <a:off x="6172200" y="4873752"/>
            <a:ext cx="53336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172200" y="502920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Прогноз: ≈ +0,0095 </a:t>
            </a:r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(при ρs 2,60–2,67: +0,0094…+0,0096)</a:t>
            </a:r>
            <a:endParaRPr lang="en-US" sz="1700" dirty="0"/>
          </a:p>
        </p:txBody>
      </p:sp>
      <p:sp>
        <p:nvSpPr>
          <p:cNvPr id="37" name="Text 34"/>
          <p:cNvSpPr txBox="1"/>
          <p:nvPr/>
        </p:nvSpPr>
        <p:spPr>
          <a:xfrm>
            <a:off x="6172200" y="548640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Скрыто: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та же θ, та же проводимость, нет потерь в пути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Набухание и пересчёт эталона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ЗАПАСНОЙ СЛАЙД · ДЛЯ ВОПРОСОВ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Запасные слайды — для вопросов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10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Сухая: 300 мм</a:t>
            </a:r>
            <a:endParaRPr lang="en-US" sz="1600" dirty="0"/>
          </a:p>
        </p:txBody>
      </p:sp>
      <p:sp>
        <p:nvSpPr>
          <p:cNvPr id="7" name="soil"/>
          <p:cNvSpPr/>
          <p:nvPr/>
        </p:nvSpPr>
        <p:spPr>
          <a:xfrm>
            <a:off x="1234440" y="2468880"/>
            <a:ext cx="2194560" cy="2926080"/>
          </a:xfrm>
          <a:prstGeom prst="rect">
            <a:avLst/>
          </a:prstGeom>
          <a:solidFill>
            <a:srgbClr val="6B3220"/>
          </a:solidFill>
          <a:ln/>
        </p:spPr>
      </p:sp>
      <p:sp>
        <p:nvSpPr>
          <p:cNvPr id="8" name="column"/>
          <p:cNvSpPr/>
          <p:nvPr/>
        </p:nvSpPr>
        <p:spPr>
          <a:xfrm>
            <a:off x="1234440" y="2468880"/>
            <a:ext cx="2194560" cy="2926080"/>
          </a:xfrm>
          <a:prstGeom prst="rect">
            <a:avLst/>
          </a:prstGeom>
          <a:noFill/>
          <a:ln w="19050">
            <a:solidFill>
              <a:srgbClr val="7A8587"/>
            </a:solidFill>
            <a:prstDash val="solid"/>
          </a:ln>
        </p:spPr>
      </p:sp>
      <p:sp>
        <p:nvSpPr>
          <p:cNvPr id="9" name="rod"/>
          <p:cNvSpPr/>
          <p:nvPr/>
        </p:nvSpPr>
        <p:spPr>
          <a:xfrm>
            <a:off x="1965960" y="2468880"/>
            <a:ext cx="64008" cy="2926080"/>
          </a:xfrm>
          <a:prstGeom prst="rect">
            <a:avLst/>
          </a:prstGeom>
          <a:solidFill>
            <a:srgbClr val="D7DBDC"/>
          </a:solidFill>
          <a:ln/>
        </p:spPr>
      </p:sp>
      <p:sp>
        <p:nvSpPr>
          <p:cNvPr id="10" name="rod"/>
          <p:cNvSpPr/>
          <p:nvPr/>
        </p:nvSpPr>
        <p:spPr>
          <a:xfrm>
            <a:off x="2633472" y="2468880"/>
            <a:ext cx="64008" cy="2926080"/>
          </a:xfrm>
          <a:prstGeom prst="rect">
            <a:avLst/>
          </a:prstGeom>
          <a:solidFill>
            <a:srgbClr val="D7DBD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5504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почва = длина штанг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1810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Влажная: ≈ 325 мм</a:t>
            </a:r>
            <a:endParaRPr lang="en-US" sz="1600" dirty="0"/>
          </a:p>
        </p:txBody>
      </p:sp>
      <p:sp>
        <p:nvSpPr>
          <p:cNvPr id="13" name="soil"/>
          <p:cNvSpPr/>
          <p:nvPr/>
        </p:nvSpPr>
        <p:spPr>
          <a:xfrm>
            <a:off x="4754880" y="2468880"/>
            <a:ext cx="2194560" cy="2926080"/>
          </a:xfrm>
          <a:prstGeom prst="rect">
            <a:avLst/>
          </a:prstGeom>
          <a:solidFill>
            <a:srgbClr val="6B3220"/>
          </a:solidFill>
          <a:ln/>
        </p:spPr>
      </p:sp>
      <p:sp>
        <p:nvSpPr>
          <p:cNvPr id="14" name="swollen-top"/>
          <p:cNvSpPr/>
          <p:nvPr/>
        </p:nvSpPr>
        <p:spPr>
          <a:xfrm>
            <a:off x="4754880" y="2212848"/>
            <a:ext cx="2194560" cy="256032"/>
          </a:xfrm>
          <a:prstGeom prst="rect">
            <a:avLst/>
          </a:prstGeom>
          <a:solidFill>
            <a:srgbClr val="A57A68"/>
          </a:solidFill>
          <a:ln/>
        </p:spPr>
      </p:sp>
      <p:sp>
        <p:nvSpPr>
          <p:cNvPr id="15" name="column"/>
          <p:cNvSpPr/>
          <p:nvPr/>
        </p:nvSpPr>
        <p:spPr>
          <a:xfrm>
            <a:off x="4754880" y="2468880"/>
            <a:ext cx="2194560" cy="2926080"/>
          </a:xfrm>
          <a:prstGeom prst="rect">
            <a:avLst/>
          </a:prstGeom>
          <a:noFill/>
          <a:ln w="19050">
            <a:solidFill>
              <a:srgbClr val="7A8587"/>
            </a:solidFill>
            <a:prstDash val="solid"/>
          </a:ln>
        </p:spPr>
      </p:sp>
      <p:sp>
        <p:nvSpPr>
          <p:cNvPr id="16" name="rod"/>
          <p:cNvSpPr/>
          <p:nvPr/>
        </p:nvSpPr>
        <p:spPr>
          <a:xfrm>
            <a:off x="5486400" y="2468880"/>
            <a:ext cx="64008" cy="2926080"/>
          </a:xfrm>
          <a:prstGeom prst="rect">
            <a:avLst/>
          </a:prstGeom>
          <a:solidFill>
            <a:srgbClr val="D7DBDC"/>
          </a:solidFill>
          <a:ln/>
        </p:spPr>
      </p:sp>
      <p:sp>
        <p:nvSpPr>
          <p:cNvPr id="17" name="rod"/>
          <p:cNvSpPr/>
          <p:nvPr/>
        </p:nvSpPr>
        <p:spPr>
          <a:xfrm>
            <a:off x="6153912" y="2468880"/>
            <a:ext cx="64008" cy="2926080"/>
          </a:xfrm>
          <a:prstGeom prst="rect">
            <a:avLst/>
          </a:prstGeom>
          <a:solidFill>
            <a:srgbClr val="D7DBD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206240" y="5504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accent3"/>
                </a:solidFill>
              </a:rPr>
              <a:t>почва выше штанг на ≈ 25 мм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183880" y="1828800"/>
            <a:ext cx="3322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≈ 25 мм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8183880" y="2331720"/>
            <a:ext cx="3322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подъём поверхности</a:t>
            </a:r>
            <a:endParaRPr lang="en-US" sz="1350" dirty="0"/>
          </a:p>
        </p:txBody>
      </p:sp>
      <p:sp>
        <p:nvSpPr>
          <p:cNvPr id="21" name="rule"/>
          <p:cNvSpPr/>
          <p:nvPr/>
        </p:nvSpPr>
        <p:spPr>
          <a:xfrm>
            <a:off x="8183880" y="2770632"/>
            <a:ext cx="332201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83880" y="2880360"/>
            <a:ext cx="3322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8,3 %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8183880" y="3383280"/>
            <a:ext cx="3322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объёмная деформация</a:t>
            </a:r>
            <a:endParaRPr lang="en-US" sz="1350" dirty="0"/>
          </a:p>
        </p:txBody>
      </p:sp>
      <p:sp>
        <p:nvSpPr>
          <p:cNvPr id="24" name="rule"/>
          <p:cNvSpPr/>
          <p:nvPr/>
        </p:nvSpPr>
        <p:spPr>
          <a:xfrm>
            <a:off x="8183880" y="3822192"/>
            <a:ext cx="332201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83880" y="3931920"/>
            <a:ext cx="3322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0,460 &gt; 0,415</a:t>
            </a:r>
            <a:endParaRPr lang="en-US" sz="2800" dirty="0"/>
          </a:p>
        </p:txBody>
      </p:sp>
      <p:sp>
        <p:nvSpPr>
          <p:cNvPr id="26" name="Text 23"/>
          <p:cNvSpPr txBox="1"/>
          <p:nvPr/>
        </p:nvSpPr>
        <p:spPr>
          <a:xfrm>
            <a:off x="8183880" y="4434840"/>
            <a:ext cx="3322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θmax больше исходной пористости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8183880" y="4983480"/>
            <a:ext cx="33220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Делить воду на прежний объём — значит завысить эталон и занизить видимую ошибку датчика. Эталон считали по реальному объёму: дополнительной ошибки не нашли.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Ловушка терминов «глина»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ЗАПАСНОЙ СЛАЙД · ДЛЯ ВОПРОСОВ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Запасные слайды — для вопросов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10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tx2"/>
                </a:solidFill>
              </a:rPr>
              <a:t>ВЕРХНЯЯ ГРАНИЦА РАЗМЕРА ЧАСТИЦ, ММ (В МАСШТАБЕ)</a:t>
            </a:r>
            <a:endParaRPr lang="en-US" sz="1100" dirty="0"/>
          </a:p>
        </p:txBody>
      </p:sp>
      <p:sp>
        <p:nvSpPr>
          <p:cNvPr id="7" name="size-bar"/>
          <p:cNvSpPr/>
          <p:nvPr/>
        </p:nvSpPr>
        <p:spPr>
          <a:xfrm>
            <a:off x="685800" y="2240280"/>
            <a:ext cx="914400" cy="502920"/>
          </a:xfrm>
          <a:prstGeom prst="rect">
            <a:avLst/>
          </a:prstGeom>
          <a:solidFill>
            <a:srgbClr val="B9B2A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783080" y="2240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глина по Качинскому &lt; 0,001</a:t>
            </a:r>
            <a:endParaRPr lang="en-US" sz="1600" dirty="0"/>
          </a:p>
        </p:txBody>
      </p:sp>
      <p:sp>
        <p:nvSpPr>
          <p:cNvPr id="9" name="size-bar"/>
          <p:cNvSpPr/>
          <p:nvPr/>
        </p:nvSpPr>
        <p:spPr>
          <a:xfrm>
            <a:off x="685800" y="2990088"/>
            <a:ext cx="1828800" cy="502920"/>
          </a:xfrm>
          <a:prstGeom prst="rect">
            <a:avLst/>
          </a:prstGeom>
          <a:solidFill>
            <a:srgbClr val="008C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697480" y="29900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«clay» по USDA и в паспорте &lt; 0,002</a:t>
            </a:r>
            <a:endParaRPr lang="en-US" sz="1600" dirty="0"/>
          </a:p>
        </p:txBody>
      </p:sp>
      <p:sp>
        <p:nvSpPr>
          <p:cNvPr id="11" name="size-bar"/>
          <p:cNvSpPr/>
          <p:nvPr/>
        </p:nvSpPr>
        <p:spPr>
          <a:xfrm>
            <a:off x="685800" y="3739896"/>
            <a:ext cx="9144000" cy="502920"/>
          </a:xfrm>
          <a:prstGeom prst="rect">
            <a:avLst/>
          </a:prstGeom>
          <a:solidFill>
            <a:srgbClr val="C0562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373989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физическая глина по Качинскому &lt; 0,01</a:t>
            </a:r>
            <a:endParaRPr lang="en-US" sz="1600" dirty="0"/>
          </a:p>
        </p:txBody>
      </p:sp>
      <p:sp>
        <p:nvSpPr>
          <p:cNvPr id="13" name="rule"/>
          <p:cNvSpPr/>
          <p:nvPr/>
        </p:nvSpPr>
        <p:spPr>
          <a:xfrm>
            <a:off x="685800" y="4572000"/>
            <a:ext cx="10820095" cy="0"/>
          </a:xfrm>
          <a:prstGeom prst="line">
            <a:avLst/>
          </a:prstGeom>
          <a:noFill/>
          <a:ln w="9525">
            <a:solidFill>
              <a:srgbClr val="E3DF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47548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Ловушка перевода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30 % «clay» из паспорта и 30 % физической глины — разные почвы. «Лёгкая глина» по Качинскому ≠ «clay» по USDA.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4754880"/>
            <a:ext cx="51508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Что из этого следует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 группе A физической глины ≤ 20 %, значит, и USDA-глины ≤ 20 %: условие паспорта выполнено. Для B и C проверить нельзя.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Статистика ошибки по вариантам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ЗАПАСНОЙ СЛАЙД · ДЛЯ ВОПРОСОВ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Запасные слайды — для вопросов</a:t>
            </a:r>
            <a:endParaRPr lang="en-US" sz="1000" dirty="0"/>
          </a:p>
        </p:txBody>
      </p:sp>
      <p:graphicFrame>
        <p:nvGraphicFramePr>
          <p:cNvPr id="19" name="table-II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34440"/>
                <a:gridCol w="1051560"/>
                <a:gridCol w="1051560"/>
                <a:gridCol w="1828800"/>
                <a:gridCol w="2240280"/>
                <a:gridCol w="1188720"/>
                <a:gridCol w="108173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Вариант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ECe, дСм/м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MB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RMSE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Δθ min / max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95 % ДИ для MB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 (MB = 0)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J_nl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A1-n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0,007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−0,002 / +0,013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−0,0003…+0,0083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−0,263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A2-n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0,28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−0,004 / +0,011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−0,0023…+0,0063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−0,268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B1-n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+0,007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−0,003 / +0,019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+0,0006…+0,0134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0,035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−0,118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B2-n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0,009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−0,004 / +0,016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+0,0009…+0,0111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0,025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C1-n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+0,010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−0,001 / +0,027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+0,0026…+0,0174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−0,306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C2-n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0,49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+0,008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−0,002 / +0,022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+0,0013…+0,0147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0,025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−0,225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" y="5257800"/>
            <a:ext cx="108200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м³/м³; MB и RMSE — по средним трёх колонок, n = 10 уровней влажности. ДИ и p описательные (уровни — состояния одних колонок). J_nl &lt; 0 — правосторонняя асимметрия: крупные положительные ошибки во влажной части. Код варианта: группа, плотность (1 — 1,35; 2 — 1,52 г/см³), n — незасолённая.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Дисперсионный анализ ошибки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ЗАПАСНОЙ СЛАЙД · ДЛЯ ВОПРОСОВ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Запасные слайды — для вопросов</a:t>
            </a:r>
            <a:endParaRPr lang="en-US" sz="1000" dirty="0"/>
          </a:p>
        </p:txBody>
      </p:sp>
      <p:graphicFrame>
        <p:nvGraphicFramePr>
          <p:cNvPr id="20" name="table-IV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822960"/>
                <a:gridCol w="1737360"/>
                <a:gridCol w="1097280"/>
                <a:gridCol w="1051560"/>
                <a:gridCol w="1081735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Источник изменчивости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SS, (м³/м³)²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df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MS, (м³/м³)²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F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p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η²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Почва (T)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3,63·10⁻⁴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1,82·10⁻⁴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2,74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0,074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0,091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Плотность (ρb)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4,17·10⁻⁵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4,17·10⁻⁵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0,010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Взаимодействие T × ρb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3,3·10⁻⁶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1,7·10⁻⁶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0,98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0,001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Внутри вариантов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3,58·10⁻³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6,63·10⁻⁵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0,898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Всего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3,99·10⁻³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" y="484632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N = 60 значений (6 вариантов × 10 уровней, средние трёх колонок); SS восстановлены по MB и RMSE вариантов. Внутривариантный член включает рост ошибки с влажностью. 20 000 симуляций округления: p для почвы 0,04–0,12, η² 0,07–0,11. Эффект плотности −0,0017, 95 % ДИ −0,006…+0,003.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Свойства почв в вариантах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ЗАПАСНОЙ СЛАЙД · ДЛЯ ВОПРОСОВ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Запасные слайды — для вопросов</a:t>
            </a:r>
            <a:endParaRPr lang="en-US" sz="1000" dirty="0"/>
          </a:p>
        </p:txBody>
      </p:sp>
      <p:graphicFrame>
        <p:nvGraphicFramePr>
          <p:cNvPr id="21" name="table-I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1463040"/>
                <a:gridCol w="1371600"/>
                <a:gridCol w="1554480"/>
                <a:gridCol w="1600200"/>
                <a:gridCol w="1447495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Вариант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Группа (физ. глина, %)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ρs, г/см³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MH, %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ρb, г/см³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σ1:5, дСм/м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ECe, дСм/м</a:t>
                      </a:r>
                      <a:endParaRPr lang="en-US" sz="1200" dirty="0"/>
                    </a:p>
                  </a:txBody>
                  <a:tcPr marL="76200" marR="76200" marT="38100" marB="381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31C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A1-n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(10–20)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2,67 ± 0,01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2,1 ± 0,2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1,35 ± 0,02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0,044 ± 0,003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0,35 ± 0,02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A2-n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(10–20)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2,67 ± 0,01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2,3 ± 0,2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1,52 ± 0,02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0,036 ± 0,002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0,28 ± 0,02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B1-n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 (40–50)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2,63 ± 0,01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6,5 ± 0,3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1,35 ± 0,03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0,066 ± 0,004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0,52 ± 0,03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B2-n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 (40–50)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2,63 ± 0,01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6,8 ± 0,4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1,52 ± 0,03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0,058 ± 0,004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0,45 ± 0,03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C1-n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 (50–65)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2,60 ± 0,02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11,4 ± 0,6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1,35 ± 0,03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0,078 ± 0,005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0,61 ± 0,04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C2-n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 (50–65)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2,60 ± 0,02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11,1 ± 0,6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1,52 ± 0,03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0,062 ± 0,004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0,49 ± 0,03</a:t>
                      </a:r>
                      <a:endParaRPr lang="en-US" sz="1400" dirty="0"/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" y="5257800"/>
            <a:ext cx="10820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n = 3, среднее ± SD. Все ECe ниже 1 дСм/м и в 6,6–14 раз ниже порога засоления 4 дСм/м. В плотных вариантах ECe ниже на 0,07–0,12 дСм/м. Почва C2-n набухала при θ &gt; 0,40.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85800" y="676656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Ограничения исследования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38404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ЗАПАСНОЙ СЛАЙД · ДЛЯ ВОПРОСОВ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B94"/>
                </a:solidFill>
              </a:rPr>
              <a:t>Запасные слайды — для вопросов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85623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Минеральные почвы, Cорг &lt; 3 %, 20,0 ± 0,5 °C; к органогенным горизонтам выводы не относятся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6700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697480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Испытана только ветвь иссушения; при увлажнении показания могут отличаться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5112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3538728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 поле нужна температурная поправка: 10 °C меняют показания на 0,02–0,08 при θ 0,2–0,4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352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4379976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До стенки колонки 59–73 мм (рекомендуется ≥ 100), штанги до дна; микрокерны в 35 мм от оси — эффекты не измерены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5193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5221224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Объёмная электропроводность не измерялась; глину &lt; 0,002 мм для групп B и C оценить нельзя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8288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185623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RMSE по средним трёх колонок — без разброса между датчиками (±0,005…±0,015)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26700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2697480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Дисперсионный анализ и регрессии — по сводным статистикам вариантов; нужна смешанная модель по 180 значениям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35112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3538728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Систематическая часть неопределённости эталона (U = 0,005) не входит в ДИ и p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4352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4379976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Засолённые варианты (ECe 1–4 дСм/м) рассмотрены в отдельной статье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217920" y="51937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6675120" y="5221224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Одна почва на группу; минералогия глин не определялась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E565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616 Soil and Water">
  <a:themeElements>
    <a:clrScheme name="CS616 Soil and Water">
      <a:dk1>
        <a:srgbClr val="231C17"/>
      </a:dk1>
      <a:lt1>
        <a:srgbClr val="FFFFFF"/>
      </a:lt1>
      <a:dk2>
        <a:srgbClr val="5E5650"/>
      </a:dk2>
      <a:lt2>
        <a:srgbClr val="F3F2F0"/>
      </a:lt2>
      <a:accent1>
        <a:srgbClr val="008C9E"/>
      </a:accent1>
      <a:accent2>
        <a:srgbClr val="D9A441"/>
      </a:accent2>
      <a:accent3>
        <a:srgbClr val="C0562B"/>
      </a:accent3>
      <a:accent4>
        <a:srgbClr val="9A6440"/>
      </a:accent4>
      <a:accent5>
        <a:srgbClr val="7A8587"/>
      </a:accent5>
      <a:accent6>
        <a:srgbClr val="4E8A5B"/>
      </a:accent6>
      <a:hlink>
        <a:srgbClr val="008C9E"/>
      </a:hlink>
      <a:folHlink>
        <a:srgbClr val="9A6440"/>
      </a:folHlink>
    </a:clrScheme>
    <a:fontScheme name="CS616 Soil and Wa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Кубанский ГАУ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Когда датчик влажности «льстит» почве: CS616 в незасолённых почвах (доклад 10 минут)</dc:title>
  <dc:subject>PptxGenJS Presentation</dc:subject>
  <dc:creator>Вербицкий А. Ю., Приходько И. А., Болдырева Л. М., Кесафоти Х. Е.</dc:creator>
  <cp:lastModifiedBy>Вербицкий А. Ю., Приходько И. А., Болдырева Л. М., Кесафоти Х. Е.</cp:lastModifiedBy>
  <cp:revision>1</cp:revision>
  <dcterms:created xsi:type="dcterms:W3CDTF">2026-10-08T06:44:28Z</dcterms:created>
  <dcterms:modified xsi:type="dcterms:W3CDTF">2026-10-08T06:44:28Z</dcterms:modified>
</cp:coreProperties>
</file>
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4.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7.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8.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Зачем и как устроен датчик" id="{3bfb4f37-f3d7-cebd-9beb-1e8ca90e14fb}">
          <p14:sldIdLst>
            <p14:sldId id="256"/>
          </p14:sldIdLst>
        </p14:section>
        <p14:section name="Default-1" id="{5aa0a778-837e-6beb-8ed1-ca33f4a25802}">
          <p14:sldIdLst>
            <p14:sldId id="257"/>
            <p14:sldId id="258"/>
            <p14:sldId id="259"/>
            <p14:sldId id="260"/>
            <p14:sldId id="261"/>
          </p14:sldIdLst>
        </p14:section>
        <p14:section name="Вопрос и эксперимент" id="{171ee065-bb5f-2690-6dad-db5b8929d487}">
          <p14:sldIdLst>
            <p14:sldId id="262"/>
          </p14:sldIdLst>
        </p14:section>
        <p14:section name="Default-2" id="{46c8ffd1-824e-87e3-5603-1b4c014572df}">
          <p14:sldIdLst>
            <p14:sldId id="263"/>
            <p14:sldId id="264"/>
          </p14:sldIdLst>
        </p14:section>
        <p14:section name="Результаты" id="{fe98ddcc-2a2d-a1f6-9a32-66bc94abd8c8}">
          <p14:sldIdLst>
            <p14:sldId id="265"/>
          </p14:sldIdLst>
        </p14:section>
        <p14:section name="Default-3" id="{a1148103-ef53-2109-fd6a-0aa77c26903e}">
          <p14:sldIdLst>
            <p14:sldId id="266"/>
            <p14:sldId id="267"/>
            <p14:sldId id="268"/>
            <p14:sldId id="269"/>
            <p14:sldId id="270"/>
            <p14:sldId id="271"/>
          </p14:sldIdLst>
        </p14:section>
        <p14:section name="Что делать и куда двигаться" id="{9d7f95eb-d8a9-ef47-a4b8-9017f5be0fa2}">
          <p14:sldIdLst>
            <p14:sldId id="272"/>
          </p14:sldIdLst>
        </p14:section>
        <p14:section name="Default-4" id="{48c62011-4d78-623c-95fe-d8d9ebfbea8f}">
          <p14:sldIdLst>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5B4636"/>
                </a:solidFill>
                <a:latin typeface="+mn-lt"/>
              </a:defRPr>
            </a:pPr>
            <a:r>
              <a:rPr sz="1400" b="0" i="0" u="none" strike="noStrike">
                <a:solidFill>
                  <a:srgbClr val="5B4636"/>
                </a:solidFill>
                <a:latin typeface="+mn-lt"/>
              </a:rPr>
              <a:t>Диэлектрическая проницаемость: чем больше, тем сильнее «тормозит» волну</a:t>
            </a:r>
          </a:p>
        </c:rich>
      </c:tx>
      <c:layout/>
      <c:overlay val="0"/>
    </c:title>
    <c:autoTitleDeleted val="0"/>
    <c:plotArea>
      <c:layout/>
      <c:barChart>
        <c:barDir val="bar"/>
        <c:grouping val="clustered"/>
        <c:varyColors val="0"/>
        <c:ser>
          <c:idx val="0"/>
          <c:order val="0"/>
          <c:tx>
            <c:strRef>
              <c:f>Sheet1!$B$1</c:f>
              <c:strCache>
                <c:ptCount val="1"/>
                <c:pt idx="0">
                  <c:v>Диэлектрическая проницаемость</c:v>
                </c:pt>
              </c:strCache>
            </c:strRef>
          </c:tx>
          <c:spPr>
            <a:solidFill>
              <a:srgbClr val="1C7C8C"/>
            </a:solidFill>
            <a:effectLst/>
          </c:spPr>
          <c:invertIfNegative val="0"/>
          <c:dLbls>
            <c:numFmt formatCode="0.0" sourceLinked="0"/>
            <c:txPr>
              <a:bodyPr/>
              <a:lstStyle/>
              <a:p>
                <a:pPr>
                  <a:defRPr b="0" i="0" strike="noStrike" sz="1400" u="none">
                    <a:solidFill>
                      <a:srgbClr val="2A1E16"/>
                    </a:solidFill>
                    <a:latin typeface="+mn-lt"/>
                  </a:defRPr>
                </a:pPr>
              </a:p>
            </c:txPr>
            <c:showLegendKey val="0"/>
            <c:showVal val="1"/>
            <c:showCatName val="0"/>
            <c:showSerName val="0"/>
            <c:showPercent val="0"/>
            <c:showBubbleSize val="0"/>
            <c:showLeaderLines val="0"/>
          </c:dLbls>
          <c:cat>
            <c:multiLvlStrRef>
              <c:f>Sheet1!$A$2:$A$4</c:f>
              <c:multiLvlStrCache>
                <c:ptCount val="3"/>
                <c:lvl>
                  <c:pt idx="0">
                    <c:v>Воздух</c:v>
                  </c:pt>
                  <c:pt idx="1">
                    <c:v>Минералы почвы</c:v>
                  </c:pt>
                  <c:pt idx="2">
                    <c:v>Вода</c:v>
                  </c:pt>
                </c:lvl>
              </c:multiLvlStrCache>
            </c:multiLvlStrRef>
          </c:cat>
          <c:val>
            <c:numRef>
              <c:f>Sheet1!$B$2:$B$4</c:f>
              <c:numCache>
                <c:formatCode>General</c:formatCode>
                <c:ptCount val="3"/>
                <c:pt idx="0">
                  <c:v>1</c:v>
                </c:pt>
                <c:pt idx="1">
                  <c:v>4.7</c:v>
                </c:pt>
                <c:pt idx="2">
                  <c:v>80</c:v>
                </c:pt>
              </c:numCache>
            </c:numRef>
          </c:val>
        </c:ser>
        <c:dLbls>
          <c:numFmt formatCode="0.0" sourceLinked="0"/>
          <c:txPr>
            <a:bodyPr/>
            <a:lstStyle/>
            <a:p>
              <a:pPr>
                <a:defRPr b="0" i="0" strike="noStrike" sz="1400" u="none">
                  <a:solidFill>
                    <a:srgbClr val="2A1E16"/>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B4636"/>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B463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MB (сдвиг)</c:v>
                </c:pt>
              </c:strCache>
            </c:strRef>
          </c:tx>
          <c:spPr>
            <a:solidFill>
              <a:srgbClr val="8C6A4F"/>
            </a:solidFill>
            <a:effectLst/>
          </c:spPr>
          <c:invertIfNegative val="0"/>
          <c:dLbls>
            <c:numFmt formatCode="0.000" sourceLinked="0"/>
            <c:txPr>
              <a:bodyPr/>
              <a:lstStyle/>
              <a:p>
                <a:pPr>
                  <a:defRPr b="0" i="0" strike="noStrike" sz="1100" u="none">
                    <a:solidFill>
                      <a:srgbClr val="2A1E16"/>
                    </a:solidFill>
                    <a:latin typeface="+mn-lt"/>
                  </a:defRPr>
                </a:pPr>
              </a:p>
            </c:txPr>
            <c:dLblPos val="outEnd"/>
            <c:showLegendKey val="0"/>
            <c:showVal val="1"/>
            <c:showCatName val="0"/>
            <c:showSerName val="0"/>
            <c:showPercent val="0"/>
            <c:showBubbleSize val="0"/>
            <c:showLeaderLines val="0"/>
          </c:dLbls>
          <c:cat>
            <c:multiLvlStrRef>
              <c:f>Sheet1!$A$2:$A$7</c:f>
              <c:multiLvlStrCache>
                <c:ptCount val="6"/>
                <c:lvl>
                  <c:pt idx="0">
                    <c:v>A1</c:v>
                  </c:pt>
                  <c:pt idx="1">
                    <c:v>A2</c:v>
                  </c:pt>
                  <c:pt idx="2">
                    <c:v>B1</c:v>
                  </c:pt>
                  <c:pt idx="3">
                    <c:v>B2</c:v>
                  </c:pt>
                  <c:pt idx="4">
                    <c:v>C1</c:v>
                  </c:pt>
                  <c:pt idx="5">
                    <c:v>C2</c:v>
                  </c:pt>
                </c:lvl>
              </c:multiLvlStrCache>
            </c:multiLvlStrRef>
          </c:cat>
          <c:val>
            <c:numRef>
              <c:f>Sheet1!$B$2:$B$7</c:f>
              <c:numCache>
                <c:formatCode>General</c:formatCode>
                <c:ptCount val="6"/>
                <c:pt idx="0">
                  <c:v>0.004</c:v>
                </c:pt>
                <c:pt idx="1">
                  <c:v>0.002</c:v>
                </c:pt>
                <c:pt idx="2">
                  <c:v>0.007</c:v>
                </c:pt>
                <c:pt idx="3">
                  <c:v>0.006</c:v>
                </c:pt>
                <c:pt idx="4">
                  <c:v>0.01</c:v>
                </c:pt>
                <c:pt idx="5">
                  <c:v>0.008</c:v>
                </c:pt>
              </c:numCache>
            </c:numRef>
          </c:val>
        </c:ser>
        <c:ser>
          <c:idx val="1"/>
          <c:order val="1"/>
          <c:tx>
            <c:strRef>
              <c:f>Sheet1!$C$1</c:f>
              <c:strCache>
                <c:ptCount val="1"/>
                <c:pt idx="0">
                  <c:v>RMSE</c:v>
                </c:pt>
              </c:strCache>
            </c:strRef>
          </c:tx>
          <c:spPr>
            <a:solidFill>
              <a:srgbClr val="1C7C8C"/>
            </a:solidFill>
            <a:effectLst/>
          </c:spPr>
          <c:invertIfNegative val="0"/>
          <c:dLbls>
            <c:numFmt formatCode="0.000" sourceLinked="0"/>
            <c:txPr>
              <a:bodyPr/>
              <a:lstStyle/>
              <a:p>
                <a:pPr>
                  <a:defRPr b="0" i="0" strike="noStrike" sz="1100" u="none">
                    <a:solidFill>
                      <a:srgbClr val="2A1E16"/>
                    </a:solidFill>
                    <a:latin typeface="+mn-lt"/>
                  </a:defRPr>
                </a:pPr>
              </a:p>
            </c:txPr>
            <c:dLblPos val="outEnd"/>
            <c:showLegendKey val="0"/>
            <c:showVal val="1"/>
            <c:showCatName val="0"/>
            <c:showSerName val="0"/>
            <c:showPercent val="0"/>
            <c:showBubbleSize val="0"/>
            <c:showLeaderLines val="0"/>
          </c:dLbls>
          <c:cat>
            <c:multiLvlStrRef>
              <c:f>Sheet1!$A$2:$A$7</c:f>
              <c:multiLvlStrCache>
                <c:ptCount val="6"/>
                <c:lvl>
                  <c:pt idx="0">
                    <c:v>A1</c:v>
                  </c:pt>
                  <c:pt idx="1">
                    <c:v>A2</c:v>
                  </c:pt>
                  <c:pt idx="2">
                    <c:v>B1</c:v>
                  </c:pt>
                  <c:pt idx="3">
                    <c:v>B2</c:v>
                  </c:pt>
                  <c:pt idx="4">
                    <c:v>C1</c:v>
                  </c:pt>
                  <c:pt idx="5">
                    <c:v>C2</c:v>
                  </c:pt>
                </c:lvl>
              </c:multiLvlStrCache>
            </c:multiLvlStrRef>
          </c:cat>
          <c:val>
            <c:numRef>
              <c:f>Sheet1!$C$2:$C$7</c:f>
              <c:numCache>
                <c:formatCode>General</c:formatCode>
                <c:ptCount val="6"/>
                <c:pt idx="0">
                  <c:v>0.007</c:v>
                </c:pt>
                <c:pt idx="1">
                  <c:v>0.006</c:v>
                </c:pt>
                <c:pt idx="2">
                  <c:v>0.011</c:v>
                </c:pt>
                <c:pt idx="3">
                  <c:v>0.009</c:v>
                </c:pt>
                <c:pt idx="4">
                  <c:v>0.014</c:v>
                </c:pt>
                <c:pt idx="5">
                  <c:v>0.012</c:v>
                </c:pt>
              </c:numCache>
            </c:numRef>
          </c:val>
        </c:ser>
        <c:dLbls>
          <c:numFmt formatCode="0.000" sourceLinked="0"/>
          <c:txPr>
            <a:bodyPr/>
            <a:lstStyle/>
            <a:p>
              <a:pPr>
                <a:defRPr b="0" i="0" strike="noStrike" sz="1100" u="none">
                  <a:solidFill>
                    <a:srgbClr val="2A1E16"/>
                  </a:solidFill>
                  <a:latin typeface="+mn-lt"/>
                </a:defRPr>
              </a:pPr>
            </a:p>
          </c:txPr>
          <c:dLblPos val="outEnd"/>
          <c:showLegendKey val="0"/>
          <c:showVal val="1"/>
          <c:showCatName val="0"/>
          <c:showSerName val="0"/>
          <c:showPercent val="0"/>
          <c:showBubbleSize val="0"/>
          <c:showLeaderLines val="0"/>
        </c:dLbls>
        <c:gapWidth val="60"/>
        <c:overlap val="0"/>
        <c:axId val="2094734554"/>
        <c:axId val="2094734552"/>
        <c:axId val="2094734556"/>
      </c:barChart>
      <c:lineChart>
        <c:varyColors val="0"/>
        <c:ser>
          <c:idx val="2"/>
          <c:order val="2"/>
          <c:tx>
            <c:strRef>
              <c:f>Sheet1!$D$1</c:f>
              <c:strCache>
                <c:ptCount val="1"/>
                <c:pt idx="0">
                  <c:v>Критерий 0,02</c:v>
                </c:pt>
              </c:strCache>
            </c:strRef>
          </c:tx>
          <c:spPr>
            <a:solidFill>
              <a:srgbClr val="B8552F"/>
            </a:solidFill>
            <a:ln w="25400" cap="flat">
              <a:solidFill>
                <a:srgbClr val="B8552F"/>
              </a:solidFill>
              <a:prstDash val="dash"/>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B8552F"/>
              </a:solidFill>
              <a:ln w="9525" cap="flat">
                <a:solidFill>
                  <a:srgbClr val="B8552F"/>
                </a:solidFill>
                <a:prstDash val="solid"/>
                <a:round/>
              </a:ln>
              <a:effectLst/>
            </c:spPr>
          </c:marker>
          <c:cat>
            <c:multiLvlStrRef>
              <c:f>Sheet1!$A$2:$A$7</c:f>
              <c:multiLvlStrCache>
                <c:ptCount val="6"/>
                <c:lvl>
                  <c:pt idx="0">
                    <c:v>A1</c:v>
                  </c:pt>
                  <c:pt idx="1">
                    <c:v>A2</c:v>
                  </c:pt>
                  <c:pt idx="2">
                    <c:v>B1</c:v>
                  </c:pt>
                  <c:pt idx="3">
                    <c:v>B2</c:v>
                  </c:pt>
                  <c:pt idx="4">
                    <c:v>C1</c:v>
                  </c:pt>
                  <c:pt idx="5">
                    <c:v>C2</c:v>
                  </c:pt>
                </c:lvl>
              </c:multiLvlStrCache>
            </c:multiLvlStrRef>
          </c:cat>
          <c:val>
            <c:numRef>
              <c:f>Sheet1!$D$2:$D$7</c:f>
              <c:numCache>
                <c:formatCode>General</c:formatCode>
                <c:ptCount val="6"/>
                <c:pt idx="0">
                  <c:v>0.02</c:v>
                </c:pt>
                <c:pt idx="1">
                  <c:v>0.02</c:v>
                </c:pt>
                <c:pt idx="2">
                  <c:v>0.02</c:v>
                </c:pt>
                <c:pt idx="3">
                  <c:v>0.02</c:v>
                </c:pt>
                <c:pt idx="4">
                  <c:v>0.02</c:v>
                </c:pt>
                <c:pt idx="5">
                  <c:v>0.02</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B4636"/>
                    </a:solidFill>
                    <a:latin typeface="+mn-lt"/>
                  </a:defRPr>
                </a:pPr>
                <a:r>
                  <a:rPr sz="1200" b="0" i="0" u="none" strike="noStrike">
                    <a:solidFill>
                      <a:srgbClr val="5B4636"/>
                    </a:solidFill>
                    <a:latin typeface="+mn-lt"/>
                  </a:rPr>
                  <a:t>вариант: группа (A, B, C) и плотность (1 — 1,35; 2 — 1,52 г/см³)</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4636"/>
                </a:solidFill>
                <a:latin typeface="+mn-lt"/>
              </a:defRPr>
            </a:pPr>
            <a:endParaRPr lang="en-US"/>
          </a:p>
        </c:txPr>
        <c:crossAx val="2094734552"/>
        <c:crosses val="autoZero"/>
        <c:auto val="1"/>
        <c:lblAlgn val="ctr"/>
        <c:noMultiLvlLbl val="1"/>
      </c:catAx>
      <c:valAx>
        <c:axId val="2094734552"/>
        <c:scaling>
          <c:orientation val="minMax"/>
          <c:max val="0.025"/>
          <c:min val="0"/>
        </c:scaling>
        <c:delete val="0"/>
        <c:axPos val="l"/>
        <c:majorGridlines>
          <c:spPr>
            <a:ln w="6350" cap="flat">
              <a:solidFill>
                <a:srgbClr val="D9DEDC"/>
              </a:solidFill>
              <a:prstDash val="solid"/>
              <a:round/>
            </a:ln>
          </c:spPr>
        </c:majorGridlines>
        <c:title>
          <c:tx>
            <c:rich>
              <a:bodyPr/>
              <a:lstStyle/>
              <a:p>
                <a:pPr>
                  <a:defRPr sz="1200" b="0" i="0" u="none" strike="noStrike">
                    <a:solidFill>
                      <a:srgbClr val="5B4636"/>
                    </a:solidFill>
                    <a:latin typeface="Arial"/>
                  </a:defRPr>
                </a:pPr>
                <a:r>
                  <a:rPr sz="1200" b="0" i="0" u="none" strike="noStrike">
                    <a:solidFill>
                      <a:srgbClr val="5B4636"/>
                    </a:solidFill>
                    <a:latin typeface="Arial"/>
                  </a:rPr>
                  <a:t>м³/м³</a:t>
                </a:r>
              </a:p>
            </c:rich>
          </c:tx>
          <c:layout/>
          <c:overlay val="0"/>
        </c:title>
        <c:numFmt formatCode="0.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463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B4636"/>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A (10–20 % физ. глины)</c:v>
                </c:pt>
              </c:strCache>
            </c:strRef>
          </c:tx>
          <c:spPr>
            <a:solidFill>
              <a:srgbClr val="1C7C8C"/>
            </a:solidFill>
            <a:ln w="28575" cap="flat">
              <a:solidFill>
                <a:srgbClr val="1C7C8C"/>
              </a:solidFill>
              <a:prstDash val="solid"/>
              <a:round/>
            </a:ln>
            <a:effectLst/>
          </c:spPr>
          <c:marker>
            <c:symbol val="circle"/>
            <c:size val="8"/>
            <c:spPr>
              <a:solidFill>
                <a:srgbClr val="1C7C8C"/>
              </a:solidFill>
              <a:ln w="9525" cap="flat">
                <a:solidFill>
                  <a:srgbClr val="1C7C8C"/>
                </a:solidFill>
                <a:prstDash val="solid"/>
                <a:round/>
              </a:ln>
              <a:effectLst/>
            </c:spPr>
          </c:marker>
          <c:xVal>
            <c:numRef>
              <c:f>Sheet1!$A$2:$A$9</c:f>
              <c:numCache>
                <c:formatCode>General</c:formatCode>
                <c:ptCount val="8"/>
                <c:pt idx="0">
                  <c:v>0.05</c:v>
                </c:pt>
                <c:pt idx="1">
                  <c:v>0.1</c:v>
                </c:pt>
                <c:pt idx="2">
                  <c:v>0.2</c:v>
                </c:pt>
                <c:pt idx="3">
                  <c:v>0.3</c:v>
                </c:pt>
                <c:pt idx="4">
                  <c:v>0.38</c:v>
                </c:pt>
                <c:pt idx="5">
                  <c:v>0.4</c:v>
                </c:pt>
                <c:pt idx="6">
                  <c:v>0.44</c:v>
                </c:pt>
                <c:pt idx="7">
                  <c:v>0.48</c:v>
                </c:pt>
              </c:numCache>
            </c:numRef>
          </c:xVal>
          <c:yVal>
            <c:numRef>
              <c:f>Sheet1!$B$2:$B$9</c:f>
              <c:numCache>
                <c:formatCode>General</c:formatCode>
                <c:ptCount val="8"/>
                <c:pt idx="0">
                  <c:v>0</c:v>
                </c:pt>
                <c:pt idx="1">
                  <c:v>0.001</c:v>
                </c:pt>
                <c:pt idx="2">
                  <c:v>0.003</c:v>
                </c:pt>
                <c:pt idx="3">
                  <c:v>0.005</c:v>
                </c:pt>
                <c:pt idx="4">
                  <c:v>0.01</c:v>
                </c:pt>
                <c:pt idx="5">
                  <c:v>0.011</c:v>
                </c:pt>
                <c:pt idx="6">
                  <c:v/>
                </c:pt>
                <c:pt idx="7">
                  <c:v/>
                </c:pt>
              </c:numCache>
            </c:numRef>
          </c:yVal>
          <c:smooth val="0"/>
        </c:ser>
        <c:ser>
          <c:idx val="1"/>
          <c:order val="1"/>
          <c:tx>
            <c:strRef>
              <c:f>Sheet1!$C$1</c:f>
              <c:strCache>
                <c:ptCount val="1"/>
                <c:pt idx="0">
                  <c:v>B (40–50 %)</c:v>
                </c:pt>
              </c:strCache>
            </c:strRef>
          </c:tx>
          <c:spPr>
            <a:solidFill>
              <a:srgbClr val="8C6A4F"/>
            </a:solidFill>
            <a:ln w="28575" cap="flat">
              <a:solidFill>
                <a:srgbClr val="8C6A4F"/>
              </a:solidFill>
              <a:prstDash val="solid"/>
              <a:round/>
            </a:ln>
            <a:effectLst/>
          </c:spPr>
          <c:marker>
            <c:symbol val="circle"/>
            <c:size val="8"/>
            <c:spPr>
              <a:solidFill>
                <a:srgbClr val="8C6A4F"/>
              </a:solidFill>
              <a:ln w="9525" cap="flat">
                <a:solidFill>
                  <a:srgbClr val="8C6A4F"/>
                </a:solidFill>
                <a:prstDash val="solid"/>
                <a:round/>
              </a:ln>
              <a:effectLst/>
            </c:spPr>
          </c:marker>
          <c:xVal>
            <c:numRef>
              <c:f>Sheet1!$A$2:$A$9</c:f>
              <c:numCache>
                <c:formatCode>General</c:formatCode>
                <c:ptCount val="8"/>
                <c:pt idx="0">
                  <c:v>0.05</c:v>
                </c:pt>
                <c:pt idx="1">
                  <c:v>0.1</c:v>
                </c:pt>
                <c:pt idx="2">
                  <c:v>0.2</c:v>
                </c:pt>
                <c:pt idx="3">
                  <c:v>0.3</c:v>
                </c:pt>
                <c:pt idx="4">
                  <c:v>0.38</c:v>
                </c:pt>
                <c:pt idx="5">
                  <c:v>0.4</c:v>
                </c:pt>
                <c:pt idx="6">
                  <c:v>0.44</c:v>
                </c:pt>
                <c:pt idx="7">
                  <c:v>0.48</c:v>
                </c:pt>
              </c:numCache>
            </c:numRef>
          </c:xVal>
          <c:yVal>
            <c:numRef>
              <c:f>Sheet1!$C$2:$C$9</c:f>
              <c:numCache>
                <c:formatCode>General</c:formatCode>
                <c:ptCount val="8"/>
                <c:pt idx="0">
                  <c:v>0.001</c:v>
                </c:pt>
                <c:pt idx="1">
                  <c:v>0.002</c:v>
                </c:pt>
                <c:pt idx="2">
                  <c:v>0.005</c:v>
                </c:pt>
                <c:pt idx="3">
                  <c:v>0.009</c:v>
                </c:pt>
                <c:pt idx="4">
                  <c:v>0.017</c:v>
                </c:pt>
                <c:pt idx="5">
                  <c:v>0.019</c:v>
                </c:pt>
                <c:pt idx="6">
                  <c:v/>
                </c:pt>
                <c:pt idx="7">
                  <c:v/>
                </c:pt>
              </c:numCache>
            </c:numRef>
          </c:yVal>
          <c:smooth val="0"/>
        </c:ser>
        <c:ser>
          <c:idx val="2"/>
          <c:order val="2"/>
          <c:tx>
            <c:strRef>
              <c:f>Sheet1!$D$1</c:f>
              <c:strCache>
                <c:ptCount val="1"/>
                <c:pt idx="0">
                  <c:v>C (50–65 %)</c:v>
                </c:pt>
              </c:strCache>
            </c:strRef>
          </c:tx>
          <c:spPr>
            <a:solidFill>
              <a:srgbClr val="B8552F"/>
            </a:solidFill>
            <a:ln w="28575" cap="flat">
              <a:solidFill>
                <a:srgbClr val="B8552F"/>
              </a:solidFill>
              <a:prstDash val="solid"/>
              <a:round/>
            </a:ln>
            <a:effectLst/>
          </c:spPr>
          <c:marker>
            <c:symbol val="circle"/>
            <c:size val="8"/>
            <c:spPr>
              <a:solidFill>
                <a:srgbClr val="B8552F"/>
              </a:solidFill>
              <a:ln w="9525" cap="flat">
                <a:solidFill>
                  <a:srgbClr val="B8552F"/>
                </a:solidFill>
                <a:prstDash val="solid"/>
                <a:round/>
              </a:ln>
              <a:effectLst/>
            </c:spPr>
          </c:marker>
          <c:xVal>
            <c:numRef>
              <c:f>Sheet1!$A$2:$A$9</c:f>
              <c:numCache>
                <c:formatCode>General</c:formatCode>
                <c:ptCount val="8"/>
                <c:pt idx="0">
                  <c:v>0.05</c:v>
                </c:pt>
                <c:pt idx="1">
                  <c:v>0.1</c:v>
                </c:pt>
                <c:pt idx="2">
                  <c:v>0.2</c:v>
                </c:pt>
                <c:pt idx="3">
                  <c:v>0.3</c:v>
                </c:pt>
                <c:pt idx="4">
                  <c:v>0.38</c:v>
                </c:pt>
                <c:pt idx="5">
                  <c:v>0.4</c:v>
                </c:pt>
                <c:pt idx="6">
                  <c:v>0.44</c:v>
                </c:pt>
                <c:pt idx="7">
                  <c:v>0.48</c:v>
                </c:pt>
              </c:numCache>
            </c:numRef>
          </c:xVal>
          <c:yVal>
            <c:numRef>
              <c:f>Sheet1!$D$2:$D$9</c:f>
              <c:numCache>
                <c:formatCode>General</c:formatCode>
                <c:ptCount val="8"/>
                <c:pt idx="0">
                  <c:v>0.001</c:v>
                </c:pt>
                <c:pt idx="1">
                  <c:v>0.002</c:v>
                </c:pt>
                <c:pt idx="2">
                  <c:v>0.006</c:v>
                </c:pt>
                <c:pt idx="3">
                  <c:v>0.012</c:v>
                </c:pt>
                <c:pt idx="4">
                  <c:v>0.022</c:v>
                </c:pt>
                <c:pt idx="5">
                  <c:v>0.027</c:v>
                </c:pt>
                <c:pt idx="6">
                  <c:v/>
                </c:pt>
                <c:pt idx="7">
                  <c:v/>
                </c:pt>
              </c:numCache>
            </c:numRef>
          </c:yVal>
          <c:smooth val="0"/>
        </c:ser>
        <c:ser>
          <c:idx val="3"/>
          <c:order val="3"/>
          <c:tx>
            <c:strRef>
              <c:f>Sheet1!$E$1</c:f>
              <c:strCache>
                <c:ptCount val="1"/>
                <c:pt idx="0">
                  <c:v>C: состояния вне анализа</c:v>
                </c:pt>
              </c:strCache>
            </c:strRef>
          </c:tx>
          <c:spPr>
            <a:solidFill>
              <a:srgbClr val="E3A98F"/>
            </a:solidFill>
            <a:ln w="28575" cap="flat">
              <a:solidFill>
                <a:srgbClr val="E3A98F"/>
              </a:solidFill>
              <a:prstDash val="sysDash"/>
              <a:round/>
            </a:ln>
            <a:effectLst/>
          </c:spPr>
          <c:marker>
            <c:symbol val="circle"/>
            <c:size val="8"/>
            <c:spPr>
              <a:solidFill>
                <a:srgbClr val="E3A98F"/>
              </a:solidFill>
              <a:ln w="9525" cap="flat">
                <a:solidFill>
                  <a:srgbClr val="E3A98F"/>
                </a:solidFill>
                <a:prstDash val="solid"/>
                <a:round/>
              </a:ln>
              <a:effectLst/>
            </c:spPr>
          </c:marker>
          <c:xVal>
            <c:numRef>
              <c:f>Sheet1!$A$2:$A$9</c:f>
              <c:numCache>
                <c:formatCode>General</c:formatCode>
                <c:ptCount val="8"/>
                <c:pt idx="0">
                  <c:v>0.05</c:v>
                </c:pt>
                <c:pt idx="1">
                  <c:v>0.1</c:v>
                </c:pt>
                <c:pt idx="2">
                  <c:v>0.2</c:v>
                </c:pt>
                <c:pt idx="3">
                  <c:v>0.3</c:v>
                </c:pt>
                <c:pt idx="4">
                  <c:v>0.38</c:v>
                </c:pt>
                <c:pt idx="5">
                  <c:v>0.4</c:v>
                </c:pt>
                <c:pt idx="6">
                  <c:v>0.44</c:v>
                </c:pt>
                <c:pt idx="7">
                  <c:v>0.48</c:v>
                </c:pt>
              </c:numCache>
            </c:numRef>
          </c:xVal>
          <c:yVal>
            <c:numRef>
              <c:f>Sheet1!$E$2:$E$9</c:f>
              <c:numCache>
                <c:formatCode>General</c:formatCode>
                <c:ptCount val="8"/>
                <c:pt idx="0">
                  <c:v/>
                </c:pt>
                <c:pt idx="1">
                  <c:v/>
                </c:pt>
                <c:pt idx="2">
                  <c:v/>
                </c:pt>
                <c:pt idx="3">
                  <c:v/>
                </c:pt>
                <c:pt idx="4">
                  <c:v/>
                </c:pt>
                <c:pt idx="5">
                  <c:v>0.027</c:v>
                </c:pt>
                <c:pt idx="6">
                  <c:v>0.031</c:v>
                </c:pt>
                <c:pt idx="7">
                  <c:v>0.038</c:v>
                </c:pt>
              </c:numCache>
            </c:numRef>
          </c:yVal>
          <c:smooth val="0"/>
        </c:ser>
        <c:ser>
          <c:idx val="4"/>
          <c:order val="4"/>
          <c:tx>
            <c:strRef>
              <c:f>Sheet1!$F$1</c:f>
              <c:strCache>
                <c:ptCount val="1"/>
                <c:pt idx="0">
                  <c:v>Паспортный предел 0,025</c:v>
                </c:pt>
              </c:strCache>
            </c:strRef>
          </c:tx>
          <c:spPr>
            <a:solidFill>
              <a:srgbClr val="6E7F80"/>
            </a:solidFill>
            <a:ln w="28575" cap="flat">
              <a:solidFill>
                <a:srgbClr val="6E7F80"/>
              </a:solidFill>
              <a:prstDash val="dash"/>
              <a:round/>
            </a:ln>
            <a:effectLst/>
          </c:spPr>
          <c:marker>
            <c:symbol val="none"/>
          </c:marker>
          <c:xVal>
            <c:numRef>
              <c:f>Sheet1!$A$2:$A$9</c:f>
              <c:numCache>
                <c:formatCode>General</c:formatCode>
                <c:ptCount val="8"/>
                <c:pt idx="0">
                  <c:v>0.05</c:v>
                </c:pt>
                <c:pt idx="1">
                  <c:v>0.1</c:v>
                </c:pt>
                <c:pt idx="2">
                  <c:v>0.2</c:v>
                </c:pt>
                <c:pt idx="3">
                  <c:v>0.3</c:v>
                </c:pt>
                <c:pt idx="4">
                  <c:v>0.38</c:v>
                </c:pt>
                <c:pt idx="5">
                  <c:v>0.4</c:v>
                </c:pt>
                <c:pt idx="6">
                  <c:v>0.44</c:v>
                </c:pt>
                <c:pt idx="7">
                  <c:v>0.48</c:v>
                </c:pt>
              </c:numCache>
            </c:numRef>
          </c:xVal>
          <c:yVal>
            <c:numRef>
              <c:f>Sheet1!$F$2:$F$9</c:f>
              <c:numCache>
                <c:formatCode>General</c:formatCode>
                <c:ptCount val="8"/>
                <c:pt idx="0">
                  <c:v>0.025</c:v>
                </c:pt>
                <c:pt idx="1">
                  <c:v>0.025</c:v>
                </c:pt>
                <c:pt idx="2">
                  <c:v>0.025</c:v>
                </c:pt>
                <c:pt idx="3">
                  <c:v>0.025</c:v>
                </c:pt>
                <c:pt idx="4">
                  <c:v>0.025</c:v>
                </c:pt>
                <c:pt idx="5">
                  <c:v>0.025</c:v>
                </c:pt>
                <c:pt idx="6">
                  <c:v>0.025</c:v>
                </c:pt>
                <c:pt idx="7">
                  <c:v>0.025</c:v>
                </c:pt>
              </c:numCache>
            </c:numRef>
          </c:yVal>
          <c:smooth val="0"/>
        </c:ser>
        <c:dLbls>
          <c:numFmt formatCode="General"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dLbls>
        <c:axId val="2094734554"/>
        <c:axId val="2094734552"/>
      </c:scatterChart>
      <c:valAx>
        <c:axId val="2094734554"/>
        <c:scaling>
          <c:orientation val="minMax"/>
          <c:max val="0.5"/>
          <c:min val="0"/>
        </c:scaling>
        <c:delete val="0"/>
        <c:axPos val="b"/>
        <c:title>
          <c:tx>
            <c:rich>
              <a:bodyPr/>
              <a:lstStyle/>
              <a:p>
                <a:pPr>
                  <a:defRPr sz="1200" b="0" i="0" u="none" strike="noStrike">
                    <a:solidFill>
                      <a:srgbClr val="5B4636"/>
                    </a:solidFill>
                    <a:latin typeface="+mn-lt"/>
                  </a:defRPr>
                </a:pPr>
                <a:r>
                  <a:rPr sz="1200" b="0" i="0" u="none" strike="noStrike">
                    <a:solidFill>
                      <a:srgbClr val="5B4636"/>
                    </a:solidFill>
                    <a:latin typeface="+mn-lt"/>
                  </a:rPr>
                  <a:t>влажность по эталону θ, м³/м³</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5B4636"/>
                </a:solidFill>
                <a:latin typeface="+mn-lt"/>
              </a:defRPr>
            </a:pPr>
            <a:endParaRPr lang="en-US"/>
          </a:p>
        </c:txPr>
        <c:crossAx val="2094734552"/>
        <c:crosses val="autoZero"/>
        <c:auto val="1"/>
        <c:lblAlgn val="ctr"/>
        <c:noMultiLvlLbl val="1"/>
        <c:majorUnit val="0.1"/>
      </c:valAx>
      <c:valAx>
        <c:axId val="2094734552"/>
        <c:scaling>
          <c:orientation val="minMax"/>
          <c:max val="0.04"/>
          <c:min val="0"/>
        </c:scaling>
        <c:delete val="0"/>
        <c:axPos val="l"/>
        <c:majorGridlines>
          <c:spPr>
            <a:ln w="6350" cap="flat">
              <a:solidFill>
                <a:srgbClr val="D9DEDC"/>
              </a:solidFill>
              <a:prstDash val="solid"/>
              <a:round/>
            </a:ln>
          </c:spPr>
        </c:majorGridlines>
        <c:title>
          <c:tx>
            <c:rich>
              <a:bodyPr/>
              <a:lstStyle/>
              <a:p>
                <a:pPr>
                  <a:defRPr sz="1200" b="0" i="0" u="none" strike="noStrike">
                    <a:solidFill>
                      <a:srgbClr val="5B4636"/>
                    </a:solidFill>
                    <a:latin typeface="+mn-lt"/>
                  </a:defRPr>
                </a:pPr>
                <a:r>
                  <a:rPr sz="1200" b="0" i="0" u="none" strike="noStrike">
                    <a:solidFill>
                      <a:srgbClr val="5B4636"/>
                    </a:solidFill>
                    <a:latin typeface="+mn-lt"/>
                  </a:rPr>
                  <a:t>ошибка Δθ, м³/м³</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5B4636"/>
                </a:solidFill>
                <a:latin typeface="+mn-lt"/>
              </a:defRPr>
            </a:pPr>
            <a:endParaRPr lang="en-US"/>
          </a:p>
        </c:txPr>
        <c:crossAx val="2094734554"/>
        <c:crosses val="autoZero"/>
        <c:crossBetween val="midCat"/>
        <c:majorUnit val="0.005"/>
      </c:valAx>
      <c:spPr>
        <a:noFill/>
        <a:ln>
          <a:noFill/>
        </a:ln>
        <a:effectLst/>
      </c:spPr>
    </c:plotArea>
    <c:legend>
      <c:legendPos val="b"/>
      <c:overlay val="0"/>
      <c:txPr>
        <a:bodyPr/>
        <a:lstStyle/>
        <a:p>
          <a:pPr>
            <a:defRPr sz="1200">
              <a:solidFill>
                <a:srgbClr val="5B4636"/>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Доля изменчивости ошибки</c:v>
                </c:pt>
              </c:strCache>
            </c:strRef>
          </c:tx>
          <c:spPr>
            <a:solidFill>
              <a:schemeClr val="accent1"/>
            </a:solidFill>
            <a:ln w="9525" cap="flat">
              <a:solidFill>
                <a:srgbClr val="F9F9F9"/>
              </a:solidFill>
              <a:prstDash val="solid"/>
              <a:round/>
            </a:ln>
            <a:effectLst/>
          </c:spPr>
          <c:dPt>
            <c:idx val="0"/>
            <c:bubble3D val="0"/>
            <c:spPr>
              <a:solidFill>
                <a:srgbClr val="B8552F"/>
              </a:solidFill>
              <a:ln w="12700" cap="flat">
                <a:solidFill>
                  <a:srgbClr val="FFFFFF"/>
                </a:solidFill>
                <a:prstDash val="solid"/>
                <a:round/>
              </a:ln>
              <a:effectLst/>
            </c:spPr>
          </c:dPt>
          <c:dPt>
            <c:idx val="1"/>
            <c:bubble3D val="0"/>
            <c:spPr>
              <a:solidFill>
                <a:srgbClr val="8C6A4F"/>
              </a:solidFill>
              <a:ln w="12700" cap="flat">
                <a:solidFill>
                  <a:srgbClr val="FFFFFF"/>
                </a:solidFill>
                <a:prstDash val="solid"/>
                <a:round/>
              </a:ln>
              <a:effectLst/>
            </c:spPr>
          </c:dPt>
          <c:dPt>
            <c:idx val="2"/>
            <c:bubble3D val="0"/>
            <c:spPr>
              <a:solidFill>
                <a:srgbClr val="D9A441"/>
              </a:solidFill>
              <a:ln w="12700" cap="flat">
                <a:solidFill>
                  <a:srgbClr val="FFFFFF"/>
                </a:solidFill>
                <a:prstDash val="solid"/>
                <a:round/>
              </a:ln>
              <a:effectLst/>
            </c:spPr>
          </c:dPt>
          <c:dPt>
            <c:idx val="3"/>
            <c:bubble3D val="0"/>
            <c:spPr>
              <a:solidFill>
                <a:srgbClr val="C9D1CF"/>
              </a:solidFill>
              <a:ln w="1270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Почва 9,1 %</c:v>
                </c:pt>
                <c:pt idx="1">
                  <c:v>Плотность 1,0 %</c:v>
                </c:pt>
                <c:pt idx="2">
                  <c:v>Взаимодействие 0,1 %</c:v>
                </c:pt>
                <c:pt idx="3">
                  <c:v>Внутри вариантов 89,8 % (рост с влажностью)</c:v>
                </c:pt>
              </c:strCache>
            </c:strRef>
          </c:cat>
          <c:val>
            <c:numRef>
              <c:f>Sheet1!$B$2:$B$5</c:f>
              <c:numCache>
                <c:ptCount val="4"/>
                <c:pt idx="0">
                  <c:v>9.1</c:v>
                </c:pt>
                <c:pt idx="1">
                  <c:v>1</c:v>
                </c:pt>
                <c:pt idx="2">
                  <c:v>0.1</c:v>
                </c:pt>
                <c:pt idx="3">
                  <c:v>89.8</c:v>
                </c:pt>
              </c:numCache>
            </c:numRef>
          </c:val>
        </c:ser>
        <c:firstSliceAng val="0"/>
        <c:holeSize val="58"/>
      </c:doughnutChart>
      <c:spPr>
        <a:noFill/>
        <a:ln>
          <a:noFill/>
        </a:ln>
        <a:effectLst/>
      </c:spPr>
    </c:plotArea>
    <c:legend>
      <c:legendPos val="b"/>
      <c:overlay val="0"/>
      <c:txPr>
        <a:bodyPr/>
        <a:lstStyle/>
        <a:p>
          <a:pPr>
            <a:defRPr sz="1200">
              <a:solidFill>
                <a:srgbClr val="5B4636"/>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A1E16"/>
                </a:solidFill>
                <a:latin typeface="+mn-lt"/>
              </a:defRPr>
            </a:pPr>
            <a:r>
              <a:rPr sz="1400" b="0" i="0" u="none" strike="noStrike">
                <a:solidFill>
                  <a:srgbClr val="2A1E16"/>
                </a:solidFill>
                <a:latin typeface="+mn-lt"/>
              </a:rPr>
              <a:t>Поверхность (гигроскопичность): R² = 0,88</a:t>
            </a:r>
          </a:p>
        </c:rich>
      </c:tx>
      <c:layout/>
      <c:overlay val="0"/>
    </c:title>
    <c:autoTitleDeleted val="0"/>
    <c:plotArea>
      <c:layout/>
      <c:scatterChart>
        <c:scatterStyle val="lineMarker"/>
        <c:varyColors val="0"/>
        <c:ser>
          <c:idx val="0"/>
          <c:order val="0"/>
          <c:tx>
            <c:strRef>
              <c:f>Sheet1!$B$1</c:f>
              <c:strCache>
                <c:ptCount val="1"/>
                <c:pt idx="0">
                  <c:v>шесть вариантов</c:v>
                </c:pt>
              </c:strCache>
            </c:strRef>
          </c:tx>
          <c:spPr>
            <a:solidFill>
              <a:srgbClr val="B8552F"/>
            </a:solidFill>
            <a:ln w="28575">
              <a:noFill/>
            </a:ln>
            <a:effectLst/>
          </c:spPr>
          <c:marker>
            <c:symbol val="circle"/>
            <c:size val="11"/>
            <c:spPr>
              <a:solidFill>
                <a:srgbClr val="B8552F"/>
              </a:solidFill>
              <a:ln w="9525" cap="flat">
                <a:solidFill>
                  <a:srgbClr val="B8552F"/>
                </a:solidFill>
                <a:prstDash val="solid"/>
                <a:round/>
              </a:ln>
              <a:effectLst/>
            </c:spPr>
          </c:marker>
          <c:xVal>
            <c:numRef>
              <c:f>Sheet1!$A$2:$A$9</c:f>
              <c:numCache>
                <c:formatCode>General</c:formatCode>
                <c:ptCount val="8"/>
                <c:pt idx="0">
                  <c:v>2.1</c:v>
                </c:pt>
                <c:pt idx="1">
                  <c:v>2.3</c:v>
                </c:pt>
                <c:pt idx="2">
                  <c:v>6.5</c:v>
                </c:pt>
                <c:pt idx="3">
                  <c:v>6.8</c:v>
                </c:pt>
                <c:pt idx="4">
                  <c:v>11.4</c:v>
                </c:pt>
                <c:pt idx="5">
                  <c:v>11.1</c:v>
                </c:pt>
                <c:pt idx="6">
                  <c:v>0</c:v>
                </c:pt>
                <c:pt idx="7">
                  <c:v>12</c:v>
                </c:pt>
              </c:numCache>
            </c:numRef>
          </c:xVal>
          <c:yVal>
            <c:numRef>
              <c:f>Sheet1!$B$2:$B$9</c:f>
              <c:numCache>
                <c:formatCode>General</c:formatCode>
                <c:ptCount val="8"/>
                <c:pt idx="0">
                  <c:v>0.004</c:v>
                </c:pt>
                <c:pt idx="1">
                  <c:v>0.002</c:v>
                </c:pt>
                <c:pt idx="2">
                  <c:v>0.007</c:v>
                </c:pt>
                <c:pt idx="3">
                  <c:v>0.006</c:v>
                </c:pt>
                <c:pt idx="4">
                  <c:v>0.01</c:v>
                </c:pt>
                <c:pt idx="5">
                  <c:v>0.008</c:v>
                </c:pt>
                <c:pt idx="6">
                  <c:v/>
                </c:pt>
                <c:pt idx="7">
                  <c:v/>
                </c:pt>
              </c:numCache>
            </c:numRef>
          </c:yVal>
          <c:smooth val="0"/>
        </c:ser>
        <c:ser>
          <c:idx val="1"/>
          <c:order val="1"/>
          <c:tx>
            <c:strRef>
              <c:f>Sheet1!$C$1</c:f>
              <c:strCache>
                <c:ptCount val="1"/>
                <c:pt idx="0">
                  <c:v>аппроксимация</c:v>
                </c:pt>
              </c:strCache>
            </c:strRef>
          </c:tx>
          <c:spPr>
            <a:solidFill>
              <a:srgbClr val="1C7C8C"/>
            </a:solidFill>
            <a:ln w="25400" cap="flat">
              <a:solidFill>
                <a:srgbClr val="1C7C8C"/>
              </a:solidFill>
              <a:prstDash val="solid"/>
              <a:round/>
            </a:ln>
            <a:effectLst/>
          </c:spPr>
          <c:marker>
            <c:symbol val="none"/>
          </c:marker>
          <c:xVal>
            <c:numRef>
              <c:f>Sheet1!$A$2:$A$9</c:f>
              <c:numCache>
                <c:formatCode>General</c:formatCode>
                <c:ptCount val="8"/>
                <c:pt idx="0">
                  <c:v>2.1</c:v>
                </c:pt>
                <c:pt idx="1">
                  <c:v>2.3</c:v>
                </c:pt>
                <c:pt idx="2">
                  <c:v>6.5</c:v>
                </c:pt>
                <c:pt idx="3">
                  <c:v>6.8</c:v>
                </c:pt>
                <c:pt idx="4">
                  <c:v>11.4</c:v>
                </c:pt>
                <c:pt idx="5">
                  <c:v>11.1</c:v>
                </c:pt>
                <c:pt idx="6">
                  <c:v>0</c:v>
                </c:pt>
                <c:pt idx="7">
                  <c:v>12</c:v>
                </c:pt>
              </c:numCache>
            </c:numRef>
          </c:xVal>
          <c:yVal>
            <c:numRef>
              <c:f>Sheet1!$C$2:$C$9</c:f>
              <c:numCache>
                <c:formatCode>General</c:formatCode>
                <c:ptCount val="8"/>
                <c:pt idx="0">
                  <c:v/>
                </c:pt>
                <c:pt idx="1">
                  <c:v/>
                </c:pt>
                <c:pt idx="2">
                  <c:v/>
                </c:pt>
                <c:pt idx="3">
                  <c:v/>
                </c:pt>
                <c:pt idx="4">
                  <c:v/>
                </c:pt>
                <c:pt idx="5">
                  <c:v/>
                </c:pt>
                <c:pt idx="6">
                  <c:v>0.0017</c:v>
                </c:pt>
                <c:pt idx="7">
                  <c:v>0.00962</c:v>
                </c:pt>
              </c:numCache>
            </c:numRef>
          </c:yVal>
          <c:smooth val="0"/>
        </c:ser>
        <c:dLbls>
          <c:numFmt formatCode="General"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dLbls>
        <c:axId val="2094734554"/>
        <c:axId val="2094734552"/>
      </c:scatterChart>
      <c:valAx>
        <c:axId val="2094734554"/>
        <c:scaling>
          <c:orientation val="minMax"/>
          <c:max val="12"/>
          <c:min val="0"/>
        </c:scaling>
        <c:delete val="0"/>
        <c:axPos val="b"/>
        <c:title>
          <c:tx>
            <c:rich>
              <a:bodyPr/>
              <a:lstStyle/>
              <a:p>
                <a:pPr>
                  <a:defRPr sz="1200" b="0" i="0" u="none" strike="noStrike">
                    <a:solidFill>
                      <a:srgbClr val="5B4636"/>
                    </a:solidFill>
                    <a:latin typeface="+mn-lt"/>
                  </a:defRPr>
                </a:pPr>
                <a:r>
                  <a:rPr sz="1200" b="0" i="0" u="none" strike="noStrike">
                    <a:solidFill>
                      <a:srgbClr val="5B4636"/>
                    </a:solidFill>
                    <a:latin typeface="+mn-lt"/>
                  </a:rPr>
                  <a:t>MH, %</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5B4636"/>
                </a:solidFill>
                <a:latin typeface="+mn-lt"/>
              </a:defRPr>
            </a:pPr>
            <a:endParaRPr lang="en-US"/>
          </a:p>
        </c:txPr>
        <c:crossAx val="2094734552"/>
        <c:crosses val="autoZero"/>
        <c:auto val="1"/>
        <c:lblAlgn val="ctr"/>
        <c:noMultiLvlLbl val="1"/>
        <c:majorUnit val="2"/>
      </c:valAx>
      <c:valAx>
        <c:axId val="2094734552"/>
        <c:scaling>
          <c:orientation val="minMax"/>
          <c:max val="0.012"/>
          <c:min val="0"/>
        </c:scaling>
        <c:delete val="0"/>
        <c:axPos val="l"/>
        <c:majorGridlines>
          <c:spPr>
            <a:ln w="6350" cap="flat">
              <a:solidFill>
                <a:srgbClr val="D9DEDC"/>
              </a:solidFill>
              <a:prstDash val="solid"/>
              <a:round/>
            </a:ln>
          </c:spPr>
        </c:majorGridlines>
        <c:title>
          <c:tx>
            <c:rich>
              <a:bodyPr/>
              <a:lstStyle/>
              <a:p>
                <a:pPr>
                  <a:defRPr sz="1200" b="0" i="0" u="none" strike="noStrike">
                    <a:solidFill>
                      <a:srgbClr val="5B4636"/>
                    </a:solidFill>
                    <a:latin typeface="+mn-lt"/>
                  </a:defRPr>
                </a:pPr>
                <a:r>
                  <a:rPr sz="1200" b="0" i="0" u="none" strike="noStrike">
                    <a:solidFill>
                      <a:srgbClr val="5B4636"/>
                    </a:solidFill>
                    <a:latin typeface="+mn-lt"/>
                  </a:rPr>
                  <a:t>MB, м³/м³</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5B4636"/>
                </a:solidFill>
                <a:latin typeface="+mn-lt"/>
              </a:defRPr>
            </a:pPr>
            <a:endParaRPr lang="en-US"/>
          </a:p>
        </c:txPr>
        <c:crossAx val="2094734554"/>
        <c:crosses val="autoZero"/>
        <c:crossBetween val="midCat"/>
        <c:majorUnit val="0.002"/>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A1E16"/>
                </a:solidFill>
                <a:latin typeface="+mn-lt"/>
              </a:defRPr>
            </a:pPr>
            <a:r>
              <a:rPr sz="1400" b="0" i="0" u="none" strike="noStrike">
                <a:solidFill>
                  <a:srgbClr val="2A1E16"/>
                </a:solidFill>
                <a:latin typeface="+mn-lt"/>
              </a:rPr>
              <a:t>Электропроводность вытяжки: R² = 0,96</a:t>
            </a:r>
          </a:p>
        </c:rich>
      </c:tx>
      <c:layout/>
      <c:overlay val="0"/>
    </c:title>
    <c:autoTitleDeleted val="0"/>
    <c:plotArea>
      <c:layout/>
      <c:scatterChart>
        <c:scatterStyle val="lineMarker"/>
        <c:varyColors val="0"/>
        <c:ser>
          <c:idx val="0"/>
          <c:order val="0"/>
          <c:tx>
            <c:strRef>
              <c:f>Sheet1!$B$1</c:f>
              <c:strCache>
                <c:ptCount val="1"/>
                <c:pt idx="0">
                  <c:v>шесть вариантов</c:v>
                </c:pt>
              </c:strCache>
            </c:strRef>
          </c:tx>
          <c:spPr>
            <a:solidFill>
              <a:srgbClr val="B8552F"/>
            </a:solidFill>
            <a:ln w="28575">
              <a:noFill/>
            </a:ln>
            <a:effectLst/>
          </c:spPr>
          <c:marker>
            <c:symbol val="circle"/>
            <c:size val="11"/>
            <c:spPr>
              <a:solidFill>
                <a:srgbClr val="B8552F"/>
              </a:solidFill>
              <a:ln w="9525" cap="flat">
                <a:solidFill>
                  <a:srgbClr val="B8552F"/>
                </a:solidFill>
                <a:prstDash val="solid"/>
                <a:round/>
              </a:ln>
              <a:effectLst/>
            </c:spPr>
          </c:marker>
          <c:xVal>
            <c:numRef>
              <c:f>Sheet1!$A$2:$A$9</c:f>
              <c:numCache>
                <c:formatCode>General</c:formatCode>
                <c:ptCount val="8"/>
                <c:pt idx="0">
                  <c:v>0.35</c:v>
                </c:pt>
                <c:pt idx="1">
                  <c:v>0.28</c:v>
                </c:pt>
                <c:pt idx="2">
                  <c:v>0.52</c:v>
                </c:pt>
                <c:pt idx="3">
                  <c:v>0.45</c:v>
                </c:pt>
                <c:pt idx="4">
                  <c:v>0.61</c:v>
                </c:pt>
                <c:pt idx="5">
                  <c:v>0.49</c:v>
                </c:pt>
                <c:pt idx="6">
                  <c:v>0.25</c:v>
                </c:pt>
                <c:pt idx="7">
                  <c:v>0.65</c:v>
                </c:pt>
              </c:numCache>
            </c:numRef>
          </c:xVal>
          <c:yVal>
            <c:numRef>
              <c:f>Sheet1!$B$2:$B$9</c:f>
              <c:numCache>
                <c:formatCode>General</c:formatCode>
                <c:ptCount val="8"/>
                <c:pt idx="0">
                  <c:v>0.004</c:v>
                </c:pt>
                <c:pt idx="1">
                  <c:v>0.002</c:v>
                </c:pt>
                <c:pt idx="2">
                  <c:v>0.007</c:v>
                </c:pt>
                <c:pt idx="3">
                  <c:v>0.006</c:v>
                </c:pt>
                <c:pt idx="4">
                  <c:v>0.01</c:v>
                </c:pt>
                <c:pt idx="5">
                  <c:v>0.008</c:v>
                </c:pt>
                <c:pt idx="6">
                  <c:v/>
                </c:pt>
                <c:pt idx="7">
                  <c:v/>
                </c:pt>
              </c:numCache>
            </c:numRef>
          </c:yVal>
          <c:smooth val="0"/>
        </c:ser>
        <c:ser>
          <c:idx val="1"/>
          <c:order val="1"/>
          <c:tx>
            <c:strRef>
              <c:f>Sheet1!$C$1</c:f>
              <c:strCache>
                <c:ptCount val="1"/>
                <c:pt idx="0">
                  <c:v>аппроксимация</c:v>
                </c:pt>
              </c:strCache>
            </c:strRef>
          </c:tx>
          <c:spPr>
            <a:solidFill>
              <a:srgbClr val="1C7C8C"/>
            </a:solidFill>
            <a:ln w="25400" cap="flat">
              <a:solidFill>
                <a:srgbClr val="1C7C8C"/>
              </a:solidFill>
              <a:prstDash val="solid"/>
              <a:round/>
            </a:ln>
            <a:effectLst/>
          </c:spPr>
          <c:marker>
            <c:symbol val="none"/>
          </c:marker>
          <c:xVal>
            <c:numRef>
              <c:f>Sheet1!$A$2:$A$9</c:f>
              <c:numCache>
                <c:formatCode>General</c:formatCode>
                <c:ptCount val="8"/>
                <c:pt idx="0">
                  <c:v>0.35</c:v>
                </c:pt>
                <c:pt idx="1">
                  <c:v>0.28</c:v>
                </c:pt>
                <c:pt idx="2">
                  <c:v>0.52</c:v>
                </c:pt>
                <c:pt idx="3">
                  <c:v>0.45</c:v>
                </c:pt>
                <c:pt idx="4">
                  <c:v>0.61</c:v>
                </c:pt>
                <c:pt idx="5">
                  <c:v>0.49</c:v>
                </c:pt>
                <c:pt idx="6">
                  <c:v>0.25</c:v>
                </c:pt>
                <c:pt idx="7">
                  <c:v>0.65</c:v>
                </c:pt>
              </c:numCache>
            </c:numRef>
          </c:xVal>
          <c:yVal>
            <c:numRef>
              <c:f>Sheet1!$C$2:$C$9</c:f>
              <c:numCache>
                <c:formatCode>General</c:formatCode>
                <c:ptCount val="8"/>
                <c:pt idx="0">
                  <c:v/>
                </c:pt>
                <c:pt idx="1">
                  <c:v/>
                </c:pt>
                <c:pt idx="2">
                  <c:v/>
                </c:pt>
                <c:pt idx="3">
                  <c:v/>
                </c:pt>
                <c:pt idx="4">
                  <c:v/>
                </c:pt>
                <c:pt idx="5">
                  <c:v/>
                </c:pt>
                <c:pt idx="6">
                  <c:v>0.0014749999999999997</c:v>
                </c:pt>
                <c:pt idx="7">
                  <c:v>0.010875</c:v>
                </c:pt>
              </c:numCache>
            </c:numRef>
          </c:yVal>
          <c:smooth val="0"/>
        </c:ser>
        <c:dLbls>
          <c:numFmt formatCode="General"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dLbls>
        <c:axId val="2094734554"/>
        <c:axId val="2094734552"/>
      </c:scatterChart>
      <c:valAx>
        <c:axId val="2094734554"/>
        <c:scaling>
          <c:orientation val="minMax"/>
          <c:max val="0.7"/>
          <c:min val="0"/>
        </c:scaling>
        <c:delete val="0"/>
        <c:axPos val="b"/>
        <c:title>
          <c:tx>
            <c:rich>
              <a:bodyPr/>
              <a:lstStyle/>
              <a:p>
                <a:pPr>
                  <a:defRPr sz="1200" b="0" i="0" u="none" strike="noStrike">
                    <a:solidFill>
                      <a:srgbClr val="5B4636"/>
                    </a:solidFill>
                    <a:latin typeface="+mn-lt"/>
                  </a:defRPr>
                </a:pPr>
                <a:r>
                  <a:rPr sz="1200" b="0" i="0" u="none" strike="noStrike">
                    <a:solidFill>
                      <a:srgbClr val="5B4636"/>
                    </a:solidFill>
                    <a:latin typeface="+mn-lt"/>
                  </a:rPr>
                  <a:t>ECe, дСм/м</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5B4636"/>
                </a:solidFill>
                <a:latin typeface="+mn-lt"/>
              </a:defRPr>
            </a:pPr>
            <a:endParaRPr lang="en-US"/>
          </a:p>
        </c:txPr>
        <c:crossAx val="2094734552"/>
        <c:crosses val="autoZero"/>
        <c:auto val="1"/>
        <c:lblAlgn val="ctr"/>
        <c:noMultiLvlLbl val="1"/>
        <c:majorUnit val="0.1"/>
      </c:valAx>
      <c:valAx>
        <c:axId val="2094734552"/>
        <c:scaling>
          <c:orientation val="minMax"/>
          <c:max val="0.012"/>
          <c:min val="0"/>
        </c:scaling>
        <c:delete val="0"/>
        <c:axPos val="l"/>
        <c:majorGridlines>
          <c:spPr>
            <a:ln w="6350" cap="flat">
              <a:solidFill>
                <a:srgbClr val="D9DEDC"/>
              </a:solidFill>
              <a:prstDash val="solid"/>
              <a:round/>
            </a:ln>
          </c:spPr>
        </c:majorGridlines>
        <c:title>
          <c:tx>
            <c:rich>
              <a:bodyPr/>
              <a:lstStyle/>
              <a:p>
                <a:pPr>
                  <a:defRPr sz="1200" b="0" i="0" u="none" strike="noStrike">
                    <a:solidFill>
                      <a:srgbClr val="5B4636"/>
                    </a:solidFill>
                    <a:latin typeface="+mn-lt"/>
                  </a:defRPr>
                </a:pPr>
                <a:r>
                  <a:rPr sz="1200" b="0" i="0" u="none" strike="noStrike">
                    <a:solidFill>
                      <a:srgbClr val="5B4636"/>
                    </a:solidFill>
                    <a:latin typeface="+mn-lt"/>
                  </a:rPr>
                  <a:t>MB, м³/м³</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5B4636"/>
                </a:solidFill>
                <a:latin typeface="+mn-lt"/>
              </a:defRPr>
            </a:pPr>
            <a:endParaRPr lang="en-US"/>
          </a:p>
        </c:txPr>
        <c:crossAx val="2094734554"/>
        <c:crosses val="autoZero"/>
        <c:crossBetween val="midCat"/>
        <c:majorUnit val="0.002"/>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Прогноз CRIM</c:v>
                </c:pt>
              </c:strCache>
            </c:strRef>
          </c:tx>
          <c:spPr>
            <a:solidFill>
              <a:srgbClr val="6E7F80"/>
            </a:solidFill>
            <a:effectLst/>
          </c:spPr>
          <c:invertIfNegative val="0"/>
          <c:dLbls>
            <c:numFmt formatCode="+0.0;−0.0" sourceLinked="0"/>
            <c:txPr>
              <a:bodyPr/>
              <a:lstStyle/>
              <a:p>
                <a:pPr>
                  <a:defRPr b="0" i="0" strike="noStrike" sz="1400" u="none">
                    <a:solidFill>
                      <a:srgbClr val="2A1E16"/>
                    </a:solidFill>
                    <a:latin typeface="+mn-lt"/>
                  </a:defRPr>
                </a:pPr>
              </a:p>
            </c:txPr>
            <c:showLegendKey val="0"/>
            <c:showVal val="1"/>
            <c:showCatName val="0"/>
            <c:showSerName val="0"/>
            <c:showPercent val="0"/>
            <c:showBubbleSize val="0"/>
            <c:showLeaderLines val="0"/>
          </c:dLbls>
          <c:cat>
            <c:multiLvlStrRef>
              <c:f>Sheet1!$A$2:$A$4</c:f>
              <c:multiLvlStrCache>
                <c:ptCount val="3"/>
                <c:lvl>
                  <c:pt idx="0">
                    <c:v>A</c:v>
                  </c:pt>
                  <c:pt idx="1">
                    <c:v>B</c:v>
                  </c:pt>
                  <c:pt idx="2">
                    <c:v>C</c:v>
                  </c:pt>
                </c:lvl>
              </c:multiLvlStrCache>
            </c:multiLvlStrRef>
          </c:cat>
          <c:val>
            <c:numRef>
              <c:f>Sheet1!$B$2:$B$4</c:f>
              <c:numCache>
                <c:formatCode>General</c:formatCode>
                <c:ptCount val="3"/>
                <c:pt idx="0">
                  <c:v>9.5</c:v>
                </c:pt>
                <c:pt idx="1">
                  <c:v>9.5</c:v>
                </c:pt>
                <c:pt idx="2">
                  <c:v>9.5</c:v>
                </c:pt>
              </c:numCache>
            </c:numRef>
          </c:val>
        </c:ser>
        <c:ser>
          <c:idx val="1"/>
          <c:order val="1"/>
          <c:tx>
            <c:strRef>
              <c:f>Sheet1!$C$1</c:f>
              <c:strCache>
                <c:ptCount val="1"/>
                <c:pt idx="0">
                  <c:v>Наблюдалось</c:v>
                </c:pt>
              </c:strCache>
            </c:strRef>
          </c:tx>
          <c:spPr>
            <a:solidFill>
              <a:srgbClr val="B8552F"/>
            </a:solidFill>
            <a:effectLst/>
          </c:spPr>
          <c:invertIfNegative val="0"/>
          <c:dLbls>
            <c:numFmt formatCode="+0.0;−0.0" sourceLinked="0"/>
            <c:txPr>
              <a:bodyPr/>
              <a:lstStyle/>
              <a:p>
                <a:pPr>
                  <a:defRPr b="0" i="0" strike="noStrike" sz="1400" u="none">
                    <a:solidFill>
                      <a:srgbClr val="2A1E16"/>
                    </a:solidFill>
                    <a:latin typeface="+mn-lt"/>
                  </a:defRPr>
                </a:pPr>
              </a:p>
            </c:txPr>
            <c:showLegendKey val="0"/>
            <c:showVal val="1"/>
            <c:showCatName val="0"/>
            <c:showSerName val="0"/>
            <c:showPercent val="0"/>
            <c:showBubbleSize val="0"/>
            <c:showLeaderLines val="0"/>
          </c:dLbls>
          <c:cat>
            <c:multiLvlStrRef>
              <c:f>Sheet1!$A$2:$A$4</c:f>
              <c:multiLvlStrCache>
                <c:ptCount val="3"/>
                <c:lvl>
                  <c:pt idx="0">
                    <c:v>A</c:v>
                  </c:pt>
                  <c:pt idx="1">
                    <c:v>B</c:v>
                  </c:pt>
                  <c:pt idx="2">
                    <c:v>C</c:v>
                  </c:pt>
                </c:lvl>
              </c:multiLvlStrCache>
            </c:multiLvlStrRef>
          </c:cat>
          <c:val>
            <c:numRef>
              <c:f>Sheet1!$C$2:$C$4</c:f>
              <c:numCache>
                <c:formatCode>General</c:formatCode>
                <c:ptCount val="3"/>
                <c:pt idx="0">
                  <c:v>-2</c:v>
                </c:pt>
                <c:pt idx="1">
                  <c:v>-1</c:v>
                </c:pt>
                <c:pt idx="2">
                  <c:v>-2</c:v>
                </c:pt>
              </c:numCache>
            </c:numRef>
          </c:val>
        </c:ser>
        <c:dLbls>
          <c:numFmt formatCode="+0.0;−0.0" sourceLinked="0"/>
          <c:txPr>
            <a:bodyPr/>
            <a:lstStyle/>
            <a:p>
              <a:pPr>
                <a:defRPr b="0" i="0" strike="noStrike" sz="1400" u="none">
                  <a:solidFill>
                    <a:srgbClr val="2A1E1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5B4636"/>
                    </a:solidFill>
                    <a:latin typeface="+mn-lt"/>
                  </a:defRPr>
                </a:pPr>
                <a:r>
                  <a:rPr sz="1200" b="0" i="0" u="none" strike="noStrike">
                    <a:solidFill>
                      <a:srgbClr val="5B4636"/>
                    </a:solidFill>
                    <a:latin typeface="+mn-lt"/>
                  </a:rPr>
                  <a:t>группа</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4636"/>
                </a:solidFill>
                <a:latin typeface="+mn-lt"/>
              </a:defRPr>
            </a:pPr>
            <a:endParaRPr lang="en-US"/>
          </a:p>
        </c:txPr>
        <c:crossAx val="2094734552"/>
        <c:crosses val="autoZero"/>
        <c:auto val="1"/>
        <c:lblAlgn val="ctr"/>
        <c:noMultiLvlLbl val="1"/>
      </c:catAx>
      <c:valAx>
        <c:axId val="2094734552"/>
        <c:scaling>
          <c:orientation val="minMax"/>
          <c:max val="12"/>
          <c:min val="-4"/>
        </c:scaling>
        <c:delete val="0"/>
        <c:axPos val="l"/>
        <c:majorGridlines>
          <c:spPr>
            <a:ln w="6350" cap="flat">
              <a:solidFill>
                <a:srgbClr val="D9DEDC"/>
              </a:solidFill>
              <a:prstDash val="solid"/>
              <a:round/>
            </a:ln>
          </c:spPr>
        </c:majorGridlines>
        <c:title>
          <c:tx>
            <c:rich>
              <a:bodyPr/>
              <a:lstStyle/>
              <a:p>
                <a:pPr>
                  <a:defRPr sz="1200" b="0" i="0" u="none" strike="noStrike">
                    <a:solidFill>
                      <a:srgbClr val="5B4636"/>
                    </a:solidFill>
                    <a:latin typeface="+mn-lt"/>
                  </a:defRPr>
                </a:pPr>
                <a:r>
                  <a:rPr sz="1200" b="0" i="0" u="none" strike="noStrike">
                    <a:solidFill>
                      <a:srgbClr val="5B4636"/>
                    </a:solidFill>
                    <a:latin typeface="+mn-lt"/>
                  </a:rPr>
                  <a:t>сдвиг показаний при 1,52 против 1,35 г/см³, ×10⁻³ м³/м³</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4636"/>
                </a:solidFill>
                <a:latin typeface="+mn-lt"/>
              </a:defRPr>
            </a:pPr>
            <a:endParaRPr lang="en-US"/>
          </a:p>
        </c:txPr>
        <c:crossAx val="2094734554"/>
        <c:crosses val="autoZero"/>
        <c:crossBetween val="between"/>
        <c:majorUnit val="2"/>
      </c:valAx>
      <c:spPr>
        <a:noFill/>
        <a:ln>
          <a:noFill/>
        </a:ln>
        <a:effectLst/>
      </c:spPr>
    </c:plotArea>
    <c:legend>
      <c:legendPos val="b"/>
      <c:overlay val="0"/>
      <c:txPr>
        <a:bodyPr/>
        <a:lstStyle/>
        <a:p>
          <a:pPr>
            <a:defRPr sz="1200">
              <a:solidFill>
                <a:srgbClr val="5B4636"/>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A1E16"/>
                </a:solidFill>
                <a:latin typeface="+mn-lt"/>
              </a:defRPr>
            </a:pPr>
            <a:r>
              <a:rPr sz="1400" b="0" i="0" u="none" strike="noStrike">
                <a:solidFill>
                  <a:srgbClr val="2A1E16"/>
                </a:solidFill>
                <a:latin typeface="+mn-lt"/>
              </a:rPr>
              <a:t>Постоянная поправка +0,010 в группе C</a:t>
            </a:r>
          </a:p>
        </c:rich>
      </c:tx>
      <c:layout/>
      <c:overlay val="0"/>
    </c:title>
    <c:autoTitleDeleted val="0"/>
    <c:plotArea>
      <c:layout/>
      <c:lineChart>
        <c:varyColors val="0"/>
        <c:ser>
          <c:idx val="0"/>
          <c:order val="0"/>
          <c:tx>
            <c:strRef>
              <c:f>Sheet1!$B$1</c:f>
              <c:strCache>
                <c:ptCount val="1"/>
                <c:pt idx="0">
                  <c:v>Ошибка в группе C</c:v>
                </c:pt>
              </c:strCache>
            </c:strRef>
          </c:tx>
          <c:spPr>
            <a:solidFill>
              <a:srgbClr val="B8552F"/>
            </a:solidFill>
            <a:ln w="31750" cap="flat">
              <a:solidFill>
                <a:srgbClr val="B8552F"/>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7"/>
            <c:spPr>
              <a:solidFill>
                <a:srgbClr val="B8552F"/>
              </a:solidFill>
              <a:ln w="9525" cap="flat">
                <a:solidFill>
                  <a:srgbClr val="B8552F"/>
                </a:solidFill>
                <a:prstDash val="solid"/>
                <a:round/>
              </a:ln>
              <a:effectLst/>
            </c:spPr>
          </c:marker>
          <c:cat>
            <c:multiLvlStrRef>
              <c:f>Sheet1!$A$2:$A$7</c:f>
              <c:multiLvlStrCache>
                <c:ptCount val="6"/>
                <c:lvl>
                  <c:pt idx="0">
                    <c:v>0,05</c:v>
                  </c:pt>
                  <c:pt idx="1">
                    <c:v>0,10</c:v>
                  </c:pt>
                  <c:pt idx="2">
                    <c:v>0,20</c:v>
                  </c:pt>
                  <c:pt idx="3">
                    <c:v>0,30</c:v>
                  </c:pt>
                  <c:pt idx="4">
                    <c:v>0,38</c:v>
                  </c:pt>
                  <c:pt idx="5">
                    <c:v>0,40</c:v>
                  </c:pt>
                </c:lvl>
              </c:multiLvlStrCache>
            </c:multiLvlStrRef>
          </c:cat>
          <c:val>
            <c:numRef>
              <c:f>Sheet1!$B$2:$B$7</c:f>
              <c:numCache>
                <c:formatCode>General</c:formatCode>
                <c:ptCount val="6"/>
                <c:pt idx="0">
                  <c:v>0.001</c:v>
                </c:pt>
                <c:pt idx="1">
                  <c:v>0.002</c:v>
                </c:pt>
                <c:pt idx="2">
                  <c:v>0.006</c:v>
                </c:pt>
                <c:pt idx="3">
                  <c:v>0.012</c:v>
                </c:pt>
                <c:pt idx="4">
                  <c:v>0.022</c:v>
                </c:pt>
                <c:pt idx="5">
                  <c:v>0.027</c:v>
                </c:pt>
              </c:numCache>
            </c:numRef>
          </c:val>
          <c:smooth val="0"/>
        </c:ser>
        <c:ser>
          <c:idx val="1"/>
          <c:order val="1"/>
          <c:tx>
            <c:strRef>
              <c:f>Sheet1!$C$1</c:f>
              <c:strCache>
                <c:ptCount val="1"/>
                <c:pt idx="0">
                  <c:v>Остаток после вычитания +0,010</c:v>
                </c:pt>
              </c:strCache>
            </c:strRef>
          </c:tx>
          <c:spPr>
            <a:solidFill>
              <a:srgbClr val="1C7C8C"/>
            </a:solidFill>
            <a:ln w="31750" cap="flat">
              <a:solidFill>
                <a:srgbClr val="1C7C8C"/>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7"/>
            <c:spPr>
              <a:solidFill>
                <a:srgbClr val="1C7C8C"/>
              </a:solidFill>
              <a:ln w="9525" cap="flat">
                <a:solidFill>
                  <a:srgbClr val="1C7C8C"/>
                </a:solidFill>
                <a:prstDash val="solid"/>
                <a:round/>
              </a:ln>
              <a:effectLst/>
            </c:spPr>
          </c:marker>
          <c:cat>
            <c:multiLvlStrRef>
              <c:f>Sheet1!$A$2:$A$7</c:f>
              <c:multiLvlStrCache>
                <c:ptCount val="6"/>
                <c:lvl>
                  <c:pt idx="0">
                    <c:v>0,05</c:v>
                  </c:pt>
                  <c:pt idx="1">
                    <c:v>0,10</c:v>
                  </c:pt>
                  <c:pt idx="2">
                    <c:v>0,20</c:v>
                  </c:pt>
                  <c:pt idx="3">
                    <c:v>0,30</c:v>
                  </c:pt>
                  <c:pt idx="4">
                    <c:v>0,38</c:v>
                  </c:pt>
                  <c:pt idx="5">
                    <c:v>0,40</c:v>
                  </c:pt>
                </c:lvl>
              </c:multiLvlStrCache>
            </c:multiLvlStrRef>
          </c:cat>
          <c:val>
            <c:numRef>
              <c:f>Sheet1!$C$2:$C$7</c:f>
              <c:numCache>
                <c:formatCode>General</c:formatCode>
                <c:ptCount val="6"/>
                <c:pt idx="0">
                  <c:v>-0.009</c:v>
                </c:pt>
                <c:pt idx="1">
                  <c:v>-0.008</c:v>
                </c:pt>
                <c:pt idx="2">
                  <c:v>-0.004</c:v>
                </c:pt>
                <c:pt idx="3">
                  <c:v>0.002</c:v>
                </c:pt>
                <c:pt idx="4">
                  <c:v>0.012</c:v>
                </c:pt>
                <c:pt idx="5">
                  <c:v>0.017</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B4636"/>
                    </a:solidFill>
                    <a:latin typeface="+mn-lt"/>
                  </a:defRPr>
                </a:pPr>
                <a:r>
                  <a:rPr sz="1200" b="0" i="0" u="none" strike="noStrike">
                    <a:solidFill>
                      <a:srgbClr val="5B4636"/>
                    </a:solidFill>
                    <a:latin typeface="+mn-lt"/>
                  </a:rPr>
                  <a:t>θ, м³/м³</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4636"/>
                </a:solidFill>
                <a:latin typeface="+mn-lt"/>
              </a:defRPr>
            </a:pPr>
            <a:endParaRPr lang="en-US"/>
          </a:p>
        </c:txPr>
        <c:crossAx val="2094734552"/>
        <c:crosses val="autoZero"/>
        <c:auto val="1"/>
        <c:lblAlgn val="ctr"/>
        <c:noMultiLvlLbl val="1"/>
      </c:catAx>
      <c:valAx>
        <c:axId val="2094734552"/>
        <c:scaling>
          <c:orientation val="minMax"/>
          <c:max val="0.03"/>
          <c:min val="-0.01"/>
        </c:scaling>
        <c:delete val="0"/>
        <c:axPos val="l"/>
        <c:majorGridlines>
          <c:spPr>
            <a:ln w="6350" cap="flat">
              <a:solidFill>
                <a:srgbClr val="D9DEDC"/>
              </a:solidFill>
              <a:prstDash val="solid"/>
              <a:round/>
            </a:ln>
          </c:spPr>
        </c:majorGridlines>
        <c:numFmt formatCode="0.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4636"/>
                </a:solidFill>
                <a:latin typeface="+mn-lt"/>
              </a:defRPr>
            </a:pPr>
            <a:endParaRPr lang="en-US"/>
          </a:p>
        </c:txPr>
        <c:crossAx val="2094734554"/>
        <c:crosses val="autoZero"/>
        <c:crossBetween val="between"/>
        <c:majorUnit val="0.01"/>
      </c:valAx>
      <c:spPr>
        <a:noFill/>
        <a:ln>
          <a:noFill/>
        </a:ln>
        <a:effectLst/>
      </c:spPr>
    </c:plotArea>
    <c:legend>
      <c:legendPos val="b"/>
      <c:overlay val="0"/>
      <c:txPr>
        <a:bodyPr/>
        <a:lstStyle/>
        <a:p>
          <a:pPr>
            <a:defRPr sz="1200">
              <a:solidFill>
                <a:srgbClr val="5B4636"/>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 мин]
Начну с ситуации, знакомой каждому, кто управляет поливом. Датчик в почве показывает: влажность в норме, поливать рано. Вы доверяете прибору. А прибор, возможно, чуть-чуть льстит почве: показывает воды больше, чем в ней есть на самом деле.
Сегодня я расскажу, как мы проверили, когда и насколько такой датчик, CS616, льстит почвам Кубани. Расскажу, как мы доказывали, что это не случайность, и что полезного из этого можно сделать. Постараюсь вести рассказ так, чтобы доказательства можно было пройти вместе со мной, даже если вы не почвовед и не статистик.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 мин]
Начнём с цены вопроса. Влажность в нашей работе — это объём воды в объёме почвы. Значение 0,01 означает один процент: один литр воды в ста литрах почвы. В метровом слое это десять миллиметров воды, а если переводить на гектар, то сто кубометров.
Теперь паспорт датчика: плюс-минус 0,025. Это до двадцати пяти миллиметров воды в метровом слое, которые прибор может «придумать» или «не заметить». Для полива это не мелочь. Если порог полива задан по показаниям датчика, а датчик завышает влажность, то порог будет достигнут позже, чем нужно, и растение побудет в недостатке воды.
Теперь главный нюанс. Паспортные ±0,025 получены в основном на супесях и более лёгких почвах. А на виноградниках Краснодарского края физической глины бывает до шестидесяти пяти процентов. Вопрос поэтому не академический: можно ли верить заводской шкале там, где почва тяжёлая?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1,5 мин]
Чтобы понять, где датчик может ошибаться, надо понять, что именно он измеряет. Устройство простое: две стальные штанги по тридцать сантиметров. По ним бежит электромагнитный импульс, доходит до конца, отражается и возвращается. Прибор считает период колебаний, величину тау, в микросекундах.
Запомните главное: датчик не измеряет воду. Он измеряет время пробега сигнала. А время зависит от того, насколько среда замедляет электромагнитную волну. Эта способность называется диэлектрической проницаемостью. У воздуха она равна единице, у минеральной части почвы около четырёх целых семи десятых, а у воды — восемьдесят. Скорость волны обратна корню из этой величины: у воды корень примерно девять, у минералов чуть больше двух. Вода замедляет волну заметно сильнее всего остального в почве. Поэтому чем больше воды, тем дольше путь и тем длиннее период.
Аналогия: эстафета, где часть дистанции идёт по асфальту, а часть по болоту. По времени круга можно прикинуть, какую долю пути пробежали по болоту. Но заметьте, что это оценка при допущении: что на вашу скорость влияет только болото. К этому допущению я ещё вернусь.
Дальше стоит «переводчик» — заводское квадратичное уравнение. Оно превращает время в влажность. Написано оно один раз, для типичных условий. Всё остальное в моём докладе — это вопрос, насколько хорош этот перевод за пределами тех условий, для которых его писали.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 мин]
У любого измерения есть допущения, которые обычно не произносят вслух. Мы произнесём их. У нашего датчика их два.
Первое допущение: сигнал замедляется только из-за воды. Иначе говоря, почва для волны почти изолятор. Второе: «переводчик», настроенный на одни почвы, годится и для других.
Производитель честно называет границы применимости стандартной шкалы: объёмная электропроводность почвы ниже 0,5 дециСименса на метр, плотность ниже 1,55 грамма на кубический сантиметр, содержание глины, частиц мельче 0,002 миллиметра, ниже тридцати процентов. Если смектита больше четверти, рекомендуется калибровка под конкретную почву.
Мы задали себе вопрос не «сломается ли датчик на границе», а другой. Как именно он начнёт ошибаться: в какую сторону, насколько и при какой влажности? Нас интересует не только размер ошибки, но и её знак, и характер.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1,5 мин]
Теперь механизм. В тяжёлой почве у электрического тока появляются дополнительные дороги: по раствору в порах и по поверхности глинистых частиц. Вокруг частицы глины образуется облако ионов, электрический двойной слой, и оно проводит ток.
Поверхность у глины огромная. У смектита она достигает шестисот-восьмисот квадратных метров на грамм, а у песка и пыли меньше на несколько порядков. Аналогия: кусок сахара и сахарная пудра той же массы. Пудра растворится мгновенно, потому что у неё несравнимо больше поверхности.
Что происходит с сигналом? Проводимость отнимает у импульса энергию, и он ослабевает. А прибор срабатывает по порогу, как будильник по громкости звука: тихий сигнал дойдёт до порога позже. Нам кажется, что дорога была длиннее. Период растёт, и прибор «видит» больше воды, чем есть. Дополнительно на рабочей частоте датчика, около семидесяти мегагерц, в глинах работает поляризация границ частиц, и она тоже сдвигает показания в сторону завышения.
Есть и противоположная сила. Вода, прочно связанная с поверхностью, замедляет волну слабее, чем свободная, и тянет показания вниз. Какая сила победит, рассуждениями не решить. Это вопрос для эксперимента. Наше предположение такое: побеждает завышение, и растёт оно с влажностью, потому что по мере увлажнения вода в порах становится непрерывной и проводимость возрастает.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 мин · можно пропустить при нехватке времени]
Теперь о том, почему это исследование понадобилось. Первое: для чернозёмов и лугово-чернозёмных почв Краснодарского края количественных оценок этой ошибки в доступной литературе не было. Были данные из США, из Колорадо, с других почв.
Второе: ловушка перевода, и она важна для всех, кто читает зарубежные работы. В нашей традиции, по шкале Качинского, «физическая глина» — это частицы мельче 0,01 миллиметра. В паспорте датчика и в зарубежной литературе «clay» — это частицы мельче 0,002 миллиметра. Это разные числа. Частиц мельче 0,002 всегда не больше, чем мельче 0,01.
Следствие: тридцать процентов «clay» из паспорта и тридцать процентов физической глины — это разные почвы. И классы названы одинаково, но означают разное: «лёгкая глина» по Качинскому не равна «clay» по USDA.
Из этого следует и полезный вывод. В группе A физической глины не больше двадцати процентов, значит, и глины по USDA не больше двадцати, и условие производителя соблюдено. Для групп B и C мы этого проверить не можем, и честнее прямо об этом сказать.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 мин]
Хорошая гипотеза — это не «мы предполагаем, что что-то влияет». Хорошая гипотеза запрещает часть возможных результатов. Поэтому у нас три предсказания, и у каждого есть результат, который его опровергнет.
Первое: ошибка растёт с содержанием физической глины. Опровергнет: ошибка одинакова в лёгких и тяжёлых почвах. Второе: ошибка растёт с влажностью нелинейно, быстрее ближе к насыщению. Опровергнет: ошибка постоянна, или растёт строго линейно. Третье: плотность сложения тоже влияет, и сила влияния зависит от типа почвы. Опровергнет: плотность не меняет ошибку, или меняет одинаково во всех почвах.
Забегая вперёд, скажу, что подтвердилось первое и второе, а третье не подтвердилось. Это нормальный научный результат: гипотеза, которая что-то запрещает, может не подтвердиться, и именно поэтому подтверждение первых двух что-то значит.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1,5 мин]
Опишу эксперимент как экзамен. Датчик — студент, заводское уравнение — его знания, а эталон, ключ с ответами, — термостатно-весовой метод: берём почву, взвешиваем, сушим при 105 градусах, смотрим, сколько воды ушло. Это самый прямой способ узнать, сколько воды в почве. У него тоже есть своя неопределённость, 0,005, и мы её учитываем.
Три почвы: чернозём обыкновенный с десятью-двадцатью процентами физической глины, чернозём типичный с сорока-пятьюдесятью и лугово-чернозёмная почва с пятьюдесятью-шестьюдесятью пятью. Все незасолённые. Две плотности: 1,35 и 1,52. Итого шесть вариантов, в каждом по три колонки диаметром пятнадцать сантиметров и высотой тридцать.
Колонку насыщаем водой снизу, а потом ступенчато подсушиваем при постоянных двадцати градусах. На каждой ступени ждём равновесия: от восьми до тридцати шести часов, пока период сигнала и масса колонки перестанут меняться. Десять ступеней влажности, итого сто восемьдесят значений.
Почему так? Каждое решение убирает постороннюю причину. Колонки с перемешанной и уплотнённой почвой убирают пространственную пестроту поля. Постоянная температура убирает температурный сдвиг показаний. Ожидание равновесия убирает разницу между «вода уже здесь» и «вода ещё доходит». Мы платим за чистоту опыта оторванностью от поля, и об этом я скажу в конце.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 мин]
Теперь о том, чем мы измеряем ошибку. Ошибка в каждой точке — разность показания датчика и эталона. Два числа описывают целую серию таких ошибок.
Представьте стрельбу по мишени. Первое число, средняя систематическая погрешность, MB: насколько центр кучки пуль сдвинут от яблочка. Если положительная, датчик в среднем завышает. Второе число, RMSE: типичное расстояние пули от яблочка, с учётом и сдвига центра, и разброса.
Они связаны строго: квадрат RMSE равен квадрату MB плюс квадрат разброса. Поэтому, если MB почти ноль, ошибки случайные: то выше, то ниже, при усреднении они гасятся. А если MB заметно больше нуля, ошибка систематическая: она не уходит при усреднении, и именно такая ошибка опасна для управления поливом.
Критерий приемлемости у нас RMSE не больше 0,02. На такую точность ориентируются для планирования полива, и по тому же порогу оценивают датчики влаги в обзорах. Заранее оговорюсь: наши RMSE посчитаны по средним для трёх колонок и потому не включают разброс между отдельными датчиками. Паспорт даёт его: ±0,005 в сухой и ±0,015 в насыщенной почве.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 мин]
Первый результат, и он двуликий. Первое лицо: во всех шести вариантах RMSE находится между 0,006 и 0,014, то есть заметно ниже критерия 0,02. Если вам нужна точность в 0,02, заводская шкала для этих почв годится.
Второе лицо: на графике видно, что ошибка растёт слева направо, от лёгкой почвы к тяжёлой. В среднем RMSE по группам: 0,0065, 0,0100 и 0,0130, примерно один к полутора к двум. Среднее смещение, серые столбики, во всех шести вариантах положительное: датчик завышает.
В группе A смещение от нуля статистически неотличимо: +0,002 и +0,004. В группах B и C датчик завышает в среднем на 0,006–0,010, и это отличимо от нуля.
Прошу не пропустить оговорки. Десять уровней влажности — это последовательные состояния одних и тех же колонок, они не независимы. Поэтому p-значения здесь описательные: они показывают, насколько сдвиг заметен на фоне разброса по влажности, а не дают строгий вывод про все почвы. И граница между группами A и B чувствительна даже к округлению исходных значений. Я не буду утверждать, что она резкая. Устойчиво видна тенденция.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1,5 мин]
Второй результат, пожалуй, самый важный для практики. Ошибка датчика — не число, а функция влажности. Это как линейка, которая растягивается по мере того, как вы ею пользуетесь: у начала шкалы всё точно, дальше расхождение накапливается.
Смотрите на график. В сухой почве ошибка близка к нулю во всех трёх группах: линии начинаются вместе. По мере увлажнения они расходятся веером. Когда влажность растёт от 0,20 до 0,40, ошибка в группе A вырастает на 0,008, в группе B на 0,014, в группе C на 0,021, то есть в два и шесть десятых раза больше, чем в A.
Максимум среди десяти анализируемых уровней — плюс 0,027 в группе C при влажности 0,40. Это превышает паспортный предел 0,025 всего на 0,002, меньше неопределённости эталонного метода. Честно сказать, это на грани.
Пустые кружки справа — два более влажных состояния этой же почвы, 0,44 и 0,48. Мы их записали, но в статистический анализ не включали. Ошибка там 0,031 и 0,038: кривая не выходит на плато, она продолжает расти.
Два практических следствия. Первое: одна постоянная поправка не работает, потому что нужная поправка зависит от влажности. Второе: ошибка максимальна как раз во влажной части диапазона, а там обычно находятся пороги полива, вблизи наименьшей влагоёмкости.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1,5 мин]
Теперь самое тонкое место: как доказывать. Здесь есть парадокс, и я хочу его разобрать подробно, потому что на нём спотыкаются даже опытные исследователи.
Мы разложили всю изменчивость ошибки на части. Около десяти процентов объясняется различиями между вариантами: почвой 9,1 процента, плотностью один процент, их взаимодействием 0,1. Остальные девяносто процентов — это изменчивость внутри варианта. И она почти целиком вызвана тем, что ошибка растёт с влажностью. Дисперсионный анализ сравнивает различия между группами с разбросом внутри групп. Разброс внутри огромный, и на этом фоне эффект почвы получает p равное 0,074, то есть формально незначим.
Аналогия: вы пытаетесь расслышать разговор на концерте. Разговор есть, но его заглушает громкая музыка. Музыка здесь — рост ошибки с влажностью. Если из этого сделать вывод «разговора нет», это ошибка. Тест не говорит «эффекта нет». Он говорит, что на этом шумовом фоне его не слышно.
И ещё одна честность. Дисперсионный анализ мы выполнили по сводным статистикам вариантов, а не по сырым значениям каждой колонки. Поэтому проверить остатки модели мы не могли. Это ограничение, и в последней части доклада я скажу, как его снять.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1,5 мин]
Как же услышать разговор? Убрать музыку. Мы сравнили группы при одной и той же влажности. Это как сравнивать трёх бегунов на каждой из шести контрольных отметок дистанции, а не мешать все времена в одну кучу.
Возьмём шесть уровней влажности при плотности 1,35. На каждом уровне порядок один и тот же: группа A меньше, группа B не больше группы C. Ни разу порядок не нарушился. Смотрите на таблицу: на каждой из шести отметок «медаль» достаётся одной и той же группе.
Формально это двухфакторный анализ без повторностей, где влажность — блок. Он даёт F(2; 10) равно 6,92 и p равное 0,013. Для надёжности мы взяли и непараметрический критерий Фридмана. Он смотрит только на порядок, а не на величины, и ничего не предполагает о форме распределения: хи-квадрат 11,27, p равно 0,004. Два разных теста, одна картина, и значит, вывод не держится на удобном допущении.
Теперь честная граница. Каждая группа — это одна почва и один набор колонок. Тест показывает, что порядок устойчив при всех влажностях, но не показывает, что любая другая почва с такой же долей физической глины поведёт себя так же. Для этого нужны новые почвы. И по той же причине я называю эти p-значения описательными.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1,5 мин]
Теперь вопрос «почему». Мы поставили два предсказателя уровня ошибки на шесть вариантов. Первый — максимальная гигроскопическая влажность. Это сколько воды почва жадно забирает из влажного воздуха, и тем самым косвенная мера поверхности: как будто площадь внутренней поверхности губки измеряют по воде, которую она втянула. Второй — электропроводность вытяжки из насыщенной пасты, то есть засолённость.
Результат: ошибка линейно растёт с гигроскопичностью, R² равно 0,88. Но с электропроводностью она связана ещё теснее, R² равно 0,96. Казалось бы, виновник ясен. Нет. Эти два предсказателя сами сильно связаны между собой, r равно 0,88: тяжёлые почвы в нашем опыте и более солёные, хотя все они далеко ниже порога засоления. Аналогия: два подозреваемых, которых камера всегда видит вместе. Камера не может определить, кто из них сделал. Когда мы поставили в модель обоих, значимым остался только электропроводность, но этот вывод хрупкий: он держится примерно в двух третях пробных пересчётов с округлением.
И ещё честность в числах: всего три почвы, по две плотности каждая, поэтому «шесть точек» — это не шесть независимых наблюдений. Если брать только три средних по группам, p уже 0,07.
Что это значит для механизма? Что мы его не доказали, а только не опровергли. Мы не можем разделить проводимость порового раствора и поверхностную проводимость глин. Чтобы разделить, нужно развести их: взять почвы, где глины много, а солей мало, и где наоборот. Это уже не вопрос статистики, а вопрос новых данных.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1,5 мин]
Теперь результат, который я считаю самым поучительным: прогноз, который не сбылся.
Физика говорит: при той же влажности плотная почва содержит больше твёрдых частиц и меньше воздуха. Минералы замедляют волну сильнее воздуха, поэтому датчик должен показывать чуть больше. Модель CRIM, модель смеси, считает это количественно: из-за перехода от 1,35 к 1,52 показания должны вырасти примерно на 0,009–0,010.
Мы получили обратное: разность смещений между плотными и рыхлыми вариантами минус 0,002, минус 0,001 и минус 0,002 в группах A, B, C. Доверительный интервал эффекта плотности от минус 0,006 до плюс 0,003, и он исключает прогноз плюс 0,0095. Значит, прогноз не сбылся.
Что делать, когда прогноз не сбывается? Помнить, что прогноз — это связка допущений, и подвело одно из них. Какие подозреваются? Первое: прогноз сделан при той же электропроводности, а у плотных вариантов она оказалась ниже на 0,07–0,12 дециСименса на метр. Меньше проводящих потерь — меньше завышения, и это могло съесть положительный вклад твёрдой фазы. Если в регрессию вместо гигроскопичности поставить электропроводность, коэффициент при плотности становится +0,0004 при p равном 0,51: эффект исчезает. Второе: прогноз сделан при одной влажности, а мы сравниваем средние по разным диапазонам влажности, где ошибка растёт.
Итог формулируем аккуратно: малый реальный эффект плотности по нашим данным нельзя ни подтвердить, ни исключить. Но нельзя и сказать, что плотность в диапазоне 1,35–1,52 — главный источник ошибки. Главный — почва и влажность. Это тоже практический результат: коррекцию стоит строить в первую очередь по почве и электропроводности.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 мин · можно пропустить при нехватке времени]
Короткий, но поучительный эпизод. Почва группы C при высокой плотности набухла: поверхность поднялась на 25 миллиметров, объёмная деформация 8,3 процента. Признак: максимальная влажность 0,460 превысила исходную пористость 0,415, чего без набухания быть не может.
Почему это важно для измерения? Влажность — это вода, делённая на объём. Если почва вздулась, а мы делим на прежний объём, то эталон завышен, и ошибка датчика будет выглядеть занижённой. Поэтому для этого варианта эталон мы считали по реальному объёму колонки. После такой поправки дополнительной ошибки от набухания не нашли.
Но две оговорки. Во-первых, сравнение смешивает набухание с плотностью и электропроводностью. Во-вторых, на самых влажных уровнях вздувшаяся почва поднималась выше штанг, и датчик видел не весь объём, по которому считался эталон. Практический вывод для лабораторий: при калибровке набухающих почв следите за подъёмом поверхности.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 мин]
Переходим от результатов к действиям. Оформим их как светофор.
Зелёный: лёгкие почвы, около десяти-двадцати процентов физической глины, как наша группа A. Заводскую калибровку можно использовать без поправки.
Жёлтый: тяжёлые почвы, сорок-шестьдесят пять процентов. Критерий RMSE 0,02 выполняется, но датчик в среднем завышает на 0,006–0,010 и до 0,027 во влажной почве. Если для вас важны пороги полива вблизи наименьшей влагоёмкости, возможны два пути: калибровка под конкретную почву или проверка термостатно-весовым методом один-два раза за сезон. Практически это так: взять пробу рядом с датчиком, высушить, сравнить. Для масштаба: 0,010 — это десять миллиметров воды в метровом слое, а 0,027 — двадцать семь.
Красный: постоянная поправка. Она не годится, потому что нужная поправка растёт с влажностью: на графике вы видели, что линия не параллельна нулю.
Серая зона: почвы с двадцатью-сорока процентами физической глины мы не проверяли. И в поле обязательна температурная поправка: по данным производителя отклонение на десять градусов меняет показания на 0,02–0,08 при влажности 0,2–0,4. Наша работа на двадцати градусах эту проблему не затрагивает, но в поле она будет.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1,5 мин]
Теперь самое интересное: что делать дальше. Я не буду перечислять планы. Я покажу вопросы, на которые наши данные не отвечают, и для каждого скажу, какой эксперимент был бы решающим.
Первый вопрос: глина или соли. Решающий опыт: развести их. Взять почвы с высокой глинистостью и низкой солёностью и наоборот, или добавлять соль в одну и ту же почву ступенями. Если ошибка следует за солью, механизм в проводимости раствора. Если за поверхностью глины, механизм в поверхностной проводимости. Часть этого опыта, с засолением от 1 до 4 дециСименс на метр, у нас выполнена и описана в отдельной статье.
Второй вопрос, и это, скорее, идея, чем результат: нельзя ли учитывать проводимость в самой поправке? Датчик даёт только период. Если рядом измерять объёмную электропроводность почвы, можно искать поправку по двум входам, а не по одному. Это гипотеза, которую надо проверять, а не вывод. Мы объёмную электропроводность в этом опыте не измеряли.
Третье: сырые данные у нас уже есть. Переанализ ста восьмидесяти значений по колонкам смешанной моделью, где колонка — случайный эффект, снимет главное статистическое ограничение этой работы и уточнит, насколько устойчив эффект почвы. Это дешёвый и самый надёжный следующий шаг.
Четвёртое: заполнить пробелы. Почвы с двадцатью-сорока процентами физической глины, разные минералы глин, смектит против иллита, ветвь увлажнения, температура, полевая проверка. Каждый из этих шагов превращает слова «в изученных почвах» в «для класса почв».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 мин]
Подведу итог в трёх мыслях.
Первая. Заводская калибровка CS616 в изученных незасолённых почвах укладывается в критерий RMSE 0,02. Но она не бесплатна: в почвах с сорока-шестьюдесятью пятью процентами физической глины датчик систематически завышает влажность, и завышение растёт с влажностью.
Вторая. Мы доказывали не «p меньше 0,05», а устойчивость: порядок групп сохранялся на каждом уровне влажности, и два разных критерия дали согласованный ответ. А там, где доказательство слабое, мы это показали: глина или соли, плотность, граница между группами A и B.
Третья. Гипотеза подтверждена частично. Связь ошибки с почвой и её нелинейный рост с влажностью подтвердились. Влияние плотности нет. Механизм не разделён.
И обязательные границы: одна почва на группу, лаборатория, ветвь иссушения, двадцать градусов, стенки колонки, разброс между датчиками, неопределённость эталона. Лучший способ использовать эту работу — как карту: она показывает, где датчик надёжен, где нужна проверка, и какой эксперимент закроет пробел. Спасибо за внимание, готов к вопросам.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txBox="1"/>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tx2"/>
                </a:solidFill>
              </a:rPr>
              <a:t>CS616 · погрешность заводской калибровки · Кубанский ГАУ</a:t>
            </a:r>
            <a:endParaRPr lang="en-US" sz="10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3" name="Text 0"/>
          <p:cNvSpPr txBox="1"/>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accent2"/>
                </a:solidFill>
              </a:rPr>
              <a:t>CS616 · погрешность заводской калибровки · Кубанский ГАУ</a:t>
            </a:r>
            <a:endParaRPr lang="en-US" sz="10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188720"/>
            <a:ext cx="6583680" cy="21031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188720"/>
            <a:ext cx="6583680" cy="2103120"/>
          </a:xfrm>
          <a:prstGeom prst="rect">
            <a:avLst/>
          </a:prstGeom>
          <a:noFill/>
          <a:ln/>
        </p:spPr>
        <p:txBody>
          <a:bodyPr wrap="square" lIns="0" tIns="0" rIns="0" bIns="0" rtlCol="0" anchor="t"/>
          <a:lstStyle/>
          <a:p>
            <a:pPr algn="l" indent="0" marL="0">
              <a:buNone/>
            </a:pPr>
            <a:r>
              <a:rPr lang="en-US" sz="4400" b="1" dirty="0">
                <a:solidFill>
                  <a:schemeClr val="bg1"/>
                </a:solidFill>
              </a:rPr>
              <a:t>Когда датчик «льстит» почве</a:t>
            </a:r>
            <a:endParaRPr lang="en-US" sz="4400" dirty="0"/>
          </a:p>
        </p:txBody>
      </p:sp>
      <p:sp>
        <p:nvSpPr>
          <p:cNvPr id="4" name="Text 1"/>
          <p:cNvSpPr txBox="1"/>
          <p:nvPr/>
        </p:nvSpPr>
        <p:spPr>
          <a:xfrm>
            <a:off x="640080" y="3017520"/>
            <a:ext cx="6675120" cy="1234440"/>
          </a:xfrm>
          <a:prstGeom prst="rect">
            <a:avLst/>
          </a:prstGeom>
          <a:noFill/>
          <a:ln/>
        </p:spPr>
        <p:txBody>
          <a:bodyPr wrap="square" lIns="0" tIns="0" rIns="0" bIns="0" rtlCol="0" anchor="t"/>
          <a:lstStyle/>
          <a:p>
            <a:pPr indent="0" marL="0">
              <a:buNone/>
            </a:pPr>
            <a:r>
              <a:rPr lang="en-US" sz="1800" i="1" dirty="0">
                <a:solidFill>
                  <a:schemeClr val="accent2"/>
                </a:solidFill>
              </a:rPr>
              <a:t>Систематическая погрешность заводской калибровки датчиков влажности CS616 в незасолённых почвах разного гранулометрического состава</a:t>
            </a:r>
            <a:endParaRPr lang="en-US" sz="1800" dirty="0"/>
          </a:p>
        </p:txBody>
      </p:sp>
      <p:sp>
        <p:nvSpPr>
          <p:cNvPr id="5" name="Text 2"/>
          <p:cNvSpPr txBox="1"/>
          <p:nvPr/>
        </p:nvSpPr>
        <p:spPr>
          <a:xfrm>
            <a:off x="640080" y="4617720"/>
            <a:ext cx="6675120" cy="320040"/>
          </a:xfrm>
          <a:prstGeom prst="rect">
            <a:avLst/>
          </a:prstGeom>
          <a:noFill/>
          <a:ln/>
        </p:spPr>
        <p:txBody>
          <a:bodyPr wrap="square" lIns="0" tIns="0" rIns="0" bIns="0" rtlCol="0" anchor="t"/>
          <a:lstStyle/>
          <a:p>
            <a:pPr indent="0" marL="0">
              <a:buNone/>
            </a:pPr>
            <a:r>
              <a:rPr lang="en-US" sz="1400" b="1" dirty="0">
                <a:solidFill>
                  <a:schemeClr val="bg1"/>
                </a:solidFill>
              </a:rPr>
              <a:t>Вербицкий А. Ю., Приходько И. А., Болдырева Л. М., Кесафоти Х. Е.</a:t>
            </a:r>
            <a:endParaRPr lang="en-US" sz="1400" dirty="0"/>
          </a:p>
        </p:txBody>
      </p:sp>
      <p:sp>
        <p:nvSpPr>
          <p:cNvPr id="6" name="Text 3"/>
          <p:cNvSpPr txBox="1"/>
          <p:nvPr/>
        </p:nvSpPr>
        <p:spPr>
          <a:xfrm>
            <a:off x="640080" y="5029200"/>
            <a:ext cx="6675120" cy="548640"/>
          </a:xfrm>
          <a:prstGeom prst="rect">
            <a:avLst/>
          </a:prstGeom>
          <a:noFill/>
          <a:ln/>
        </p:spPr>
        <p:txBody>
          <a:bodyPr wrap="square" lIns="0" tIns="0" rIns="0" bIns="0" rtlCol="0" anchor="t"/>
          <a:lstStyle/>
          <a:p>
            <a:pPr indent="0" marL="0">
              <a:buNone/>
            </a:pPr>
            <a:r>
              <a:rPr lang="en-US" sz="1400" dirty="0">
                <a:solidFill>
                  <a:schemeClr val="bg1"/>
                </a:solidFill>
              </a:rPr>
              <a:t>Кубанский государственный аграрный университет имени И. Т. Трубилина · Краснодар, 2026</a:t>
            </a:r>
            <a:endParaRPr lang="en-US" sz="1400" dirty="0"/>
          </a:p>
        </p:txBody>
      </p:sp>
      <p:sp>
        <p:nvSpPr>
          <p:cNvPr id="7" name="soil-A"/>
          <p:cNvSpPr/>
          <p:nvPr/>
        </p:nvSpPr>
        <p:spPr>
          <a:xfrm>
            <a:off x="8229600" y="2057400"/>
            <a:ext cx="3291840" cy="1097280"/>
          </a:xfrm>
          <a:prstGeom prst="roundRect">
            <a:avLst>
              <a:gd name="adj" fmla="val 6667"/>
            </a:avLst>
          </a:prstGeom>
          <a:solidFill>
            <a:schemeClr val="accent1"/>
          </a:solidFill>
          <a:ln/>
        </p:spPr>
      </p:sp>
      <p:sp>
        <p:nvSpPr>
          <p:cNvPr id="8" name="Text 5"/>
          <p:cNvSpPr txBox="1"/>
          <p:nvPr/>
        </p:nvSpPr>
        <p:spPr>
          <a:xfrm>
            <a:off x="8458200" y="2057400"/>
            <a:ext cx="548640" cy="1097280"/>
          </a:xfrm>
          <a:prstGeom prst="rect">
            <a:avLst/>
          </a:prstGeom>
          <a:noFill/>
          <a:ln/>
        </p:spPr>
        <p:txBody>
          <a:bodyPr wrap="square" lIns="0" tIns="0" rIns="0" bIns="0" rtlCol="0" anchor="ctr"/>
          <a:lstStyle/>
          <a:p>
            <a:pPr indent="0" marL="0">
              <a:buNone/>
            </a:pPr>
            <a:r>
              <a:rPr lang="en-US" sz="3600" b="1" dirty="0">
                <a:solidFill>
                  <a:schemeClr val="bg1"/>
                </a:solidFill>
              </a:rPr>
              <a:t>A</a:t>
            </a:r>
            <a:endParaRPr lang="en-US" sz="3600" dirty="0"/>
          </a:p>
        </p:txBody>
      </p:sp>
      <p:sp>
        <p:nvSpPr>
          <p:cNvPr id="9" name="Text 6"/>
          <p:cNvSpPr txBox="1"/>
          <p:nvPr/>
        </p:nvSpPr>
        <p:spPr>
          <a:xfrm>
            <a:off x="9098280" y="2057400"/>
            <a:ext cx="1234440" cy="1097280"/>
          </a:xfrm>
          <a:prstGeom prst="rect">
            <a:avLst/>
          </a:prstGeom>
          <a:noFill/>
          <a:ln/>
        </p:spPr>
        <p:txBody>
          <a:bodyPr wrap="square" lIns="0" tIns="0" rIns="0" bIns="0" rtlCol="0" anchor="ctr"/>
          <a:lstStyle/>
          <a:p>
            <a:pPr indent="0" marL="0">
              <a:buNone/>
            </a:pPr>
            <a:r>
              <a:rPr lang="en-US" sz="1200" dirty="0">
                <a:solidFill>
                  <a:schemeClr val="bg1"/>
                </a:solidFill>
              </a:rPr>
              <a:t>чернозём обыкновенный</a:t>
            </a:r>
            <a:endParaRPr lang="en-US" sz="1200" dirty="0"/>
          </a:p>
        </p:txBody>
      </p:sp>
      <p:sp>
        <p:nvSpPr>
          <p:cNvPr id="10" name="soil-B"/>
          <p:cNvSpPr/>
          <p:nvPr/>
        </p:nvSpPr>
        <p:spPr>
          <a:xfrm>
            <a:off x="8229600" y="3291840"/>
            <a:ext cx="3291840" cy="1097280"/>
          </a:xfrm>
          <a:prstGeom prst="roundRect">
            <a:avLst>
              <a:gd name="adj" fmla="val 6667"/>
            </a:avLst>
          </a:prstGeom>
          <a:solidFill>
            <a:schemeClr val="accent4"/>
          </a:solidFill>
          <a:ln/>
        </p:spPr>
      </p:sp>
      <p:sp>
        <p:nvSpPr>
          <p:cNvPr id="11" name="Text 8"/>
          <p:cNvSpPr txBox="1"/>
          <p:nvPr/>
        </p:nvSpPr>
        <p:spPr>
          <a:xfrm>
            <a:off x="8458200" y="3291840"/>
            <a:ext cx="548640" cy="1097280"/>
          </a:xfrm>
          <a:prstGeom prst="rect">
            <a:avLst/>
          </a:prstGeom>
          <a:noFill/>
          <a:ln/>
        </p:spPr>
        <p:txBody>
          <a:bodyPr wrap="square" lIns="0" tIns="0" rIns="0" bIns="0" rtlCol="0" anchor="ctr"/>
          <a:lstStyle/>
          <a:p>
            <a:pPr indent="0" marL="0">
              <a:buNone/>
            </a:pPr>
            <a:r>
              <a:rPr lang="en-US" sz="3600" b="1" dirty="0">
                <a:solidFill>
                  <a:schemeClr val="bg1"/>
                </a:solidFill>
              </a:rPr>
              <a:t>B</a:t>
            </a:r>
            <a:endParaRPr lang="en-US" sz="3600" dirty="0"/>
          </a:p>
        </p:txBody>
      </p:sp>
      <p:sp>
        <p:nvSpPr>
          <p:cNvPr id="12" name="Text 9"/>
          <p:cNvSpPr txBox="1"/>
          <p:nvPr/>
        </p:nvSpPr>
        <p:spPr>
          <a:xfrm>
            <a:off x="9098280" y="3291840"/>
            <a:ext cx="1234440" cy="1097280"/>
          </a:xfrm>
          <a:prstGeom prst="rect">
            <a:avLst/>
          </a:prstGeom>
          <a:noFill/>
          <a:ln/>
        </p:spPr>
        <p:txBody>
          <a:bodyPr wrap="square" lIns="0" tIns="0" rIns="0" bIns="0" rtlCol="0" anchor="ctr"/>
          <a:lstStyle/>
          <a:p>
            <a:pPr indent="0" marL="0">
              <a:buNone/>
            </a:pPr>
            <a:r>
              <a:rPr lang="en-US" sz="1200" dirty="0">
                <a:solidFill>
                  <a:schemeClr val="bg1"/>
                </a:solidFill>
              </a:rPr>
              <a:t>чернозём типичный</a:t>
            </a:r>
            <a:endParaRPr lang="en-US" sz="1200" dirty="0"/>
          </a:p>
        </p:txBody>
      </p:sp>
      <p:sp>
        <p:nvSpPr>
          <p:cNvPr id="13" name="soil-C"/>
          <p:cNvSpPr/>
          <p:nvPr/>
        </p:nvSpPr>
        <p:spPr>
          <a:xfrm>
            <a:off x="8229600" y="4526280"/>
            <a:ext cx="3291840" cy="1097280"/>
          </a:xfrm>
          <a:prstGeom prst="roundRect">
            <a:avLst>
              <a:gd name="adj" fmla="val 6667"/>
            </a:avLst>
          </a:prstGeom>
          <a:solidFill>
            <a:schemeClr val="accent3"/>
          </a:solidFill>
          <a:ln/>
        </p:spPr>
      </p:sp>
      <p:sp>
        <p:nvSpPr>
          <p:cNvPr id="14" name="Text 11"/>
          <p:cNvSpPr txBox="1"/>
          <p:nvPr/>
        </p:nvSpPr>
        <p:spPr>
          <a:xfrm>
            <a:off x="8458200" y="4526280"/>
            <a:ext cx="548640" cy="1097280"/>
          </a:xfrm>
          <a:prstGeom prst="rect">
            <a:avLst/>
          </a:prstGeom>
          <a:noFill/>
          <a:ln/>
        </p:spPr>
        <p:txBody>
          <a:bodyPr wrap="square" lIns="0" tIns="0" rIns="0" bIns="0" rtlCol="0" anchor="ctr"/>
          <a:lstStyle/>
          <a:p>
            <a:pPr indent="0" marL="0">
              <a:buNone/>
            </a:pPr>
            <a:r>
              <a:rPr lang="en-US" sz="3600" b="1" dirty="0">
                <a:solidFill>
                  <a:schemeClr val="bg1"/>
                </a:solidFill>
              </a:rPr>
              <a:t>C</a:t>
            </a:r>
            <a:endParaRPr lang="en-US" sz="3600" dirty="0"/>
          </a:p>
        </p:txBody>
      </p:sp>
      <p:sp>
        <p:nvSpPr>
          <p:cNvPr id="15" name="Text 12"/>
          <p:cNvSpPr txBox="1"/>
          <p:nvPr/>
        </p:nvSpPr>
        <p:spPr>
          <a:xfrm>
            <a:off x="9098280" y="4526280"/>
            <a:ext cx="1234440" cy="1097280"/>
          </a:xfrm>
          <a:prstGeom prst="rect">
            <a:avLst/>
          </a:prstGeom>
          <a:noFill/>
          <a:ln/>
        </p:spPr>
        <p:txBody>
          <a:bodyPr wrap="square" lIns="0" tIns="0" rIns="0" bIns="0" rtlCol="0" anchor="ctr"/>
          <a:lstStyle/>
          <a:p>
            <a:pPr indent="0" marL="0">
              <a:buNone/>
            </a:pPr>
            <a:r>
              <a:rPr lang="en-US" sz="1200" dirty="0">
                <a:solidFill>
                  <a:schemeClr val="bg1"/>
                </a:solidFill>
              </a:rPr>
              <a:t>лугово-чернозёмная</a:t>
            </a:r>
            <a:endParaRPr lang="en-US" sz="1200" dirty="0"/>
          </a:p>
        </p:txBody>
      </p:sp>
      <p:sp>
        <p:nvSpPr>
          <p:cNvPr id="16" name="probe-head"/>
          <p:cNvSpPr/>
          <p:nvPr/>
        </p:nvSpPr>
        <p:spPr>
          <a:xfrm>
            <a:off x="10424160" y="1097280"/>
            <a:ext cx="822960" cy="594360"/>
          </a:xfrm>
          <a:prstGeom prst="roundRect">
            <a:avLst>
              <a:gd name="adj" fmla="val 9231"/>
            </a:avLst>
          </a:prstGeom>
          <a:solidFill>
            <a:schemeClr val="bg1"/>
          </a:solidFill>
          <a:ln/>
        </p:spPr>
      </p:sp>
      <p:sp>
        <p:nvSpPr>
          <p:cNvPr id="17" name="Text 14"/>
          <p:cNvSpPr txBox="1"/>
          <p:nvPr/>
        </p:nvSpPr>
        <p:spPr>
          <a:xfrm>
            <a:off x="10424160" y="1097280"/>
            <a:ext cx="822960" cy="594360"/>
          </a:xfrm>
          <a:prstGeom prst="rect">
            <a:avLst/>
          </a:prstGeom>
          <a:noFill/>
          <a:ln/>
        </p:spPr>
        <p:txBody>
          <a:bodyPr wrap="square" lIns="0" tIns="0" rIns="0" bIns="0" rtlCol="0" anchor="ctr"/>
          <a:lstStyle/>
          <a:p>
            <a:pPr algn="ctr" indent="0" marL="0">
              <a:buNone/>
            </a:pPr>
            <a:r>
              <a:rPr lang="en-US" sz="1200" b="1" dirty="0">
                <a:solidFill>
                  <a:schemeClr val="tx1"/>
                </a:solidFill>
              </a:rPr>
              <a:t>CS616</a:t>
            </a:r>
            <a:endParaRPr lang="en-US" sz="1200" dirty="0"/>
          </a:p>
        </p:txBody>
      </p:sp>
      <p:sp>
        <p:nvSpPr>
          <p:cNvPr id="18" name="rod"/>
          <p:cNvSpPr/>
          <p:nvPr/>
        </p:nvSpPr>
        <p:spPr>
          <a:xfrm>
            <a:off x="10524744" y="1691640"/>
            <a:ext cx="73152" cy="3931920"/>
          </a:xfrm>
          <a:prstGeom prst="rect">
            <a:avLst/>
          </a:prstGeom>
          <a:solidFill>
            <a:schemeClr val="accent2"/>
          </a:solidFill>
          <a:ln/>
        </p:spPr>
      </p:sp>
      <p:sp>
        <p:nvSpPr>
          <p:cNvPr id="19" name="rod"/>
          <p:cNvSpPr/>
          <p:nvPr/>
        </p:nvSpPr>
        <p:spPr>
          <a:xfrm>
            <a:off x="11073384" y="1691640"/>
            <a:ext cx="73152" cy="3931920"/>
          </a:xfrm>
          <a:prstGeom prst="rect">
            <a:avLst/>
          </a:prstGeom>
          <a:solidFill>
            <a:schemeClr val="accent2"/>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1"/>
                </a:solidFill>
              </a:rPr>
              <a:t>Сколько стоит один процент влажности</a:t>
            </a:r>
            <a:endParaRPr lang="en-US" sz="3000" dirty="0"/>
          </a:p>
        </p:txBody>
      </p:sp>
      <p:sp>
        <p:nvSpPr>
          <p:cNvPr id="4" name="stat-0"/>
          <p:cNvSpPr/>
          <p:nvPr/>
        </p:nvSpPr>
        <p:spPr>
          <a:xfrm>
            <a:off x="548640" y="1463040"/>
            <a:ext cx="6035040" cy="1417320"/>
          </a:xfrm>
          <a:prstGeom prst="roundRect">
            <a:avLst>
              <a:gd name="adj" fmla="val 5161"/>
            </a:avLst>
          </a:prstGeom>
          <a:solidFill>
            <a:schemeClr val="bg2"/>
          </a:solidFill>
          <a:ln/>
        </p:spPr>
      </p:sp>
      <p:sp>
        <p:nvSpPr>
          <p:cNvPr id="5" name="Text 2"/>
          <p:cNvSpPr txBox="1"/>
          <p:nvPr/>
        </p:nvSpPr>
        <p:spPr>
          <a:xfrm>
            <a:off x="777240" y="1463040"/>
            <a:ext cx="2377440" cy="1417320"/>
          </a:xfrm>
          <a:prstGeom prst="rect">
            <a:avLst/>
          </a:prstGeom>
          <a:noFill/>
          <a:ln/>
        </p:spPr>
        <p:txBody>
          <a:bodyPr wrap="square" lIns="0" tIns="0" rIns="0" bIns="0" rtlCol="0" anchor="ctr"/>
          <a:lstStyle/>
          <a:p>
            <a:pPr indent="0" marL="0">
              <a:buNone/>
            </a:pPr>
            <a:r>
              <a:rPr lang="en-US" sz="4400" b="1" dirty="0">
                <a:solidFill>
                  <a:schemeClr val="accent1"/>
                </a:solidFill>
              </a:rPr>
              <a:t>0,01</a:t>
            </a:r>
            <a:endParaRPr lang="en-US" sz="4400" dirty="0"/>
          </a:p>
        </p:txBody>
      </p:sp>
      <p:sp>
        <p:nvSpPr>
          <p:cNvPr id="6" name="Text 3"/>
          <p:cNvSpPr txBox="1"/>
          <p:nvPr/>
        </p:nvSpPr>
        <p:spPr>
          <a:xfrm>
            <a:off x="3246120" y="1554480"/>
            <a:ext cx="3200400" cy="1234440"/>
          </a:xfrm>
          <a:prstGeom prst="rect">
            <a:avLst/>
          </a:prstGeom>
          <a:noFill/>
          <a:ln/>
        </p:spPr>
        <p:txBody>
          <a:bodyPr wrap="square" lIns="0" tIns="0" rIns="0" bIns="0" rtlCol="0" anchor="ctr"/>
          <a:lstStyle/>
          <a:p>
            <a:pPr indent="0" marL="0">
              <a:buNone/>
            </a:pPr>
            <a:r>
              <a:rPr lang="en-US" sz="1800" b="1" dirty="0">
                <a:solidFill>
                  <a:schemeClr val="tx1"/>
                </a:solidFill>
              </a:rPr>
              <a:t>1 л воды на 100 л почвы</a:t>
            </a:r>
            <a:endParaRPr lang="en-US" sz="1600" dirty="0"/>
          </a:p>
          <a:p>
            <a:pPr indent="0" marL="0">
              <a:buNone/>
            </a:pPr>
            <a:r>
              <a:rPr lang="en-US" sz="1400" dirty="0">
                <a:solidFill>
                  <a:schemeClr val="tx2"/>
                </a:solidFill>
              </a:rPr>
              <a:t>один процент объёмной влажности</a:t>
            </a:r>
            <a:endParaRPr lang="en-US" sz="1600" dirty="0"/>
          </a:p>
        </p:txBody>
      </p:sp>
      <p:sp>
        <p:nvSpPr>
          <p:cNvPr id="7" name="stat-1"/>
          <p:cNvSpPr/>
          <p:nvPr/>
        </p:nvSpPr>
        <p:spPr>
          <a:xfrm>
            <a:off x="548640" y="3063240"/>
            <a:ext cx="6035040" cy="1417320"/>
          </a:xfrm>
          <a:prstGeom prst="roundRect">
            <a:avLst>
              <a:gd name="adj" fmla="val 5161"/>
            </a:avLst>
          </a:prstGeom>
          <a:solidFill>
            <a:schemeClr val="bg2"/>
          </a:solidFill>
          <a:ln/>
        </p:spPr>
      </p:sp>
      <p:sp>
        <p:nvSpPr>
          <p:cNvPr id="8" name="Text 5"/>
          <p:cNvSpPr txBox="1"/>
          <p:nvPr/>
        </p:nvSpPr>
        <p:spPr>
          <a:xfrm>
            <a:off x="777240" y="3063240"/>
            <a:ext cx="2377440" cy="1417320"/>
          </a:xfrm>
          <a:prstGeom prst="rect">
            <a:avLst/>
          </a:prstGeom>
          <a:noFill/>
          <a:ln/>
        </p:spPr>
        <p:txBody>
          <a:bodyPr wrap="square" lIns="0" tIns="0" rIns="0" bIns="0" rtlCol="0" anchor="ctr"/>
          <a:lstStyle/>
          <a:p>
            <a:pPr indent="0" marL="0">
              <a:buNone/>
            </a:pPr>
            <a:r>
              <a:rPr lang="en-US" sz="4400" b="1" dirty="0">
                <a:solidFill>
                  <a:schemeClr val="accent1"/>
                </a:solidFill>
              </a:rPr>
              <a:t>10 мм</a:t>
            </a:r>
            <a:endParaRPr lang="en-US" sz="4400" dirty="0"/>
          </a:p>
        </p:txBody>
      </p:sp>
      <p:sp>
        <p:nvSpPr>
          <p:cNvPr id="9" name="Text 6"/>
          <p:cNvSpPr txBox="1"/>
          <p:nvPr/>
        </p:nvSpPr>
        <p:spPr>
          <a:xfrm>
            <a:off x="3246120" y="3154680"/>
            <a:ext cx="3200400" cy="1234440"/>
          </a:xfrm>
          <a:prstGeom prst="rect">
            <a:avLst/>
          </a:prstGeom>
          <a:noFill/>
          <a:ln/>
        </p:spPr>
        <p:txBody>
          <a:bodyPr wrap="square" lIns="0" tIns="0" rIns="0" bIns="0" rtlCol="0" anchor="ctr"/>
          <a:lstStyle/>
          <a:p>
            <a:pPr indent="0" marL="0">
              <a:buNone/>
            </a:pPr>
            <a:r>
              <a:rPr lang="en-US" sz="1800" b="1" dirty="0">
                <a:solidFill>
                  <a:schemeClr val="tx1"/>
                </a:solidFill>
              </a:rPr>
              <a:t>воды в метровом слое</a:t>
            </a:r>
            <a:endParaRPr lang="en-US" sz="1600" dirty="0"/>
          </a:p>
          <a:p>
            <a:pPr indent="0" marL="0">
              <a:buNone/>
            </a:pPr>
            <a:r>
              <a:rPr lang="en-US" sz="1400" dirty="0">
                <a:solidFill>
                  <a:schemeClr val="tx2"/>
                </a:solidFill>
              </a:rPr>
              <a:t>слой воды, которого «не хватает» или «лишний»</a:t>
            </a:r>
            <a:endParaRPr lang="en-US" sz="1600" dirty="0"/>
          </a:p>
        </p:txBody>
      </p:sp>
      <p:sp>
        <p:nvSpPr>
          <p:cNvPr id="10" name="stat-2"/>
          <p:cNvSpPr/>
          <p:nvPr/>
        </p:nvSpPr>
        <p:spPr>
          <a:xfrm>
            <a:off x="548640" y="4663440"/>
            <a:ext cx="6035040" cy="1417320"/>
          </a:xfrm>
          <a:prstGeom prst="roundRect">
            <a:avLst>
              <a:gd name="adj" fmla="val 5161"/>
            </a:avLst>
          </a:prstGeom>
          <a:solidFill>
            <a:schemeClr val="bg2"/>
          </a:solidFill>
          <a:ln/>
        </p:spPr>
      </p:sp>
      <p:sp>
        <p:nvSpPr>
          <p:cNvPr id="11" name="Text 8"/>
          <p:cNvSpPr txBox="1"/>
          <p:nvPr/>
        </p:nvSpPr>
        <p:spPr>
          <a:xfrm>
            <a:off x="777240" y="4663440"/>
            <a:ext cx="2377440" cy="1417320"/>
          </a:xfrm>
          <a:prstGeom prst="rect">
            <a:avLst/>
          </a:prstGeom>
          <a:noFill/>
          <a:ln/>
        </p:spPr>
        <p:txBody>
          <a:bodyPr wrap="square" lIns="0" tIns="0" rIns="0" bIns="0" rtlCol="0" anchor="ctr"/>
          <a:lstStyle/>
          <a:p>
            <a:pPr indent="0" marL="0">
              <a:buNone/>
            </a:pPr>
            <a:r>
              <a:rPr lang="en-US" sz="4400" b="1" dirty="0">
                <a:solidFill>
                  <a:schemeClr val="accent1"/>
                </a:solidFill>
              </a:rPr>
              <a:t>100 м³</a:t>
            </a:r>
            <a:endParaRPr lang="en-US" sz="4400" dirty="0"/>
          </a:p>
        </p:txBody>
      </p:sp>
      <p:sp>
        <p:nvSpPr>
          <p:cNvPr id="12" name="Text 9"/>
          <p:cNvSpPr txBox="1"/>
          <p:nvPr/>
        </p:nvSpPr>
        <p:spPr>
          <a:xfrm>
            <a:off x="3246120" y="4754880"/>
            <a:ext cx="3200400" cy="1234440"/>
          </a:xfrm>
          <a:prstGeom prst="rect">
            <a:avLst/>
          </a:prstGeom>
          <a:noFill/>
          <a:ln/>
        </p:spPr>
        <p:txBody>
          <a:bodyPr wrap="square" lIns="0" tIns="0" rIns="0" bIns="0" rtlCol="0" anchor="ctr"/>
          <a:lstStyle/>
          <a:p>
            <a:pPr indent="0" marL="0">
              <a:buNone/>
            </a:pPr>
            <a:r>
              <a:rPr lang="en-US" sz="1800" b="1" dirty="0">
                <a:solidFill>
                  <a:schemeClr val="tx1"/>
                </a:solidFill>
              </a:rPr>
              <a:t>воды на гектар</a:t>
            </a:r>
            <a:endParaRPr lang="en-US" sz="1600" dirty="0"/>
          </a:p>
          <a:p>
            <a:pPr indent="0" marL="0">
              <a:buNone/>
            </a:pPr>
            <a:r>
              <a:rPr lang="en-US" sz="1400" dirty="0">
                <a:solidFill>
                  <a:schemeClr val="tx2"/>
                </a:solidFill>
              </a:rPr>
              <a:t>то же самое, в единицах поливной нормы</a:t>
            </a:r>
            <a:endParaRPr lang="en-US" sz="1600" dirty="0"/>
          </a:p>
        </p:txBody>
      </p:sp>
      <p:sp>
        <p:nvSpPr>
          <p:cNvPr id="13" name="passport-card"/>
          <p:cNvSpPr/>
          <p:nvPr/>
        </p:nvSpPr>
        <p:spPr>
          <a:xfrm>
            <a:off x="6949440" y="1463040"/>
            <a:ext cx="4663440" cy="4572000"/>
          </a:xfrm>
          <a:prstGeom prst="roundRect">
            <a:avLst>
              <a:gd name="adj" fmla="val 1600"/>
            </a:avLst>
          </a:prstGeom>
          <a:solidFill>
            <a:schemeClr val="tx1"/>
          </a:solidFill>
          <a:ln/>
        </p:spPr>
      </p:sp>
      <p:sp>
        <p:nvSpPr>
          <p:cNvPr id="14" name="Text 11"/>
          <p:cNvSpPr txBox="1"/>
          <p:nvPr/>
        </p:nvSpPr>
        <p:spPr>
          <a:xfrm>
            <a:off x="7269480" y="1737360"/>
            <a:ext cx="4023360" cy="365760"/>
          </a:xfrm>
          <a:prstGeom prst="rect">
            <a:avLst/>
          </a:prstGeom>
          <a:noFill/>
          <a:ln/>
        </p:spPr>
        <p:txBody>
          <a:bodyPr wrap="square" lIns="0" tIns="0" rIns="0" bIns="0" rtlCol="0" anchor="t"/>
          <a:lstStyle/>
          <a:p>
            <a:pPr indent="0" marL="0">
              <a:buNone/>
            </a:pPr>
            <a:r>
              <a:rPr lang="en-US" sz="1600" b="1" dirty="0">
                <a:solidFill>
                  <a:schemeClr val="accent2"/>
                </a:solidFill>
              </a:rPr>
              <a:t>Паспорт датчика</a:t>
            </a:r>
            <a:endParaRPr lang="en-US" sz="1600" dirty="0"/>
          </a:p>
        </p:txBody>
      </p:sp>
      <p:sp>
        <p:nvSpPr>
          <p:cNvPr id="15" name="Text 12"/>
          <p:cNvSpPr txBox="1"/>
          <p:nvPr/>
        </p:nvSpPr>
        <p:spPr>
          <a:xfrm>
            <a:off x="7269480" y="2148840"/>
            <a:ext cx="4023360" cy="914400"/>
          </a:xfrm>
          <a:prstGeom prst="rect">
            <a:avLst/>
          </a:prstGeom>
          <a:noFill/>
          <a:ln/>
        </p:spPr>
        <p:txBody>
          <a:bodyPr wrap="square" lIns="0" tIns="0" rIns="0" bIns="0" rtlCol="0" anchor="t"/>
          <a:lstStyle/>
          <a:p>
            <a:pPr indent="0" marL="0">
              <a:buNone/>
            </a:pPr>
            <a:r>
              <a:rPr lang="en-US" sz="6000" b="1" dirty="0">
                <a:solidFill>
                  <a:schemeClr val="bg1"/>
                </a:solidFill>
              </a:rPr>
              <a:t>±0,025</a:t>
            </a:r>
            <a:endParaRPr lang="en-US" sz="6000" dirty="0"/>
          </a:p>
        </p:txBody>
      </p:sp>
      <p:sp>
        <p:nvSpPr>
          <p:cNvPr id="16" name="Text 13"/>
          <p:cNvSpPr txBox="1"/>
          <p:nvPr/>
        </p:nvSpPr>
        <p:spPr>
          <a:xfrm>
            <a:off x="7269480" y="3154680"/>
            <a:ext cx="4023360" cy="1097280"/>
          </a:xfrm>
          <a:prstGeom prst="rect">
            <a:avLst/>
          </a:prstGeom>
          <a:noFill/>
          <a:ln/>
        </p:spPr>
        <p:txBody>
          <a:bodyPr wrap="square" lIns="0" tIns="0" rIns="0" bIns="0" rtlCol="0" anchor="t"/>
          <a:lstStyle/>
          <a:p>
            <a:pPr indent="0" marL="0">
              <a:buNone/>
            </a:pPr>
            <a:r>
              <a:rPr lang="en-US" sz="1800" dirty="0">
                <a:solidFill>
                  <a:schemeClr val="bg1"/>
                </a:solidFill>
              </a:rPr>
              <a:t>до 25 мм воды в метровом слое, которые прибор может «придумать» или «не заметить»</a:t>
            </a:r>
            <a:endParaRPr lang="en-US" sz="1800" dirty="0"/>
          </a:p>
        </p:txBody>
      </p:sp>
      <p:sp>
        <p:nvSpPr>
          <p:cNvPr id="17" name="Text 14"/>
          <p:cNvSpPr txBox="1"/>
          <p:nvPr/>
        </p:nvSpPr>
        <p:spPr>
          <a:xfrm>
            <a:off x="7269480" y="4389120"/>
            <a:ext cx="4023360" cy="1463040"/>
          </a:xfrm>
          <a:prstGeom prst="rect">
            <a:avLst/>
          </a:prstGeom>
          <a:noFill/>
          <a:ln/>
        </p:spPr>
        <p:txBody>
          <a:bodyPr wrap="square" lIns="0" tIns="0" rIns="0" bIns="0" rtlCol="0" anchor="t"/>
          <a:lstStyle/>
          <a:p>
            <a:pPr indent="0" marL="0">
              <a:buNone/>
            </a:pPr>
            <a:r>
              <a:rPr lang="en-US" sz="1800" dirty="0">
                <a:solidFill>
                  <a:schemeClr val="bg1"/>
                </a:solidFill>
              </a:rPr>
              <a:t>Но паспорт получен в основном на супесях и более лёгких почвах, а на виноградниках края физической глины бывает </a:t>
            </a:r>
            <a:pPr indent="0" marL="0">
              <a:buNone/>
            </a:pPr>
            <a:r>
              <a:rPr lang="en-US" sz="1800" b="1" dirty="0">
                <a:solidFill>
                  <a:schemeClr val="accent2"/>
                </a:solidFill>
              </a:rPr>
              <a:t>до 65 %</a:t>
            </a:r>
            <a:endParaRPr lang="en-US" sz="18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1"/>
                </a:solidFill>
              </a:rPr>
              <a:t>Датчик измеряет не воду, а время</a:t>
            </a:r>
            <a:endParaRPr lang="en-US" sz="3000" dirty="0"/>
          </a:p>
        </p:txBody>
      </p:sp>
      <p:sp>
        <p:nvSpPr>
          <p:cNvPr id="4" name="soil-block"/>
          <p:cNvSpPr/>
          <p:nvPr/>
        </p:nvSpPr>
        <p:spPr>
          <a:xfrm>
            <a:off x="548640" y="1463040"/>
            <a:ext cx="5120640" cy="2103120"/>
          </a:xfrm>
          <a:prstGeom prst="roundRect">
            <a:avLst>
              <a:gd name="adj" fmla="val 3478"/>
            </a:avLst>
          </a:prstGeom>
          <a:solidFill>
            <a:schemeClr val="accent4"/>
          </a:solidFill>
          <a:ln/>
        </p:spPr>
      </p:sp>
      <p:sp>
        <p:nvSpPr>
          <p:cNvPr id="5" name="Text 2"/>
          <p:cNvSpPr txBox="1"/>
          <p:nvPr/>
        </p:nvSpPr>
        <p:spPr>
          <a:xfrm>
            <a:off x="2560320" y="3154680"/>
            <a:ext cx="1828800" cy="320040"/>
          </a:xfrm>
          <a:prstGeom prst="rect">
            <a:avLst/>
          </a:prstGeom>
          <a:noFill/>
          <a:ln/>
        </p:spPr>
        <p:txBody>
          <a:bodyPr wrap="square" lIns="0" tIns="0" rIns="0" bIns="0" rtlCol="0" anchor="t"/>
          <a:lstStyle/>
          <a:p>
            <a:pPr indent="0" marL="0">
              <a:buNone/>
            </a:pPr>
            <a:r>
              <a:rPr lang="en-US" sz="1400" dirty="0">
                <a:solidFill>
                  <a:schemeClr val="bg1"/>
                </a:solidFill>
              </a:rPr>
              <a:t>почва</a:t>
            </a:r>
            <a:endParaRPr lang="en-US" sz="1400" dirty="0"/>
          </a:p>
        </p:txBody>
      </p:sp>
      <p:sp>
        <p:nvSpPr>
          <p:cNvPr id="6" name="probe-head"/>
          <p:cNvSpPr/>
          <p:nvPr/>
        </p:nvSpPr>
        <p:spPr>
          <a:xfrm>
            <a:off x="868680" y="1463040"/>
            <a:ext cx="1188720" cy="457200"/>
          </a:xfrm>
          <a:prstGeom prst="roundRect">
            <a:avLst>
              <a:gd name="adj" fmla="val 10000"/>
            </a:avLst>
          </a:prstGeom>
          <a:solidFill>
            <a:schemeClr val="tx1"/>
          </a:solidFill>
          <a:ln/>
        </p:spPr>
      </p:sp>
      <p:sp>
        <p:nvSpPr>
          <p:cNvPr id="7" name="Text 4"/>
          <p:cNvSpPr txBox="1"/>
          <p:nvPr/>
        </p:nvSpPr>
        <p:spPr>
          <a:xfrm>
            <a:off x="868680" y="1463040"/>
            <a:ext cx="1188720" cy="457200"/>
          </a:xfrm>
          <a:prstGeom prst="rect">
            <a:avLst/>
          </a:prstGeom>
          <a:noFill/>
          <a:ln/>
        </p:spPr>
        <p:txBody>
          <a:bodyPr wrap="square" lIns="0" tIns="0" rIns="0" bIns="0" rtlCol="0" anchor="ctr"/>
          <a:lstStyle/>
          <a:p>
            <a:pPr algn="ctr" indent="0" marL="0">
              <a:buNone/>
            </a:pPr>
            <a:r>
              <a:rPr lang="en-US" sz="1200" dirty="0">
                <a:solidFill>
                  <a:schemeClr val="bg1"/>
                </a:solidFill>
              </a:rPr>
              <a:t>датчик</a:t>
            </a:r>
            <a:endParaRPr lang="en-US" sz="1200" dirty="0"/>
          </a:p>
        </p:txBody>
      </p:sp>
      <p:sp>
        <p:nvSpPr>
          <p:cNvPr id="8" name="rod"/>
          <p:cNvSpPr/>
          <p:nvPr/>
        </p:nvSpPr>
        <p:spPr>
          <a:xfrm>
            <a:off x="1097280" y="1920240"/>
            <a:ext cx="64008" cy="1463040"/>
          </a:xfrm>
          <a:prstGeom prst="rect">
            <a:avLst/>
          </a:prstGeom>
          <a:solidFill>
            <a:schemeClr val="accent2"/>
          </a:solidFill>
          <a:ln/>
        </p:spPr>
      </p:sp>
      <p:sp>
        <p:nvSpPr>
          <p:cNvPr id="9" name="rod"/>
          <p:cNvSpPr/>
          <p:nvPr/>
        </p:nvSpPr>
        <p:spPr>
          <a:xfrm>
            <a:off x="1828800" y="1920240"/>
            <a:ext cx="64008" cy="1463040"/>
          </a:xfrm>
          <a:prstGeom prst="rect">
            <a:avLst/>
          </a:prstGeom>
          <a:solidFill>
            <a:schemeClr val="accent2"/>
          </a:solidFill>
          <a:ln/>
        </p:spPr>
      </p:sp>
      <p:sp>
        <p:nvSpPr>
          <p:cNvPr id="10" name="pulse-out"/>
          <p:cNvSpPr/>
          <p:nvPr/>
        </p:nvSpPr>
        <p:spPr>
          <a:xfrm>
            <a:off x="2377440" y="2011680"/>
            <a:ext cx="2926080" cy="0"/>
          </a:xfrm>
          <a:prstGeom prst="line">
            <a:avLst/>
          </a:prstGeom>
          <a:noFill/>
          <a:ln w="31750">
            <a:solidFill>
              <a:schemeClr val="bg1"/>
            </a:solidFill>
            <a:prstDash val="dash"/>
            <a:tailEnd type="triangle"/>
          </a:ln>
        </p:spPr>
      </p:sp>
      <p:sp>
        <p:nvSpPr>
          <p:cNvPr id="11" name="pulse-back"/>
          <p:cNvSpPr/>
          <p:nvPr/>
        </p:nvSpPr>
        <p:spPr>
          <a:xfrm>
            <a:off x="5303520" y="2743200"/>
            <a:ext cx="-2926080" cy="0"/>
          </a:xfrm>
          <a:prstGeom prst="line">
            <a:avLst/>
          </a:prstGeom>
          <a:noFill/>
          <a:ln w="31750">
            <a:solidFill>
              <a:schemeClr val="accent2"/>
            </a:solidFill>
            <a:prstDash val="dash"/>
            <a:tailEnd type="triangle"/>
          </a:ln>
        </p:spPr>
      </p:sp>
      <p:sp>
        <p:nvSpPr>
          <p:cNvPr id="12" name="Text 9"/>
          <p:cNvSpPr txBox="1"/>
          <p:nvPr/>
        </p:nvSpPr>
        <p:spPr>
          <a:xfrm>
            <a:off x="2377440" y="2194560"/>
            <a:ext cx="3108960" cy="457200"/>
          </a:xfrm>
          <a:prstGeom prst="rect">
            <a:avLst/>
          </a:prstGeom>
          <a:noFill/>
          <a:ln/>
        </p:spPr>
        <p:txBody>
          <a:bodyPr wrap="square" lIns="0" tIns="0" rIns="0" bIns="0" rtlCol="0" anchor="t"/>
          <a:lstStyle/>
          <a:p>
            <a:pPr indent="0" marL="0">
              <a:buNone/>
            </a:pPr>
            <a:r>
              <a:rPr lang="en-US" sz="1400" dirty="0">
                <a:solidFill>
                  <a:schemeClr val="bg1"/>
                </a:solidFill>
              </a:rPr>
              <a:t>импульс идёт по штангам и возвращается</a:t>
            </a:r>
            <a:endParaRPr lang="en-US" sz="1400" dirty="0"/>
          </a:p>
        </p:txBody>
      </p:sp>
      <p:graphicFrame>
        <p:nvGraphicFramePr>
          <p:cNvPr id="13" name="Chart 0" descr=""/>
          <p:cNvGraphicFramePr/>
          <p:nvPr/>
        </p:nvGraphicFramePr>
        <p:xfrm>
          <a:off x="548640" y="3749040"/>
          <a:ext cx="5120640" cy="2560320"/>
        </p:xfrm>
        <a:graphic xmlns:a="http://schemas.openxmlformats.org/drawingml/2006/main">
          <a:graphicData uri="http://schemas.openxmlformats.org/drawingml/2006/chart">
            <c:chart xmlns:c="http://schemas.openxmlformats.org/drawingml/2006/chart" r:id="rId1"/>
          </a:graphicData>
        </a:graphic>
      </p:graphicFrame>
      <p:sp>
        <p:nvSpPr>
          <p:cNvPr id="14" name="chain-0"/>
          <p:cNvSpPr/>
          <p:nvPr/>
        </p:nvSpPr>
        <p:spPr>
          <a:xfrm>
            <a:off x="6217920" y="1463040"/>
            <a:ext cx="5394960" cy="731520"/>
          </a:xfrm>
          <a:prstGeom prst="roundRect">
            <a:avLst>
              <a:gd name="adj" fmla="val 10000"/>
            </a:avLst>
          </a:prstGeom>
          <a:solidFill>
            <a:schemeClr val="bg2"/>
          </a:solidFill>
          <a:ln/>
        </p:spPr>
      </p:sp>
      <p:sp>
        <p:nvSpPr>
          <p:cNvPr id="15" name="Text 11"/>
          <p:cNvSpPr txBox="1"/>
          <p:nvPr/>
        </p:nvSpPr>
        <p:spPr>
          <a:xfrm>
            <a:off x="6492240" y="1463040"/>
            <a:ext cx="4846320" cy="731520"/>
          </a:xfrm>
          <a:prstGeom prst="rect">
            <a:avLst/>
          </a:prstGeom>
          <a:noFill/>
          <a:ln/>
        </p:spPr>
        <p:txBody>
          <a:bodyPr wrap="square" lIns="0" tIns="0" rIns="0" bIns="0" rtlCol="0" anchor="ctr"/>
          <a:lstStyle/>
          <a:p>
            <a:pPr indent="0" marL="0">
              <a:buNone/>
            </a:pPr>
            <a:r>
              <a:rPr lang="en-US" sz="1800" b="1" dirty="0">
                <a:solidFill>
                  <a:schemeClr val="tx1"/>
                </a:solidFill>
              </a:rPr>
              <a:t>Больше воды в почве</a:t>
            </a:r>
            <a:endParaRPr lang="en-US" sz="1800" dirty="0"/>
          </a:p>
        </p:txBody>
      </p:sp>
      <p:sp>
        <p:nvSpPr>
          <p:cNvPr id="16" name="arrow"/>
          <p:cNvSpPr/>
          <p:nvPr/>
        </p:nvSpPr>
        <p:spPr>
          <a:xfrm>
            <a:off x="8732520" y="2176272"/>
            <a:ext cx="365760" cy="274320"/>
          </a:xfrm>
          <a:prstGeom prst="downArrow">
            <a:avLst/>
          </a:prstGeom>
          <a:solidFill>
            <a:schemeClr val="accent5"/>
          </a:solidFill>
          <a:ln/>
        </p:spPr>
      </p:sp>
      <p:sp>
        <p:nvSpPr>
          <p:cNvPr id="17" name="chain-1"/>
          <p:cNvSpPr/>
          <p:nvPr/>
        </p:nvSpPr>
        <p:spPr>
          <a:xfrm>
            <a:off x="6217920" y="2468880"/>
            <a:ext cx="5394960" cy="731520"/>
          </a:xfrm>
          <a:prstGeom prst="roundRect">
            <a:avLst>
              <a:gd name="adj" fmla="val 10000"/>
            </a:avLst>
          </a:prstGeom>
          <a:solidFill>
            <a:schemeClr val="bg2"/>
          </a:solidFill>
          <a:ln/>
        </p:spPr>
      </p:sp>
      <p:sp>
        <p:nvSpPr>
          <p:cNvPr id="18" name="Text 14"/>
          <p:cNvSpPr txBox="1"/>
          <p:nvPr/>
        </p:nvSpPr>
        <p:spPr>
          <a:xfrm>
            <a:off x="6492240" y="2468880"/>
            <a:ext cx="4846320" cy="731520"/>
          </a:xfrm>
          <a:prstGeom prst="rect">
            <a:avLst/>
          </a:prstGeom>
          <a:noFill/>
          <a:ln/>
        </p:spPr>
        <p:txBody>
          <a:bodyPr wrap="square" lIns="0" tIns="0" rIns="0" bIns="0" rtlCol="0" anchor="ctr"/>
          <a:lstStyle/>
          <a:p>
            <a:pPr indent="0" marL="0">
              <a:buNone/>
            </a:pPr>
            <a:r>
              <a:rPr lang="en-US" sz="1800" b="1" dirty="0">
                <a:solidFill>
                  <a:schemeClr val="tx1"/>
                </a:solidFill>
              </a:rPr>
              <a:t>Волна идёт медленнее</a:t>
            </a:r>
            <a:endParaRPr lang="en-US" sz="1800" dirty="0"/>
          </a:p>
        </p:txBody>
      </p:sp>
      <p:sp>
        <p:nvSpPr>
          <p:cNvPr id="19" name="arrow"/>
          <p:cNvSpPr/>
          <p:nvPr/>
        </p:nvSpPr>
        <p:spPr>
          <a:xfrm>
            <a:off x="8732520" y="3182112"/>
            <a:ext cx="365760" cy="274320"/>
          </a:xfrm>
          <a:prstGeom prst="downArrow">
            <a:avLst/>
          </a:prstGeom>
          <a:solidFill>
            <a:schemeClr val="accent5"/>
          </a:solidFill>
          <a:ln/>
        </p:spPr>
      </p:sp>
      <p:sp>
        <p:nvSpPr>
          <p:cNvPr id="20" name="chain-2"/>
          <p:cNvSpPr/>
          <p:nvPr/>
        </p:nvSpPr>
        <p:spPr>
          <a:xfrm>
            <a:off x="6217920" y="3474720"/>
            <a:ext cx="5394960" cy="731520"/>
          </a:xfrm>
          <a:prstGeom prst="roundRect">
            <a:avLst>
              <a:gd name="adj" fmla="val 10000"/>
            </a:avLst>
          </a:prstGeom>
          <a:solidFill>
            <a:schemeClr val="accent1"/>
          </a:solidFill>
          <a:ln/>
        </p:spPr>
      </p:sp>
      <p:sp>
        <p:nvSpPr>
          <p:cNvPr id="21" name="Text 17"/>
          <p:cNvSpPr txBox="1"/>
          <p:nvPr/>
        </p:nvSpPr>
        <p:spPr>
          <a:xfrm>
            <a:off x="6492240" y="3474720"/>
            <a:ext cx="4846320" cy="731520"/>
          </a:xfrm>
          <a:prstGeom prst="rect">
            <a:avLst/>
          </a:prstGeom>
          <a:noFill/>
          <a:ln/>
        </p:spPr>
        <p:txBody>
          <a:bodyPr wrap="square" lIns="0" tIns="0" rIns="0" bIns="0" rtlCol="0" anchor="ctr"/>
          <a:lstStyle/>
          <a:p>
            <a:pPr indent="0" marL="0">
              <a:buNone/>
            </a:pPr>
            <a:r>
              <a:rPr lang="en-US" sz="1800" b="1" dirty="0">
                <a:solidFill>
                  <a:schemeClr val="bg1"/>
                </a:solidFill>
              </a:rPr>
              <a:t>Период τ длиннее</a:t>
            </a:r>
            <a:endParaRPr lang="en-US" sz="1800" dirty="0"/>
          </a:p>
        </p:txBody>
      </p:sp>
      <p:sp>
        <p:nvSpPr>
          <p:cNvPr id="22" name="formula"/>
          <p:cNvSpPr/>
          <p:nvPr/>
        </p:nvSpPr>
        <p:spPr>
          <a:xfrm>
            <a:off x="6217920" y="4617720"/>
            <a:ext cx="5394960" cy="1691640"/>
          </a:xfrm>
          <a:prstGeom prst="roundRect">
            <a:avLst>
              <a:gd name="adj" fmla="val 4324"/>
            </a:avLst>
          </a:prstGeom>
          <a:solidFill>
            <a:schemeClr val="tx1"/>
          </a:solidFill>
          <a:ln/>
        </p:spPr>
      </p:sp>
      <p:sp>
        <p:nvSpPr>
          <p:cNvPr id="23" name="Text 19"/>
          <p:cNvSpPr txBox="1"/>
          <p:nvPr/>
        </p:nvSpPr>
        <p:spPr>
          <a:xfrm>
            <a:off x="6492240" y="4754880"/>
            <a:ext cx="4846320" cy="320040"/>
          </a:xfrm>
          <a:prstGeom prst="rect">
            <a:avLst/>
          </a:prstGeom>
          <a:noFill/>
          <a:ln/>
        </p:spPr>
        <p:txBody>
          <a:bodyPr wrap="square" lIns="0" tIns="0" rIns="0" bIns="0" rtlCol="0" anchor="t"/>
          <a:lstStyle/>
          <a:p>
            <a:pPr indent="0" marL="0">
              <a:buNone/>
            </a:pPr>
            <a:r>
              <a:rPr lang="en-US" sz="1400" b="1" dirty="0">
                <a:solidFill>
                  <a:schemeClr val="accent2"/>
                </a:solidFill>
              </a:rPr>
              <a:t>Заводской «переводчик» время → влажность</a:t>
            </a:r>
            <a:endParaRPr lang="en-US" sz="1400" dirty="0"/>
          </a:p>
        </p:txBody>
      </p:sp>
      <p:sp>
        <p:nvSpPr>
          <p:cNvPr id="24" name="Text 20"/>
          <p:cNvSpPr txBox="1"/>
          <p:nvPr/>
        </p:nvSpPr>
        <p:spPr>
          <a:xfrm>
            <a:off x="6492240" y="5166360"/>
            <a:ext cx="4846320" cy="502920"/>
          </a:xfrm>
          <a:prstGeom prst="rect">
            <a:avLst/>
          </a:prstGeom>
          <a:noFill/>
          <a:ln/>
        </p:spPr>
        <p:txBody>
          <a:bodyPr wrap="square" lIns="0" tIns="0" rIns="0" bIns="0" rtlCol="0" anchor="t"/>
          <a:lstStyle/>
          <a:p>
            <a:pPr indent="0" marL="0">
              <a:buNone/>
            </a:pPr>
            <a:r>
              <a:rPr lang="en-US" sz="2200" b="1" dirty="0">
                <a:solidFill>
                  <a:schemeClr val="bg1"/>
                </a:solidFill>
              </a:rPr>
              <a:t>θ = −0,0663 − 0,0063·τ + 0,0007·τ²</a:t>
            </a:r>
            <a:endParaRPr lang="en-US" sz="2200" dirty="0"/>
          </a:p>
        </p:txBody>
      </p:sp>
      <p:sp>
        <p:nvSpPr>
          <p:cNvPr id="25" name="Text 21"/>
          <p:cNvSpPr txBox="1"/>
          <p:nvPr/>
        </p:nvSpPr>
        <p:spPr>
          <a:xfrm>
            <a:off x="6492240" y="5760720"/>
            <a:ext cx="4846320" cy="365760"/>
          </a:xfrm>
          <a:prstGeom prst="rect">
            <a:avLst/>
          </a:prstGeom>
          <a:noFill/>
          <a:ln/>
        </p:spPr>
        <p:txBody>
          <a:bodyPr wrap="square" lIns="0" tIns="0" rIns="0" bIns="0" rtlCol="0" anchor="t"/>
          <a:lstStyle/>
          <a:p>
            <a:pPr indent="0" marL="0">
              <a:buNone/>
            </a:pPr>
            <a:r>
              <a:rPr lang="en-US" sz="1400" dirty="0">
                <a:solidFill>
                  <a:schemeClr val="bg1"/>
                </a:solidFill>
              </a:rPr>
              <a:t>τ — период в микросекундах; θ — объёмная влажность</a:t>
            </a:r>
            <a:endParaRPr lang="en-US" sz="14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1"/>
                </a:solidFill>
              </a:rPr>
              <a:t>Два скрытых допущения</a:t>
            </a:r>
            <a:endParaRPr lang="en-US" sz="3000" dirty="0"/>
          </a:p>
        </p:txBody>
      </p:sp>
      <p:sp>
        <p:nvSpPr>
          <p:cNvPr id="4" name="assumption-0"/>
          <p:cNvSpPr/>
          <p:nvPr/>
        </p:nvSpPr>
        <p:spPr>
          <a:xfrm>
            <a:off x="548640" y="1463040"/>
            <a:ext cx="5394960" cy="2103120"/>
          </a:xfrm>
          <a:prstGeom prst="roundRect">
            <a:avLst>
              <a:gd name="adj" fmla="val 3478"/>
            </a:avLst>
          </a:prstGeom>
          <a:solidFill>
            <a:schemeClr val="bg2"/>
          </a:solidFill>
          <a:ln/>
        </p:spPr>
      </p:sp>
      <p:sp>
        <p:nvSpPr>
          <p:cNvPr id="5" name="badge"/>
          <p:cNvSpPr/>
          <p:nvPr/>
        </p:nvSpPr>
        <p:spPr>
          <a:xfrm>
            <a:off x="822960" y="1737360"/>
            <a:ext cx="685800" cy="685800"/>
          </a:xfrm>
          <a:prstGeom prst="ellipse">
            <a:avLst/>
          </a:prstGeom>
          <a:solidFill>
            <a:schemeClr val="accent1"/>
          </a:solidFill>
          <a:ln/>
        </p:spPr>
      </p:sp>
      <p:sp>
        <p:nvSpPr>
          <p:cNvPr id="6" name="Text 3"/>
          <p:cNvSpPr txBox="1"/>
          <p:nvPr/>
        </p:nvSpPr>
        <p:spPr>
          <a:xfrm>
            <a:off x="822960" y="1737360"/>
            <a:ext cx="685800" cy="68580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7" name="Text 4"/>
          <p:cNvSpPr txBox="1"/>
          <p:nvPr/>
        </p:nvSpPr>
        <p:spPr>
          <a:xfrm>
            <a:off x="1737360" y="1691640"/>
            <a:ext cx="4023360" cy="777240"/>
          </a:xfrm>
          <a:prstGeom prst="rect">
            <a:avLst/>
          </a:prstGeom>
          <a:noFill/>
          <a:ln/>
        </p:spPr>
        <p:txBody>
          <a:bodyPr wrap="square" lIns="0" tIns="0" rIns="0" bIns="0" rtlCol="0" anchor="ctr"/>
          <a:lstStyle/>
          <a:p>
            <a:pPr indent="0" marL="0">
              <a:buNone/>
            </a:pPr>
            <a:r>
              <a:rPr lang="en-US" sz="2200" b="1" dirty="0">
                <a:solidFill>
                  <a:schemeClr val="tx1"/>
                </a:solidFill>
              </a:rPr>
              <a:t>Почва для волны — изолятор</a:t>
            </a:r>
            <a:endParaRPr lang="en-US" sz="2200" dirty="0"/>
          </a:p>
        </p:txBody>
      </p:sp>
      <p:sp>
        <p:nvSpPr>
          <p:cNvPr id="8" name="Text 5"/>
          <p:cNvSpPr txBox="1"/>
          <p:nvPr/>
        </p:nvSpPr>
        <p:spPr>
          <a:xfrm>
            <a:off x="822960" y="2606040"/>
            <a:ext cx="4846320" cy="822960"/>
          </a:xfrm>
          <a:prstGeom prst="rect">
            <a:avLst/>
          </a:prstGeom>
          <a:noFill/>
          <a:ln/>
        </p:spPr>
        <p:txBody>
          <a:bodyPr wrap="square" lIns="0" tIns="0" rIns="0" bIns="0" rtlCol="0" anchor="t"/>
          <a:lstStyle/>
          <a:p>
            <a:pPr indent="0" marL="0">
              <a:buNone/>
            </a:pPr>
            <a:r>
              <a:rPr lang="en-US" sz="1600" dirty="0">
                <a:solidFill>
                  <a:schemeClr val="tx1"/>
                </a:solidFill>
              </a:rPr>
              <a:t>Сигнал замедляется только из-за воды. Всё остальное — «прозрачно».</a:t>
            </a:r>
            <a:endParaRPr lang="en-US" sz="1600" dirty="0"/>
          </a:p>
        </p:txBody>
      </p:sp>
      <p:sp>
        <p:nvSpPr>
          <p:cNvPr id="9" name="assumption-1"/>
          <p:cNvSpPr/>
          <p:nvPr/>
        </p:nvSpPr>
        <p:spPr>
          <a:xfrm>
            <a:off x="6217920" y="1463040"/>
            <a:ext cx="5394960" cy="2103120"/>
          </a:xfrm>
          <a:prstGeom prst="roundRect">
            <a:avLst>
              <a:gd name="adj" fmla="val 3478"/>
            </a:avLst>
          </a:prstGeom>
          <a:solidFill>
            <a:schemeClr val="bg2"/>
          </a:solidFill>
          <a:ln/>
        </p:spPr>
      </p:sp>
      <p:sp>
        <p:nvSpPr>
          <p:cNvPr id="10" name="badge"/>
          <p:cNvSpPr/>
          <p:nvPr/>
        </p:nvSpPr>
        <p:spPr>
          <a:xfrm>
            <a:off x="6492240" y="1737360"/>
            <a:ext cx="685800" cy="685800"/>
          </a:xfrm>
          <a:prstGeom prst="ellipse">
            <a:avLst/>
          </a:prstGeom>
          <a:solidFill>
            <a:schemeClr val="accent3"/>
          </a:solidFill>
          <a:ln/>
        </p:spPr>
      </p:sp>
      <p:sp>
        <p:nvSpPr>
          <p:cNvPr id="11" name="Text 8"/>
          <p:cNvSpPr txBox="1"/>
          <p:nvPr/>
        </p:nvSpPr>
        <p:spPr>
          <a:xfrm>
            <a:off x="6492240" y="1737360"/>
            <a:ext cx="685800" cy="685800"/>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12" name="Text 9"/>
          <p:cNvSpPr txBox="1"/>
          <p:nvPr/>
        </p:nvSpPr>
        <p:spPr>
          <a:xfrm>
            <a:off x="7406640" y="1691640"/>
            <a:ext cx="4023360" cy="777240"/>
          </a:xfrm>
          <a:prstGeom prst="rect">
            <a:avLst/>
          </a:prstGeom>
          <a:noFill/>
          <a:ln/>
        </p:spPr>
        <p:txBody>
          <a:bodyPr wrap="square" lIns="0" tIns="0" rIns="0" bIns="0" rtlCol="0" anchor="ctr"/>
          <a:lstStyle/>
          <a:p>
            <a:pPr indent="0" marL="0">
              <a:buNone/>
            </a:pPr>
            <a:r>
              <a:rPr lang="en-US" sz="2200" b="1" dirty="0">
                <a:solidFill>
                  <a:schemeClr val="tx1"/>
                </a:solidFill>
              </a:rPr>
              <a:t>Переводчик универсален</a:t>
            </a:r>
            <a:endParaRPr lang="en-US" sz="2200" dirty="0"/>
          </a:p>
        </p:txBody>
      </p:sp>
      <p:sp>
        <p:nvSpPr>
          <p:cNvPr id="13" name="Text 10"/>
          <p:cNvSpPr txBox="1"/>
          <p:nvPr/>
        </p:nvSpPr>
        <p:spPr>
          <a:xfrm>
            <a:off x="6492240" y="2606040"/>
            <a:ext cx="4846320" cy="822960"/>
          </a:xfrm>
          <a:prstGeom prst="rect">
            <a:avLst/>
          </a:prstGeom>
          <a:noFill/>
          <a:ln/>
        </p:spPr>
        <p:txBody>
          <a:bodyPr wrap="square" lIns="0" tIns="0" rIns="0" bIns="0" rtlCol="0" anchor="t"/>
          <a:lstStyle/>
          <a:p>
            <a:pPr indent="0" marL="0">
              <a:buNone/>
            </a:pPr>
            <a:r>
              <a:rPr lang="en-US" sz="1600" dirty="0">
                <a:solidFill>
                  <a:schemeClr val="tx1"/>
                </a:solidFill>
              </a:rPr>
              <a:t>Уравнение, настроенное на одни почвы, верно и для других.</a:t>
            </a:r>
            <a:endParaRPr lang="en-US" sz="1600" dirty="0"/>
          </a:p>
        </p:txBody>
      </p:sp>
      <p:sp>
        <p:nvSpPr>
          <p:cNvPr id="14" name="Text 11"/>
          <p:cNvSpPr txBox="1"/>
          <p:nvPr/>
        </p:nvSpPr>
        <p:spPr>
          <a:xfrm>
            <a:off x="548640" y="3840480"/>
            <a:ext cx="7315200" cy="365760"/>
          </a:xfrm>
          <a:prstGeom prst="rect">
            <a:avLst/>
          </a:prstGeom>
          <a:noFill/>
          <a:ln/>
        </p:spPr>
        <p:txBody>
          <a:bodyPr wrap="square" lIns="0" tIns="0" rIns="0" bIns="0" rtlCol="0" anchor="t"/>
          <a:lstStyle/>
          <a:p>
            <a:pPr indent="0" marL="0">
              <a:buNone/>
            </a:pPr>
            <a:r>
              <a:rPr lang="en-US" sz="1600" b="1" dirty="0">
                <a:solidFill>
                  <a:schemeClr val="tx2"/>
                </a:solidFill>
              </a:rPr>
              <a:t>Границы стандартной шкалы по паспорту</a:t>
            </a:r>
            <a:endParaRPr lang="en-US" sz="1600" dirty="0"/>
          </a:p>
        </p:txBody>
      </p:sp>
      <p:sp>
        <p:nvSpPr>
          <p:cNvPr id="15" name="limit-0"/>
          <p:cNvSpPr/>
          <p:nvPr/>
        </p:nvSpPr>
        <p:spPr>
          <a:xfrm>
            <a:off x="548640" y="4297680"/>
            <a:ext cx="3566160" cy="1234440"/>
          </a:xfrm>
          <a:prstGeom prst="roundRect">
            <a:avLst>
              <a:gd name="adj" fmla="val 5926"/>
            </a:avLst>
          </a:prstGeom>
          <a:solidFill>
            <a:schemeClr val="bg1"/>
          </a:solidFill>
          <a:ln w="15875">
            <a:solidFill>
              <a:schemeClr val="accent5"/>
            </a:solidFill>
            <a:prstDash val="solid"/>
          </a:ln>
        </p:spPr>
      </p:sp>
      <p:sp>
        <p:nvSpPr>
          <p:cNvPr id="16" name="Text 13"/>
          <p:cNvSpPr txBox="1"/>
          <p:nvPr/>
        </p:nvSpPr>
        <p:spPr>
          <a:xfrm>
            <a:off x="777240" y="4389120"/>
            <a:ext cx="3108960" cy="640080"/>
          </a:xfrm>
          <a:prstGeom prst="rect">
            <a:avLst/>
          </a:prstGeom>
          <a:noFill/>
          <a:ln/>
        </p:spPr>
        <p:txBody>
          <a:bodyPr wrap="square" lIns="0" tIns="0" rIns="0" bIns="0" rtlCol="0" anchor="ctr"/>
          <a:lstStyle/>
          <a:p>
            <a:pPr indent="0" marL="0">
              <a:buNone/>
            </a:pPr>
            <a:r>
              <a:rPr lang="en-US" sz="2800" b="1" dirty="0">
                <a:solidFill>
                  <a:schemeClr val="accent1"/>
                </a:solidFill>
              </a:rPr>
              <a:t>&lt; 0,5 дСм/м</a:t>
            </a:r>
            <a:endParaRPr lang="en-US" sz="2800" dirty="0"/>
          </a:p>
        </p:txBody>
      </p:sp>
      <p:sp>
        <p:nvSpPr>
          <p:cNvPr id="17" name="Text 14"/>
          <p:cNvSpPr txBox="1"/>
          <p:nvPr/>
        </p:nvSpPr>
        <p:spPr>
          <a:xfrm>
            <a:off x="777240" y="4983480"/>
            <a:ext cx="3108960" cy="457200"/>
          </a:xfrm>
          <a:prstGeom prst="rect">
            <a:avLst/>
          </a:prstGeom>
          <a:noFill/>
          <a:ln/>
        </p:spPr>
        <p:txBody>
          <a:bodyPr wrap="square" lIns="0" tIns="0" rIns="0" bIns="0" rtlCol="0" anchor="t"/>
          <a:lstStyle/>
          <a:p>
            <a:pPr indent="0" marL="0">
              <a:buNone/>
            </a:pPr>
            <a:r>
              <a:rPr lang="en-US" sz="1400" dirty="0">
                <a:solidFill>
                  <a:schemeClr val="tx2"/>
                </a:solidFill>
              </a:rPr>
              <a:t>объёмная электропроводность почвы</a:t>
            </a:r>
            <a:endParaRPr lang="en-US" sz="1400" dirty="0"/>
          </a:p>
        </p:txBody>
      </p:sp>
      <p:sp>
        <p:nvSpPr>
          <p:cNvPr id="18" name="limit-1"/>
          <p:cNvSpPr/>
          <p:nvPr/>
        </p:nvSpPr>
        <p:spPr>
          <a:xfrm>
            <a:off x="4297680" y="4297680"/>
            <a:ext cx="3566160" cy="1234440"/>
          </a:xfrm>
          <a:prstGeom prst="roundRect">
            <a:avLst>
              <a:gd name="adj" fmla="val 5926"/>
            </a:avLst>
          </a:prstGeom>
          <a:solidFill>
            <a:schemeClr val="bg1"/>
          </a:solidFill>
          <a:ln w="15875">
            <a:solidFill>
              <a:schemeClr val="accent5"/>
            </a:solidFill>
            <a:prstDash val="solid"/>
          </a:ln>
        </p:spPr>
      </p:sp>
      <p:sp>
        <p:nvSpPr>
          <p:cNvPr id="19" name="Text 16"/>
          <p:cNvSpPr txBox="1"/>
          <p:nvPr/>
        </p:nvSpPr>
        <p:spPr>
          <a:xfrm>
            <a:off x="4526280" y="4389120"/>
            <a:ext cx="3108960" cy="640080"/>
          </a:xfrm>
          <a:prstGeom prst="rect">
            <a:avLst/>
          </a:prstGeom>
          <a:noFill/>
          <a:ln/>
        </p:spPr>
        <p:txBody>
          <a:bodyPr wrap="square" lIns="0" tIns="0" rIns="0" bIns="0" rtlCol="0" anchor="ctr"/>
          <a:lstStyle/>
          <a:p>
            <a:pPr indent="0" marL="0">
              <a:buNone/>
            </a:pPr>
            <a:r>
              <a:rPr lang="en-US" sz="2800" b="1" dirty="0">
                <a:solidFill>
                  <a:schemeClr val="accent1"/>
                </a:solidFill>
              </a:rPr>
              <a:t>&lt; 1,55 г/см³</a:t>
            </a:r>
            <a:endParaRPr lang="en-US" sz="2800" dirty="0"/>
          </a:p>
        </p:txBody>
      </p:sp>
      <p:sp>
        <p:nvSpPr>
          <p:cNvPr id="20" name="Text 17"/>
          <p:cNvSpPr txBox="1"/>
          <p:nvPr/>
        </p:nvSpPr>
        <p:spPr>
          <a:xfrm>
            <a:off x="4526280" y="4983480"/>
            <a:ext cx="3108960" cy="457200"/>
          </a:xfrm>
          <a:prstGeom prst="rect">
            <a:avLst/>
          </a:prstGeom>
          <a:noFill/>
          <a:ln/>
        </p:spPr>
        <p:txBody>
          <a:bodyPr wrap="square" lIns="0" tIns="0" rIns="0" bIns="0" rtlCol="0" anchor="t"/>
          <a:lstStyle/>
          <a:p>
            <a:pPr indent="0" marL="0">
              <a:buNone/>
            </a:pPr>
            <a:r>
              <a:rPr lang="en-US" sz="1400" dirty="0">
                <a:solidFill>
                  <a:schemeClr val="tx2"/>
                </a:solidFill>
              </a:rPr>
              <a:t>плотность сложения</a:t>
            </a:r>
            <a:endParaRPr lang="en-US" sz="1400" dirty="0"/>
          </a:p>
        </p:txBody>
      </p:sp>
      <p:sp>
        <p:nvSpPr>
          <p:cNvPr id="21" name="limit-2"/>
          <p:cNvSpPr/>
          <p:nvPr/>
        </p:nvSpPr>
        <p:spPr>
          <a:xfrm>
            <a:off x="8046720" y="4297680"/>
            <a:ext cx="3566160" cy="1234440"/>
          </a:xfrm>
          <a:prstGeom prst="roundRect">
            <a:avLst>
              <a:gd name="adj" fmla="val 5926"/>
            </a:avLst>
          </a:prstGeom>
          <a:solidFill>
            <a:schemeClr val="bg1"/>
          </a:solidFill>
          <a:ln w="15875">
            <a:solidFill>
              <a:schemeClr val="accent5"/>
            </a:solidFill>
            <a:prstDash val="solid"/>
          </a:ln>
        </p:spPr>
      </p:sp>
      <p:sp>
        <p:nvSpPr>
          <p:cNvPr id="22" name="Text 19"/>
          <p:cNvSpPr txBox="1"/>
          <p:nvPr/>
        </p:nvSpPr>
        <p:spPr>
          <a:xfrm>
            <a:off x="8275320" y="4389120"/>
            <a:ext cx="3108960" cy="640080"/>
          </a:xfrm>
          <a:prstGeom prst="rect">
            <a:avLst/>
          </a:prstGeom>
          <a:noFill/>
          <a:ln/>
        </p:spPr>
        <p:txBody>
          <a:bodyPr wrap="square" lIns="0" tIns="0" rIns="0" bIns="0" rtlCol="0" anchor="ctr"/>
          <a:lstStyle/>
          <a:p>
            <a:pPr indent="0" marL="0">
              <a:buNone/>
            </a:pPr>
            <a:r>
              <a:rPr lang="en-US" sz="2800" b="1" dirty="0">
                <a:solidFill>
                  <a:schemeClr val="accent1"/>
                </a:solidFill>
              </a:rPr>
              <a:t>&lt; 30 %</a:t>
            </a:r>
            <a:endParaRPr lang="en-US" sz="2800" dirty="0"/>
          </a:p>
        </p:txBody>
      </p:sp>
      <p:sp>
        <p:nvSpPr>
          <p:cNvPr id="23" name="Text 20"/>
          <p:cNvSpPr txBox="1"/>
          <p:nvPr/>
        </p:nvSpPr>
        <p:spPr>
          <a:xfrm>
            <a:off x="8275320" y="4983480"/>
            <a:ext cx="3108960" cy="457200"/>
          </a:xfrm>
          <a:prstGeom prst="rect">
            <a:avLst/>
          </a:prstGeom>
          <a:noFill/>
          <a:ln/>
        </p:spPr>
        <p:txBody>
          <a:bodyPr wrap="square" lIns="0" tIns="0" rIns="0" bIns="0" rtlCol="0" anchor="t"/>
          <a:lstStyle/>
          <a:p>
            <a:pPr indent="0" marL="0">
              <a:buNone/>
            </a:pPr>
            <a:r>
              <a:rPr lang="en-US" sz="1400" dirty="0">
                <a:solidFill>
                  <a:schemeClr val="tx2"/>
                </a:solidFill>
              </a:rPr>
              <a:t>глины (частицы мельче 0,002 мм)</a:t>
            </a:r>
            <a:endParaRPr lang="en-US" sz="1400" dirty="0"/>
          </a:p>
        </p:txBody>
      </p:sp>
      <p:sp>
        <p:nvSpPr>
          <p:cNvPr id="24" name="Text 21"/>
          <p:cNvSpPr txBox="1"/>
          <p:nvPr/>
        </p:nvSpPr>
        <p:spPr>
          <a:xfrm>
            <a:off x="548640" y="5715000"/>
            <a:ext cx="11064240" cy="594360"/>
          </a:xfrm>
          <a:prstGeom prst="rect">
            <a:avLst/>
          </a:prstGeom>
          <a:noFill/>
          <a:ln/>
        </p:spPr>
        <p:txBody>
          <a:bodyPr wrap="square" lIns="0" tIns="0" rIns="0" bIns="0" rtlCol="0" anchor="t"/>
          <a:lstStyle/>
          <a:p>
            <a:pPr indent="0" marL="0">
              <a:buNone/>
            </a:pPr>
            <a:r>
              <a:rPr lang="en-US" sz="1800" dirty="0">
                <a:solidFill>
                  <a:schemeClr val="tx1"/>
                </a:solidFill>
              </a:rPr>
              <a:t>Наш вопрос: не «сломается ли датчик за границей», а </a:t>
            </a:r>
            <a:pPr indent="0" marL="0">
              <a:buNone/>
            </a:pPr>
            <a:r>
              <a:rPr lang="en-US" sz="1800" b="1" dirty="0">
                <a:solidFill>
                  <a:schemeClr val="accent3"/>
                </a:solidFill>
              </a:rPr>
              <a:t>в какую сторону, насколько и при какой влажности он начнёт ошибаться</a:t>
            </a:r>
            <a:endParaRPr lang="en-US" sz="18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1"/>
                </a:solidFill>
              </a:rPr>
              <a:t>Как глина обманывает датчик</a:t>
            </a:r>
            <a:endParaRPr lang="en-US" sz="3000" dirty="0"/>
          </a:p>
        </p:txBody>
      </p:sp>
      <p:sp>
        <p:nvSpPr>
          <p:cNvPr id="4" name="surface-card"/>
          <p:cNvSpPr/>
          <p:nvPr/>
        </p:nvSpPr>
        <p:spPr>
          <a:xfrm>
            <a:off x="548640" y="1463040"/>
            <a:ext cx="5212080" cy="3291840"/>
          </a:xfrm>
          <a:prstGeom prst="roundRect">
            <a:avLst>
              <a:gd name="adj" fmla="val 2222"/>
            </a:avLst>
          </a:prstGeom>
          <a:solidFill>
            <a:schemeClr val="bg2"/>
          </a:solidFill>
          <a:ln/>
        </p:spPr>
      </p:sp>
      <p:sp>
        <p:nvSpPr>
          <p:cNvPr id="5" name="Text 2"/>
          <p:cNvSpPr txBox="1"/>
          <p:nvPr/>
        </p:nvSpPr>
        <p:spPr>
          <a:xfrm>
            <a:off x="777240" y="1554480"/>
            <a:ext cx="4754880" cy="365760"/>
          </a:xfrm>
          <a:prstGeom prst="rect">
            <a:avLst/>
          </a:prstGeom>
          <a:noFill/>
          <a:ln/>
        </p:spPr>
        <p:txBody>
          <a:bodyPr wrap="square" lIns="0" tIns="0" rIns="0" bIns="0" rtlCol="0" anchor="t"/>
          <a:lstStyle/>
          <a:p>
            <a:pPr indent="0" marL="0">
              <a:buNone/>
            </a:pPr>
            <a:r>
              <a:rPr lang="en-US" sz="1400" b="1" dirty="0">
                <a:solidFill>
                  <a:schemeClr val="tx2"/>
                </a:solidFill>
              </a:rPr>
              <a:t>Одна и та же масса</a:t>
            </a:r>
            <a:endParaRPr lang="en-US" sz="1400" dirty="0"/>
          </a:p>
        </p:txBody>
      </p:sp>
      <p:sp>
        <p:nvSpPr>
          <p:cNvPr id="6" name="sand-grain"/>
          <p:cNvSpPr/>
          <p:nvPr/>
        </p:nvSpPr>
        <p:spPr>
          <a:xfrm>
            <a:off x="914400" y="2286000"/>
            <a:ext cx="1371600" cy="1371600"/>
          </a:xfrm>
          <a:prstGeom prst="rect">
            <a:avLst/>
          </a:prstGeom>
          <a:solidFill>
            <a:schemeClr val="accent5"/>
          </a:solidFill>
          <a:ln/>
        </p:spPr>
      </p:sp>
      <p:sp>
        <p:nvSpPr>
          <p:cNvPr id="7" name="Text 4"/>
          <p:cNvSpPr txBox="1"/>
          <p:nvPr/>
        </p:nvSpPr>
        <p:spPr>
          <a:xfrm>
            <a:off x="777240" y="3749040"/>
            <a:ext cx="1828800" cy="548640"/>
          </a:xfrm>
          <a:prstGeom prst="rect">
            <a:avLst/>
          </a:prstGeom>
          <a:noFill/>
          <a:ln/>
        </p:spPr>
        <p:txBody>
          <a:bodyPr wrap="square" lIns="0" tIns="0" rIns="0" bIns="0" rtlCol="0" anchor="t"/>
          <a:lstStyle/>
          <a:p>
            <a:pPr algn="ctr" indent="0" marL="0">
              <a:buNone/>
            </a:pPr>
            <a:r>
              <a:rPr lang="en-US" sz="1400" dirty="0">
                <a:solidFill>
                  <a:schemeClr val="tx1"/>
                </a:solidFill>
              </a:rPr>
              <a:t>кубик сахара / песок</a:t>
            </a:r>
            <a:endParaRPr lang="en-US" sz="1400" dirty="0"/>
          </a:p>
        </p:txBody>
      </p:sp>
      <p:sp>
        <p:nvSpPr>
          <p:cNvPr id="8" name="clay-particle"/>
          <p:cNvSpPr/>
          <p:nvPr/>
        </p:nvSpPr>
        <p:spPr>
          <a:xfrm>
            <a:off x="3246120" y="2286000"/>
            <a:ext cx="182880" cy="182880"/>
          </a:xfrm>
          <a:prstGeom prst="rect">
            <a:avLst/>
          </a:prstGeom>
          <a:solidFill>
            <a:schemeClr val="accent3"/>
          </a:solidFill>
          <a:ln/>
        </p:spPr>
      </p:sp>
      <p:sp>
        <p:nvSpPr>
          <p:cNvPr id="9" name="clay-particle"/>
          <p:cNvSpPr/>
          <p:nvPr/>
        </p:nvSpPr>
        <p:spPr>
          <a:xfrm>
            <a:off x="3246120" y="2514600"/>
            <a:ext cx="182880" cy="182880"/>
          </a:xfrm>
          <a:prstGeom prst="rect">
            <a:avLst/>
          </a:prstGeom>
          <a:solidFill>
            <a:schemeClr val="accent3"/>
          </a:solidFill>
          <a:ln/>
        </p:spPr>
      </p:sp>
      <p:sp>
        <p:nvSpPr>
          <p:cNvPr id="10" name="clay-particle"/>
          <p:cNvSpPr/>
          <p:nvPr/>
        </p:nvSpPr>
        <p:spPr>
          <a:xfrm>
            <a:off x="3246120" y="2743200"/>
            <a:ext cx="182880" cy="182880"/>
          </a:xfrm>
          <a:prstGeom prst="rect">
            <a:avLst/>
          </a:prstGeom>
          <a:solidFill>
            <a:schemeClr val="accent3"/>
          </a:solidFill>
          <a:ln/>
        </p:spPr>
      </p:sp>
      <p:sp>
        <p:nvSpPr>
          <p:cNvPr id="11" name="clay-particle"/>
          <p:cNvSpPr/>
          <p:nvPr/>
        </p:nvSpPr>
        <p:spPr>
          <a:xfrm>
            <a:off x="3246120" y="2971800"/>
            <a:ext cx="182880" cy="182880"/>
          </a:xfrm>
          <a:prstGeom prst="rect">
            <a:avLst/>
          </a:prstGeom>
          <a:solidFill>
            <a:schemeClr val="accent3"/>
          </a:solidFill>
          <a:ln/>
        </p:spPr>
      </p:sp>
      <p:sp>
        <p:nvSpPr>
          <p:cNvPr id="12" name="clay-particle"/>
          <p:cNvSpPr/>
          <p:nvPr/>
        </p:nvSpPr>
        <p:spPr>
          <a:xfrm>
            <a:off x="3246120" y="3200400"/>
            <a:ext cx="182880" cy="182880"/>
          </a:xfrm>
          <a:prstGeom prst="rect">
            <a:avLst/>
          </a:prstGeom>
          <a:solidFill>
            <a:schemeClr val="accent3"/>
          </a:solidFill>
          <a:ln/>
        </p:spPr>
      </p:sp>
      <p:sp>
        <p:nvSpPr>
          <p:cNvPr id="13" name="clay-particle"/>
          <p:cNvSpPr/>
          <p:nvPr/>
        </p:nvSpPr>
        <p:spPr>
          <a:xfrm>
            <a:off x="3246120" y="3429000"/>
            <a:ext cx="182880" cy="182880"/>
          </a:xfrm>
          <a:prstGeom prst="rect">
            <a:avLst/>
          </a:prstGeom>
          <a:solidFill>
            <a:schemeClr val="accent3"/>
          </a:solidFill>
          <a:ln/>
        </p:spPr>
      </p:sp>
      <p:sp>
        <p:nvSpPr>
          <p:cNvPr id="14" name="clay-particle"/>
          <p:cNvSpPr/>
          <p:nvPr/>
        </p:nvSpPr>
        <p:spPr>
          <a:xfrm>
            <a:off x="3474720" y="2286000"/>
            <a:ext cx="182880" cy="182880"/>
          </a:xfrm>
          <a:prstGeom prst="rect">
            <a:avLst/>
          </a:prstGeom>
          <a:solidFill>
            <a:schemeClr val="accent3"/>
          </a:solidFill>
          <a:ln/>
        </p:spPr>
      </p:sp>
      <p:sp>
        <p:nvSpPr>
          <p:cNvPr id="15" name="clay-particle"/>
          <p:cNvSpPr/>
          <p:nvPr/>
        </p:nvSpPr>
        <p:spPr>
          <a:xfrm>
            <a:off x="3474720" y="2514600"/>
            <a:ext cx="182880" cy="182880"/>
          </a:xfrm>
          <a:prstGeom prst="rect">
            <a:avLst/>
          </a:prstGeom>
          <a:solidFill>
            <a:schemeClr val="accent3"/>
          </a:solidFill>
          <a:ln/>
        </p:spPr>
      </p:sp>
      <p:sp>
        <p:nvSpPr>
          <p:cNvPr id="16" name="clay-particle"/>
          <p:cNvSpPr/>
          <p:nvPr/>
        </p:nvSpPr>
        <p:spPr>
          <a:xfrm>
            <a:off x="3474720" y="2743200"/>
            <a:ext cx="182880" cy="182880"/>
          </a:xfrm>
          <a:prstGeom prst="rect">
            <a:avLst/>
          </a:prstGeom>
          <a:solidFill>
            <a:schemeClr val="accent3"/>
          </a:solidFill>
          <a:ln/>
        </p:spPr>
      </p:sp>
      <p:sp>
        <p:nvSpPr>
          <p:cNvPr id="17" name="clay-particle"/>
          <p:cNvSpPr/>
          <p:nvPr/>
        </p:nvSpPr>
        <p:spPr>
          <a:xfrm>
            <a:off x="3474720" y="2971800"/>
            <a:ext cx="182880" cy="182880"/>
          </a:xfrm>
          <a:prstGeom prst="rect">
            <a:avLst/>
          </a:prstGeom>
          <a:solidFill>
            <a:schemeClr val="accent3"/>
          </a:solidFill>
          <a:ln/>
        </p:spPr>
      </p:sp>
      <p:sp>
        <p:nvSpPr>
          <p:cNvPr id="18" name="clay-particle"/>
          <p:cNvSpPr/>
          <p:nvPr/>
        </p:nvSpPr>
        <p:spPr>
          <a:xfrm>
            <a:off x="3474720" y="3200400"/>
            <a:ext cx="182880" cy="182880"/>
          </a:xfrm>
          <a:prstGeom prst="rect">
            <a:avLst/>
          </a:prstGeom>
          <a:solidFill>
            <a:schemeClr val="accent3"/>
          </a:solidFill>
          <a:ln/>
        </p:spPr>
      </p:sp>
      <p:sp>
        <p:nvSpPr>
          <p:cNvPr id="19" name="clay-particle"/>
          <p:cNvSpPr/>
          <p:nvPr/>
        </p:nvSpPr>
        <p:spPr>
          <a:xfrm>
            <a:off x="3474720" y="3429000"/>
            <a:ext cx="182880" cy="182880"/>
          </a:xfrm>
          <a:prstGeom prst="rect">
            <a:avLst/>
          </a:prstGeom>
          <a:solidFill>
            <a:schemeClr val="accent3"/>
          </a:solidFill>
          <a:ln/>
        </p:spPr>
      </p:sp>
      <p:sp>
        <p:nvSpPr>
          <p:cNvPr id="20" name="clay-particle"/>
          <p:cNvSpPr/>
          <p:nvPr/>
        </p:nvSpPr>
        <p:spPr>
          <a:xfrm>
            <a:off x="3703320" y="2286000"/>
            <a:ext cx="182880" cy="182880"/>
          </a:xfrm>
          <a:prstGeom prst="rect">
            <a:avLst/>
          </a:prstGeom>
          <a:solidFill>
            <a:schemeClr val="accent3"/>
          </a:solidFill>
          <a:ln/>
        </p:spPr>
      </p:sp>
      <p:sp>
        <p:nvSpPr>
          <p:cNvPr id="21" name="clay-particle"/>
          <p:cNvSpPr/>
          <p:nvPr/>
        </p:nvSpPr>
        <p:spPr>
          <a:xfrm>
            <a:off x="3703320" y="2514600"/>
            <a:ext cx="182880" cy="182880"/>
          </a:xfrm>
          <a:prstGeom prst="rect">
            <a:avLst/>
          </a:prstGeom>
          <a:solidFill>
            <a:schemeClr val="accent3"/>
          </a:solidFill>
          <a:ln/>
        </p:spPr>
      </p:sp>
      <p:sp>
        <p:nvSpPr>
          <p:cNvPr id="22" name="clay-particle"/>
          <p:cNvSpPr/>
          <p:nvPr/>
        </p:nvSpPr>
        <p:spPr>
          <a:xfrm>
            <a:off x="3703320" y="2743200"/>
            <a:ext cx="182880" cy="182880"/>
          </a:xfrm>
          <a:prstGeom prst="rect">
            <a:avLst/>
          </a:prstGeom>
          <a:solidFill>
            <a:schemeClr val="accent3"/>
          </a:solidFill>
          <a:ln/>
        </p:spPr>
      </p:sp>
      <p:sp>
        <p:nvSpPr>
          <p:cNvPr id="23" name="clay-particle"/>
          <p:cNvSpPr/>
          <p:nvPr/>
        </p:nvSpPr>
        <p:spPr>
          <a:xfrm>
            <a:off x="3703320" y="2971800"/>
            <a:ext cx="182880" cy="182880"/>
          </a:xfrm>
          <a:prstGeom prst="rect">
            <a:avLst/>
          </a:prstGeom>
          <a:solidFill>
            <a:schemeClr val="accent3"/>
          </a:solidFill>
          <a:ln/>
        </p:spPr>
      </p:sp>
      <p:sp>
        <p:nvSpPr>
          <p:cNvPr id="24" name="clay-particle"/>
          <p:cNvSpPr/>
          <p:nvPr/>
        </p:nvSpPr>
        <p:spPr>
          <a:xfrm>
            <a:off x="3703320" y="3200400"/>
            <a:ext cx="182880" cy="182880"/>
          </a:xfrm>
          <a:prstGeom prst="rect">
            <a:avLst/>
          </a:prstGeom>
          <a:solidFill>
            <a:schemeClr val="accent3"/>
          </a:solidFill>
          <a:ln/>
        </p:spPr>
      </p:sp>
      <p:sp>
        <p:nvSpPr>
          <p:cNvPr id="25" name="clay-particle"/>
          <p:cNvSpPr/>
          <p:nvPr/>
        </p:nvSpPr>
        <p:spPr>
          <a:xfrm>
            <a:off x="3703320" y="3429000"/>
            <a:ext cx="182880" cy="182880"/>
          </a:xfrm>
          <a:prstGeom prst="rect">
            <a:avLst/>
          </a:prstGeom>
          <a:solidFill>
            <a:schemeClr val="accent3"/>
          </a:solidFill>
          <a:ln/>
        </p:spPr>
      </p:sp>
      <p:sp>
        <p:nvSpPr>
          <p:cNvPr id="26" name="clay-particle"/>
          <p:cNvSpPr/>
          <p:nvPr/>
        </p:nvSpPr>
        <p:spPr>
          <a:xfrm>
            <a:off x="3931920" y="2286000"/>
            <a:ext cx="182880" cy="182880"/>
          </a:xfrm>
          <a:prstGeom prst="rect">
            <a:avLst/>
          </a:prstGeom>
          <a:solidFill>
            <a:schemeClr val="accent3"/>
          </a:solidFill>
          <a:ln/>
        </p:spPr>
      </p:sp>
      <p:sp>
        <p:nvSpPr>
          <p:cNvPr id="27" name="clay-particle"/>
          <p:cNvSpPr/>
          <p:nvPr/>
        </p:nvSpPr>
        <p:spPr>
          <a:xfrm>
            <a:off x="3931920" y="2514600"/>
            <a:ext cx="182880" cy="182880"/>
          </a:xfrm>
          <a:prstGeom prst="rect">
            <a:avLst/>
          </a:prstGeom>
          <a:solidFill>
            <a:schemeClr val="accent3"/>
          </a:solidFill>
          <a:ln/>
        </p:spPr>
      </p:sp>
      <p:sp>
        <p:nvSpPr>
          <p:cNvPr id="28" name="clay-particle"/>
          <p:cNvSpPr/>
          <p:nvPr/>
        </p:nvSpPr>
        <p:spPr>
          <a:xfrm>
            <a:off x="3931920" y="2743200"/>
            <a:ext cx="182880" cy="182880"/>
          </a:xfrm>
          <a:prstGeom prst="rect">
            <a:avLst/>
          </a:prstGeom>
          <a:solidFill>
            <a:schemeClr val="accent3"/>
          </a:solidFill>
          <a:ln/>
        </p:spPr>
      </p:sp>
      <p:sp>
        <p:nvSpPr>
          <p:cNvPr id="29" name="clay-particle"/>
          <p:cNvSpPr/>
          <p:nvPr/>
        </p:nvSpPr>
        <p:spPr>
          <a:xfrm>
            <a:off x="3931920" y="2971800"/>
            <a:ext cx="182880" cy="182880"/>
          </a:xfrm>
          <a:prstGeom prst="rect">
            <a:avLst/>
          </a:prstGeom>
          <a:solidFill>
            <a:schemeClr val="accent3"/>
          </a:solidFill>
          <a:ln/>
        </p:spPr>
      </p:sp>
      <p:sp>
        <p:nvSpPr>
          <p:cNvPr id="30" name="clay-particle"/>
          <p:cNvSpPr/>
          <p:nvPr/>
        </p:nvSpPr>
        <p:spPr>
          <a:xfrm>
            <a:off x="3931920" y="3200400"/>
            <a:ext cx="182880" cy="182880"/>
          </a:xfrm>
          <a:prstGeom prst="rect">
            <a:avLst/>
          </a:prstGeom>
          <a:solidFill>
            <a:schemeClr val="accent3"/>
          </a:solidFill>
          <a:ln/>
        </p:spPr>
      </p:sp>
      <p:sp>
        <p:nvSpPr>
          <p:cNvPr id="31" name="clay-particle"/>
          <p:cNvSpPr/>
          <p:nvPr/>
        </p:nvSpPr>
        <p:spPr>
          <a:xfrm>
            <a:off x="3931920" y="3429000"/>
            <a:ext cx="182880" cy="182880"/>
          </a:xfrm>
          <a:prstGeom prst="rect">
            <a:avLst/>
          </a:prstGeom>
          <a:solidFill>
            <a:schemeClr val="accent3"/>
          </a:solidFill>
          <a:ln/>
        </p:spPr>
      </p:sp>
      <p:sp>
        <p:nvSpPr>
          <p:cNvPr id="32" name="clay-particle"/>
          <p:cNvSpPr/>
          <p:nvPr/>
        </p:nvSpPr>
        <p:spPr>
          <a:xfrm>
            <a:off x="4160520" y="2286000"/>
            <a:ext cx="182880" cy="182880"/>
          </a:xfrm>
          <a:prstGeom prst="rect">
            <a:avLst/>
          </a:prstGeom>
          <a:solidFill>
            <a:schemeClr val="accent3"/>
          </a:solidFill>
          <a:ln/>
        </p:spPr>
      </p:sp>
      <p:sp>
        <p:nvSpPr>
          <p:cNvPr id="33" name="clay-particle"/>
          <p:cNvSpPr/>
          <p:nvPr/>
        </p:nvSpPr>
        <p:spPr>
          <a:xfrm>
            <a:off x="4160520" y="2514600"/>
            <a:ext cx="182880" cy="182880"/>
          </a:xfrm>
          <a:prstGeom prst="rect">
            <a:avLst/>
          </a:prstGeom>
          <a:solidFill>
            <a:schemeClr val="accent3"/>
          </a:solidFill>
          <a:ln/>
        </p:spPr>
      </p:sp>
      <p:sp>
        <p:nvSpPr>
          <p:cNvPr id="34" name="clay-particle"/>
          <p:cNvSpPr/>
          <p:nvPr/>
        </p:nvSpPr>
        <p:spPr>
          <a:xfrm>
            <a:off x="4160520" y="2743200"/>
            <a:ext cx="182880" cy="182880"/>
          </a:xfrm>
          <a:prstGeom prst="rect">
            <a:avLst/>
          </a:prstGeom>
          <a:solidFill>
            <a:schemeClr val="accent3"/>
          </a:solidFill>
          <a:ln/>
        </p:spPr>
      </p:sp>
      <p:sp>
        <p:nvSpPr>
          <p:cNvPr id="35" name="clay-particle"/>
          <p:cNvSpPr/>
          <p:nvPr/>
        </p:nvSpPr>
        <p:spPr>
          <a:xfrm>
            <a:off x="4160520" y="2971800"/>
            <a:ext cx="182880" cy="182880"/>
          </a:xfrm>
          <a:prstGeom prst="rect">
            <a:avLst/>
          </a:prstGeom>
          <a:solidFill>
            <a:schemeClr val="accent3"/>
          </a:solidFill>
          <a:ln/>
        </p:spPr>
      </p:sp>
      <p:sp>
        <p:nvSpPr>
          <p:cNvPr id="36" name="clay-particle"/>
          <p:cNvSpPr/>
          <p:nvPr/>
        </p:nvSpPr>
        <p:spPr>
          <a:xfrm>
            <a:off x="4160520" y="3200400"/>
            <a:ext cx="182880" cy="182880"/>
          </a:xfrm>
          <a:prstGeom prst="rect">
            <a:avLst/>
          </a:prstGeom>
          <a:solidFill>
            <a:schemeClr val="accent3"/>
          </a:solidFill>
          <a:ln/>
        </p:spPr>
      </p:sp>
      <p:sp>
        <p:nvSpPr>
          <p:cNvPr id="37" name="clay-particle"/>
          <p:cNvSpPr/>
          <p:nvPr/>
        </p:nvSpPr>
        <p:spPr>
          <a:xfrm>
            <a:off x="4160520" y="3429000"/>
            <a:ext cx="182880" cy="182880"/>
          </a:xfrm>
          <a:prstGeom prst="rect">
            <a:avLst/>
          </a:prstGeom>
          <a:solidFill>
            <a:schemeClr val="accent3"/>
          </a:solidFill>
          <a:ln/>
        </p:spPr>
      </p:sp>
      <p:sp>
        <p:nvSpPr>
          <p:cNvPr id="38" name="clay-particle"/>
          <p:cNvSpPr/>
          <p:nvPr/>
        </p:nvSpPr>
        <p:spPr>
          <a:xfrm>
            <a:off x="4389120" y="2286000"/>
            <a:ext cx="182880" cy="182880"/>
          </a:xfrm>
          <a:prstGeom prst="rect">
            <a:avLst/>
          </a:prstGeom>
          <a:solidFill>
            <a:schemeClr val="accent3"/>
          </a:solidFill>
          <a:ln/>
        </p:spPr>
      </p:sp>
      <p:sp>
        <p:nvSpPr>
          <p:cNvPr id="39" name="clay-particle"/>
          <p:cNvSpPr/>
          <p:nvPr/>
        </p:nvSpPr>
        <p:spPr>
          <a:xfrm>
            <a:off x="4389120" y="2514600"/>
            <a:ext cx="182880" cy="182880"/>
          </a:xfrm>
          <a:prstGeom prst="rect">
            <a:avLst/>
          </a:prstGeom>
          <a:solidFill>
            <a:schemeClr val="accent3"/>
          </a:solidFill>
          <a:ln/>
        </p:spPr>
      </p:sp>
      <p:sp>
        <p:nvSpPr>
          <p:cNvPr id="40" name="clay-particle"/>
          <p:cNvSpPr/>
          <p:nvPr/>
        </p:nvSpPr>
        <p:spPr>
          <a:xfrm>
            <a:off x="4389120" y="2743200"/>
            <a:ext cx="182880" cy="182880"/>
          </a:xfrm>
          <a:prstGeom prst="rect">
            <a:avLst/>
          </a:prstGeom>
          <a:solidFill>
            <a:schemeClr val="accent3"/>
          </a:solidFill>
          <a:ln/>
        </p:spPr>
      </p:sp>
      <p:sp>
        <p:nvSpPr>
          <p:cNvPr id="41" name="clay-particle"/>
          <p:cNvSpPr/>
          <p:nvPr/>
        </p:nvSpPr>
        <p:spPr>
          <a:xfrm>
            <a:off x="4389120" y="2971800"/>
            <a:ext cx="182880" cy="182880"/>
          </a:xfrm>
          <a:prstGeom prst="rect">
            <a:avLst/>
          </a:prstGeom>
          <a:solidFill>
            <a:schemeClr val="accent3"/>
          </a:solidFill>
          <a:ln/>
        </p:spPr>
      </p:sp>
      <p:sp>
        <p:nvSpPr>
          <p:cNvPr id="42" name="clay-particle"/>
          <p:cNvSpPr/>
          <p:nvPr/>
        </p:nvSpPr>
        <p:spPr>
          <a:xfrm>
            <a:off x="4389120" y="3200400"/>
            <a:ext cx="182880" cy="182880"/>
          </a:xfrm>
          <a:prstGeom prst="rect">
            <a:avLst/>
          </a:prstGeom>
          <a:solidFill>
            <a:schemeClr val="accent3"/>
          </a:solidFill>
          <a:ln/>
        </p:spPr>
      </p:sp>
      <p:sp>
        <p:nvSpPr>
          <p:cNvPr id="43" name="clay-particle"/>
          <p:cNvSpPr/>
          <p:nvPr/>
        </p:nvSpPr>
        <p:spPr>
          <a:xfrm>
            <a:off x="4389120" y="3429000"/>
            <a:ext cx="182880" cy="182880"/>
          </a:xfrm>
          <a:prstGeom prst="rect">
            <a:avLst/>
          </a:prstGeom>
          <a:solidFill>
            <a:schemeClr val="accent3"/>
          </a:solidFill>
          <a:ln/>
        </p:spPr>
      </p:sp>
      <p:sp>
        <p:nvSpPr>
          <p:cNvPr id="44" name="Text 41"/>
          <p:cNvSpPr txBox="1"/>
          <p:nvPr/>
        </p:nvSpPr>
        <p:spPr>
          <a:xfrm>
            <a:off x="3063240" y="3749040"/>
            <a:ext cx="1828800" cy="548640"/>
          </a:xfrm>
          <a:prstGeom prst="rect">
            <a:avLst/>
          </a:prstGeom>
          <a:noFill/>
          <a:ln/>
        </p:spPr>
        <p:txBody>
          <a:bodyPr wrap="square" lIns="0" tIns="0" rIns="0" bIns="0" rtlCol="0" anchor="t"/>
          <a:lstStyle/>
          <a:p>
            <a:pPr algn="ctr" indent="0" marL="0">
              <a:buNone/>
            </a:pPr>
            <a:r>
              <a:rPr lang="en-US" sz="1400" dirty="0">
                <a:solidFill>
                  <a:schemeClr val="tx1"/>
                </a:solidFill>
              </a:rPr>
              <a:t>пудра / глина</a:t>
            </a:r>
            <a:endParaRPr lang="en-US" sz="1400" dirty="0"/>
          </a:p>
        </p:txBody>
      </p:sp>
      <p:sp>
        <p:nvSpPr>
          <p:cNvPr id="45" name="Text 42"/>
          <p:cNvSpPr txBox="1"/>
          <p:nvPr/>
        </p:nvSpPr>
        <p:spPr>
          <a:xfrm>
            <a:off x="777240" y="4251960"/>
            <a:ext cx="4754880" cy="457200"/>
          </a:xfrm>
          <a:prstGeom prst="rect">
            <a:avLst/>
          </a:prstGeom>
          <a:noFill/>
          <a:ln/>
        </p:spPr>
        <p:txBody>
          <a:bodyPr wrap="square" lIns="0" tIns="0" rIns="0" bIns="0" rtlCol="0" anchor="t"/>
          <a:lstStyle/>
          <a:p>
            <a:pPr indent="0" marL="0">
              <a:buNone/>
            </a:pPr>
            <a:r>
              <a:rPr lang="en-US" sz="1400" b="1" dirty="0">
                <a:solidFill>
                  <a:schemeClr val="accent3"/>
                </a:solidFill>
              </a:rPr>
              <a:t>смектит: 600–800 м²/г — на порядки больше поверхности, чем у песка</a:t>
            </a:r>
            <a:endParaRPr lang="en-US" sz="1400" dirty="0"/>
          </a:p>
        </p:txBody>
      </p:sp>
      <p:sp>
        <p:nvSpPr>
          <p:cNvPr id="46" name="step-0"/>
          <p:cNvSpPr/>
          <p:nvPr/>
        </p:nvSpPr>
        <p:spPr>
          <a:xfrm>
            <a:off x="6309360" y="1463040"/>
            <a:ext cx="5303520" cy="685800"/>
          </a:xfrm>
          <a:prstGeom prst="roundRect">
            <a:avLst>
              <a:gd name="adj" fmla="val 10667"/>
            </a:avLst>
          </a:prstGeom>
          <a:solidFill>
            <a:schemeClr val="bg2"/>
          </a:solidFill>
          <a:ln/>
        </p:spPr>
      </p:sp>
      <p:sp>
        <p:nvSpPr>
          <p:cNvPr id="47" name="Text 44"/>
          <p:cNvSpPr txBox="1"/>
          <p:nvPr/>
        </p:nvSpPr>
        <p:spPr>
          <a:xfrm>
            <a:off x="6537960" y="1463040"/>
            <a:ext cx="4846320" cy="685800"/>
          </a:xfrm>
          <a:prstGeom prst="rect">
            <a:avLst/>
          </a:prstGeom>
          <a:noFill/>
          <a:ln/>
        </p:spPr>
        <p:txBody>
          <a:bodyPr wrap="square" lIns="0" tIns="0" rIns="0" bIns="0" rtlCol="0" anchor="ctr"/>
          <a:lstStyle/>
          <a:p>
            <a:pPr indent="0" marL="0">
              <a:buNone/>
            </a:pPr>
            <a:r>
              <a:rPr lang="en-US" sz="1600" dirty="0">
                <a:solidFill>
                  <a:schemeClr val="tx1"/>
                </a:solidFill>
              </a:rPr>
              <a:t>Ионы в растворе и на поверхности глин проводят ток</a:t>
            </a:r>
            <a:endParaRPr lang="en-US" sz="1600" dirty="0"/>
          </a:p>
        </p:txBody>
      </p:sp>
      <p:sp>
        <p:nvSpPr>
          <p:cNvPr id="48" name="arrow"/>
          <p:cNvSpPr/>
          <p:nvPr/>
        </p:nvSpPr>
        <p:spPr>
          <a:xfrm>
            <a:off x="8778240" y="2139696"/>
            <a:ext cx="329184" cy="237744"/>
          </a:xfrm>
          <a:prstGeom prst="downArrow">
            <a:avLst/>
          </a:prstGeom>
          <a:solidFill>
            <a:schemeClr val="accent5"/>
          </a:solidFill>
          <a:ln/>
        </p:spPr>
      </p:sp>
      <p:sp>
        <p:nvSpPr>
          <p:cNvPr id="49" name="step-1"/>
          <p:cNvSpPr/>
          <p:nvPr/>
        </p:nvSpPr>
        <p:spPr>
          <a:xfrm>
            <a:off x="6309360" y="2377440"/>
            <a:ext cx="5303520" cy="685800"/>
          </a:xfrm>
          <a:prstGeom prst="roundRect">
            <a:avLst>
              <a:gd name="adj" fmla="val 10667"/>
            </a:avLst>
          </a:prstGeom>
          <a:solidFill>
            <a:schemeClr val="bg2"/>
          </a:solidFill>
          <a:ln/>
        </p:spPr>
      </p:sp>
      <p:sp>
        <p:nvSpPr>
          <p:cNvPr id="50" name="Text 47"/>
          <p:cNvSpPr txBox="1"/>
          <p:nvPr/>
        </p:nvSpPr>
        <p:spPr>
          <a:xfrm>
            <a:off x="6537960" y="2377440"/>
            <a:ext cx="4846320" cy="685800"/>
          </a:xfrm>
          <a:prstGeom prst="rect">
            <a:avLst/>
          </a:prstGeom>
          <a:noFill/>
          <a:ln/>
        </p:spPr>
        <p:txBody>
          <a:bodyPr wrap="square" lIns="0" tIns="0" rIns="0" bIns="0" rtlCol="0" anchor="ctr"/>
          <a:lstStyle/>
          <a:p>
            <a:pPr indent="0" marL="0">
              <a:buNone/>
            </a:pPr>
            <a:r>
              <a:rPr lang="en-US" sz="1600" dirty="0">
                <a:solidFill>
                  <a:schemeClr val="tx1"/>
                </a:solidFill>
              </a:rPr>
              <a:t>Импульс теряет энергию и слабеет</a:t>
            </a:r>
            <a:endParaRPr lang="en-US" sz="1600" dirty="0"/>
          </a:p>
        </p:txBody>
      </p:sp>
      <p:sp>
        <p:nvSpPr>
          <p:cNvPr id="51" name="arrow"/>
          <p:cNvSpPr/>
          <p:nvPr/>
        </p:nvSpPr>
        <p:spPr>
          <a:xfrm>
            <a:off x="8778240" y="3054096"/>
            <a:ext cx="329184" cy="237744"/>
          </a:xfrm>
          <a:prstGeom prst="downArrow">
            <a:avLst/>
          </a:prstGeom>
          <a:solidFill>
            <a:schemeClr val="accent5"/>
          </a:solidFill>
          <a:ln/>
        </p:spPr>
      </p:sp>
      <p:sp>
        <p:nvSpPr>
          <p:cNvPr id="52" name="step-2"/>
          <p:cNvSpPr/>
          <p:nvPr/>
        </p:nvSpPr>
        <p:spPr>
          <a:xfrm>
            <a:off x="6309360" y="3291840"/>
            <a:ext cx="5303520" cy="685800"/>
          </a:xfrm>
          <a:prstGeom prst="roundRect">
            <a:avLst>
              <a:gd name="adj" fmla="val 10667"/>
            </a:avLst>
          </a:prstGeom>
          <a:solidFill>
            <a:schemeClr val="bg2"/>
          </a:solidFill>
          <a:ln/>
        </p:spPr>
      </p:sp>
      <p:sp>
        <p:nvSpPr>
          <p:cNvPr id="53" name="Text 50"/>
          <p:cNvSpPr txBox="1"/>
          <p:nvPr/>
        </p:nvSpPr>
        <p:spPr>
          <a:xfrm>
            <a:off x="6537960" y="3291840"/>
            <a:ext cx="4846320" cy="685800"/>
          </a:xfrm>
          <a:prstGeom prst="rect">
            <a:avLst/>
          </a:prstGeom>
          <a:noFill/>
          <a:ln/>
        </p:spPr>
        <p:txBody>
          <a:bodyPr wrap="square" lIns="0" tIns="0" rIns="0" bIns="0" rtlCol="0" anchor="ctr"/>
          <a:lstStyle/>
          <a:p>
            <a:pPr indent="0" marL="0">
              <a:buNone/>
            </a:pPr>
            <a:r>
              <a:rPr lang="en-US" sz="1600" dirty="0">
                <a:solidFill>
                  <a:schemeClr val="tx1"/>
                </a:solidFill>
              </a:rPr>
              <a:t>Порог срабатывания достигается позже («тихий будильник»)</a:t>
            </a:r>
            <a:endParaRPr lang="en-US" sz="1600" dirty="0"/>
          </a:p>
        </p:txBody>
      </p:sp>
      <p:sp>
        <p:nvSpPr>
          <p:cNvPr id="54" name="arrow"/>
          <p:cNvSpPr/>
          <p:nvPr/>
        </p:nvSpPr>
        <p:spPr>
          <a:xfrm>
            <a:off x="8778240" y="3968496"/>
            <a:ext cx="329184" cy="237744"/>
          </a:xfrm>
          <a:prstGeom prst="downArrow">
            <a:avLst/>
          </a:prstGeom>
          <a:solidFill>
            <a:schemeClr val="accent5"/>
          </a:solidFill>
          <a:ln/>
        </p:spPr>
      </p:sp>
      <p:sp>
        <p:nvSpPr>
          <p:cNvPr id="55" name="step-3"/>
          <p:cNvSpPr/>
          <p:nvPr/>
        </p:nvSpPr>
        <p:spPr>
          <a:xfrm>
            <a:off x="6309360" y="4206240"/>
            <a:ext cx="5303520" cy="685800"/>
          </a:xfrm>
          <a:prstGeom prst="roundRect">
            <a:avLst>
              <a:gd name="adj" fmla="val 10667"/>
            </a:avLst>
          </a:prstGeom>
          <a:solidFill>
            <a:schemeClr val="accent1"/>
          </a:solidFill>
          <a:ln/>
        </p:spPr>
      </p:sp>
      <p:sp>
        <p:nvSpPr>
          <p:cNvPr id="56" name="Text 53"/>
          <p:cNvSpPr txBox="1"/>
          <p:nvPr/>
        </p:nvSpPr>
        <p:spPr>
          <a:xfrm>
            <a:off x="6537960" y="4206240"/>
            <a:ext cx="4846320" cy="685800"/>
          </a:xfrm>
          <a:prstGeom prst="rect">
            <a:avLst/>
          </a:prstGeom>
          <a:noFill/>
          <a:ln/>
        </p:spPr>
        <p:txBody>
          <a:bodyPr wrap="square" lIns="0" tIns="0" rIns="0" bIns="0" rtlCol="0" anchor="ctr"/>
          <a:lstStyle/>
          <a:p>
            <a:pPr indent="0" marL="0">
              <a:buNone/>
            </a:pPr>
            <a:r>
              <a:rPr lang="en-US" sz="1600" b="1" dirty="0">
                <a:solidFill>
                  <a:schemeClr val="bg1"/>
                </a:solidFill>
              </a:rPr>
              <a:t>Период τ длиннее → прибор «видит» больше воды</a:t>
            </a:r>
            <a:endParaRPr lang="en-US" sz="1600" dirty="0"/>
          </a:p>
        </p:txBody>
      </p:sp>
      <p:sp>
        <p:nvSpPr>
          <p:cNvPr id="57" name="counter-card"/>
          <p:cNvSpPr/>
          <p:nvPr/>
        </p:nvSpPr>
        <p:spPr>
          <a:xfrm>
            <a:off x="548640" y="4983480"/>
            <a:ext cx="11064240" cy="1234440"/>
          </a:xfrm>
          <a:prstGeom prst="roundRect">
            <a:avLst>
              <a:gd name="adj" fmla="val 5926"/>
            </a:avLst>
          </a:prstGeom>
          <a:solidFill>
            <a:schemeClr val="bg1"/>
          </a:solidFill>
          <a:ln w="19050">
            <a:solidFill>
              <a:schemeClr val="accent2"/>
            </a:solidFill>
            <a:prstDash val="solid"/>
          </a:ln>
        </p:spPr>
      </p:sp>
      <p:sp>
        <p:nvSpPr>
          <p:cNvPr id="58" name="Text 55"/>
          <p:cNvSpPr txBox="1"/>
          <p:nvPr/>
        </p:nvSpPr>
        <p:spPr>
          <a:xfrm>
            <a:off x="822960" y="5074920"/>
            <a:ext cx="10515600" cy="1051560"/>
          </a:xfrm>
          <a:prstGeom prst="rect">
            <a:avLst/>
          </a:prstGeom>
          <a:noFill/>
          <a:ln/>
        </p:spPr>
        <p:txBody>
          <a:bodyPr wrap="square" lIns="0" tIns="0" rIns="0" bIns="0" rtlCol="0" anchor="ctr"/>
          <a:lstStyle/>
          <a:p>
            <a:pPr indent="0" marL="0">
              <a:buNone/>
            </a:pPr>
            <a:r>
              <a:rPr lang="en-US" sz="1600" b="1" dirty="0">
                <a:solidFill>
                  <a:schemeClr val="accent3"/>
                </a:solidFill>
              </a:rPr>
              <a:t>Но есть и противодействие. </a:t>
            </a:r>
            <a:pPr indent="0" marL="0">
              <a:buNone/>
            </a:pPr>
            <a:r>
              <a:rPr lang="en-US" sz="1600" dirty="0">
                <a:solidFill>
                  <a:schemeClr val="tx1"/>
                </a:solidFill>
              </a:rPr>
              <a:t>Связанная с поверхностью вода замедляет волну слабее свободной и тянет показания вниз. Какая сила победит, решает эксперимент, а не рассуждение. Наше предположение: завышение, растущее с влажностью.</a:t>
            </a:r>
            <a:endParaRPr lang="en-US" sz="16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1"/>
                </a:solidFill>
              </a:rPr>
              <a:t>Белое пятно и ловушка терминов</a:t>
            </a:r>
            <a:endParaRPr lang="en-US" sz="3000" dirty="0"/>
          </a:p>
        </p:txBody>
      </p:sp>
      <p:sp>
        <p:nvSpPr>
          <p:cNvPr id="4" name="Text 1"/>
          <p:cNvSpPr txBox="1"/>
          <p:nvPr/>
        </p:nvSpPr>
        <p:spPr>
          <a:xfrm>
            <a:off x="548640" y="1417320"/>
            <a:ext cx="5486400" cy="320040"/>
          </a:xfrm>
          <a:prstGeom prst="rect">
            <a:avLst/>
          </a:prstGeom>
          <a:noFill/>
          <a:ln/>
        </p:spPr>
        <p:txBody>
          <a:bodyPr wrap="square" lIns="0" tIns="0" rIns="0" bIns="0" rtlCol="0" anchor="t"/>
          <a:lstStyle/>
          <a:p>
            <a:pPr indent="0" marL="0">
              <a:buNone/>
            </a:pPr>
            <a:r>
              <a:rPr lang="en-US" sz="1400" b="1" dirty="0">
                <a:solidFill>
                  <a:schemeClr val="tx2"/>
                </a:solidFill>
              </a:rPr>
              <a:t>Размер частиц, мм (в масштабе)</a:t>
            </a:r>
            <a:endParaRPr lang="en-US" sz="1400" dirty="0"/>
          </a:p>
        </p:txBody>
      </p:sp>
      <p:sp>
        <p:nvSpPr>
          <p:cNvPr id="5" name="size-bar"/>
          <p:cNvSpPr/>
          <p:nvPr/>
        </p:nvSpPr>
        <p:spPr>
          <a:xfrm>
            <a:off x="548640" y="1828800"/>
            <a:ext cx="822960" cy="548640"/>
          </a:xfrm>
          <a:prstGeom prst="rect">
            <a:avLst/>
          </a:prstGeom>
          <a:solidFill>
            <a:schemeClr val="accent5"/>
          </a:solidFill>
          <a:ln/>
        </p:spPr>
      </p:sp>
      <p:sp>
        <p:nvSpPr>
          <p:cNvPr id="6" name="Text 3"/>
          <p:cNvSpPr txBox="1"/>
          <p:nvPr/>
        </p:nvSpPr>
        <p:spPr>
          <a:xfrm>
            <a:off x="1554480" y="1828800"/>
            <a:ext cx="6400800" cy="548640"/>
          </a:xfrm>
          <a:prstGeom prst="rect">
            <a:avLst/>
          </a:prstGeom>
          <a:noFill/>
          <a:ln/>
        </p:spPr>
        <p:txBody>
          <a:bodyPr wrap="square" lIns="0" tIns="0" rIns="0" bIns="0" rtlCol="0" anchor="ctr"/>
          <a:lstStyle/>
          <a:p>
            <a:pPr indent="0" marL="0">
              <a:buNone/>
            </a:pPr>
            <a:r>
              <a:rPr lang="en-US" sz="1600" b="1" dirty="0">
                <a:solidFill>
                  <a:schemeClr val="tx1"/>
                </a:solidFill>
              </a:rPr>
              <a:t>глина по Качинскому &lt; 0,001</a:t>
            </a:r>
            <a:endParaRPr lang="en-US" sz="1600" dirty="0"/>
          </a:p>
        </p:txBody>
      </p:sp>
      <p:sp>
        <p:nvSpPr>
          <p:cNvPr id="7" name="size-bar"/>
          <p:cNvSpPr/>
          <p:nvPr/>
        </p:nvSpPr>
        <p:spPr>
          <a:xfrm>
            <a:off x="548640" y="2697480"/>
            <a:ext cx="1645920" cy="548640"/>
          </a:xfrm>
          <a:prstGeom prst="rect">
            <a:avLst/>
          </a:prstGeom>
          <a:solidFill>
            <a:schemeClr val="accent1"/>
          </a:solidFill>
          <a:ln/>
        </p:spPr>
      </p:sp>
      <p:sp>
        <p:nvSpPr>
          <p:cNvPr id="8" name="Text 5"/>
          <p:cNvSpPr txBox="1"/>
          <p:nvPr/>
        </p:nvSpPr>
        <p:spPr>
          <a:xfrm>
            <a:off x="2377440" y="2697480"/>
            <a:ext cx="6400800" cy="548640"/>
          </a:xfrm>
          <a:prstGeom prst="rect">
            <a:avLst/>
          </a:prstGeom>
          <a:noFill/>
          <a:ln/>
        </p:spPr>
        <p:txBody>
          <a:bodyPr wrap="square" lIns="0" tIns="0" rIns="0" bIns="0" rtlCol="0" anchor="ctr"/>
          <a:lstStyle/>
          <a:p>
            <a:pPr indent="0" marL="0">
              <a:buNone/>
            </a:pPr>
            <a:r>
              <a:rPr lang="en-US" sz="1600" b="1" dirty="0">
                <a:solidFill>
                  <a:schemeClr val="tx1"/>
                </a:solidFill>
              </a:rPr>
              <a:t>«clay» по USDA и в паспорте &lt; 0,002</a:t>
            </a:r>
            <a:endParaRPr lang="en-US" sz="1600" dirty="0"/>
          </a:p>
        </p:txBody>
      </p:sp>
      <p:sp>
        <p:nvSpPr>
          <p:cNvPr id="9" name="size-bar"/>
          <p:cNvSpPr/>
          <p:nvPr/>
        </p:nvSpPr>
        <p:spPr>
          <a:xfrm>
            <a:off x="548640" y="3566160"/>
            <a:ext cx="8229600" cy="548640"/>
          </a:xfrm>
          <a:prstGeom prst="rect">
            <a:avLst/>
          </a:prstGeom>
          <a:solidFill>
            <a:schemeClr val="accent3"/>
          </a:solidFill>
          <a:ln/>
        </p:spPr>
      </p:sp>
      <p:sp>
        <p:nvSpPr>
          <p:cNvPr id="10" name="Text 7"/>
          <p:cNvSpPr txBox="1"/>
          <p:nvPr/>
        </p:nvSpPr>
        <p:spPr>
          <a:xfrm>
            <a:off x="777240" y="3566160"/>
            <a:ext cx="7315200" cy="548640"/>
          </a:xfrm>
          <a:prstGeom prst="rect">
            <a:avLst/>
          </a:prstGeom>
          <a:noFill/>
          <a:ln/>
        </p:spPr>
        <p:txBody>
          <a:bodyPr wrap="square" lIns="0" tIns="0" rIns="0" bIns="0" rtlCol="0" anchor="ctr"/>
          <a:lstStyle/>
          <a:p>
            <a:pPr indent="0" marL="0">
              <a:buNone/>
            </a:pPr>
            <a:r>
              <a:rPr lang="en-US" sz="1600" b="1" dirty="0">
                <a:solidFill>
                  <a:schemeClr val="bg1"/>
                </a:solidFill>
              </a:rPr>
              <a:t>физическая глина по Качинскому &lt; 0,01</a:t>
            </a:r>
            <a:endParaRPr lang="en-US" sz="1600" dirty="0"/>
          </a:p>
        </p:txBody>
      </p:sp>
      <p:sp>
        <p:nvSpPr>
          <p:cNvPr id="11" name="trap-card"/>
          <p:cNvSpPr/>
          <p:nvPr/>
        </p:nvSpPr>
        <p:spPr>
          <a:xfrm>
            <a:off x="548640" y="4572000"/>
            <a:ext cx="5394960" cy="1645920"/>
          </a:xfrm>
          <a:prstGeom prst="roundRect">
            <a:avLst>
              <a:gd name="adj" fmla="val 4444"/>
            </a:avLst>
          </a:prstGeom>
          <a:solidFill>
            <a:schemeClr val="bg2"/>
          </a:solidFill>
          <a:ln/>
        </p:spPr>
      </p:sp>
      <p:sp>
        <p:nvSpPr>
          <p:cNvPr id="12" name="Text 9"/>
          <p:cNvSpPr txBox="1"/>
          <p:nvPr/>
        </p:nvSpPr>
        <p:spPr>
          <a:xfrm>
            <a:off x="777240" y="4663440"/>
            <a:ext cx="4937760" cy="1463040"/>
          </a:xfrm>
          <a:prstGeom prst="rect">
            <a:avLst/>
          </a:prstGeom>
          <a:noFill/>
          <a:ln/>
        </p:spPr>
        <p:txBody>
          <a:bodyPr wrap="square" lIns="0" tIns="0" rIns="0" bIns="0" rtlCol="0" anchor="t"/>
          <a:lstStyle/>
          <a:p>
            <a:pPr indent="0" marL="0">
              <a:buNone/>
            </a:pPr>
            <a:r>
              <a:rPr lang="en-US" sz="1600" b="1" dirty="0">
                <a:solidFill>
                  <a:schemeClr val="accent3"/>
                </a:solidFill>
              </a:rPr>
              <a:t>Ловушка перевода</a:t>
            </a:r>
            <a:endParaRPr lang="en-US" sz="1600" dirty="0"/>
          </a:p>
          <a:p>
            <a:pPr indent="0" marL="0">
              <a:buNone/>
            </a:pPr>
            <a:r>
              <a:rPr lang="en-US" sz="1600" dirty="0">
                <a:solidFill>
                  <a:schemeClr val="tx1"/>
                </a:solidFill>
              </a:rPr>
              <a:t>30 % «clay» из паспорта и 30 % физической глины — разные почвы. «Лёгкая глина» по Качинскому ≠ «clay» по USDA.</a:t>
            </a:r>
            <a:endParaRPr lang="en-US" sz="1600" dirty="0"/>
          </a:p>
        </p:txBody>
      </p:sp>
      <p:sp>
        <p:nvSpPr>
          <p:cNvPr id="13" name="consequence-card"/>
          <p:cNvSpPr/>
          <p:nvPr/>
        </p:nvSpPr>
        <p:spPr>
          <a:xfrm>
            <a:off x="6217920" y="4572000"/>
            <a:ext cx="5394960" cy="1645920"/>
          </a:xfrm>
          <a:prstGeom prst="roundRect">
            <a:avLst>
              <a:gd name="adj" fmla="val 4444"/>
            </a:avLst>
          </a:prstGeom>
          <a:solidFill>
            <a:schemeClr val="bg2"/>
          </a:solidFill>
          <a:ln/>
        </p:spPr>
      </p:sp>
      <p:sp>
        <p:nvSpPr>
          <p:cNvPr id="14" name="Text 11"/>
          <p:cNvSpPr txBox="1"/>
          <p:nvPr/>
        </p:nvSpPr>
        <p:spPr>
          <a:xfrm>
            <a:off x="6446520" y="4663440"/>
            <a:ext cx="4937760" cy="1463040"/>
          </a:xfrm>
          <a:prstGeom prst="rect">
            <a:avLst/>
          </a:prstGeom>
          <a:noFill/>
          <a:ln/>
        </p:spPr>
        <p:txBody>
          <a:bodyPr wrap="square" lIns="0" tIns="0" rIns="0" bIns="0" rtlCol="0" anchor="t"/>
          <a:lstStyle/>
          <a:p>
            <a:pPr indent="0" marL="0">
              <a:buNone/>
            </a:pPr>
            <a:r>
              <a:rPr lang="en-US" sz="1600" b="1" dirty="0">
                <a:solidFill>
                  <a:schemeClr val="accent1"/>
                </a:solidFill>
              </a:rPr>
              <a:t>Что из этого следует</a:t>
            </a:r>
            <a:endParaRPr lang="en-US" sz="1600" dirty="0"/>
          </a:p>
          <a:p>
            <a:pPr indent="0" marL="0">
              <a:buNone/>
            </a:pPr>
            <a:r>
              <a:rPr lang="en-US" sz="1600" dirty="0">
                <a:solidFill>
                  <a:schemeClr val="tx1"/>
                </a:solidFill>
              </a:rPr>
              <a:t>В группе A физической глины ≤ 20 %, значит и USDA-глины ≤ 20 %: условие паспорта выполнено. Для B и C проверить его нельзя.</a:t>
            </a:r>
            <a:endParaRPr lang="en-US" sz="16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1"/>
                </a:solidFill>
              </a:rPr>
              <a:t>Вопрос и три проверяемых предсказания</a:t>
            </a:r>
            <a:endParaRPr lang="en-US" sz="3000" dirty="0"/>
          </a:p>
        </p:txBody>
      </p:sp>
      <p:sp>
        <p:nvSpPr>
          <p:cNvPr id="4" name="h-card-0"/>
          <p:cNvSpPr/>
          <p:nvPr/>
        </p:nvSpPr>
        <p:spPr>
          <a:xfrm>
            <a:off x="548640" y="1417320"/>
            <a:ext cx="11064240" cy="1280160"/>
          </a:xfrm>
          <a:prstGeom prst="roundRect">
            <a:avLst>
              <a:gd name="adj" fmla="val 5714"/>
            </a:avLst>
          </a:prstGeom>
          <a:solidFill>
            <a:schemeClr val="bg2"/>
          </a:solidFill>
          <a:ln/>
        </p:spPr>
      </p:sp>
      <p:sp>
        <p:nvSpPr>
          <p:cNvPr id="5" name="badge"/>
          <p:cNvSpPr/>
          <p:nvPr/>
        </p:nvSpPr>
        <p:spPr>
          <a:xfrm>
            <a:off x="822960" y="1719072"/>
            <a:ext cx="685800" cy="685800"/>
          </a:xfrm>
          <a:prstGeom prst="ellipse">
            <a:avLst/>
          </a:prstGeom>
          <a:solidFill>
            <a:schemeClr val="accent1"/>
          </a:solidFill>
          <a:ln/>
        </p:spPr>
      </p:sp>
      <p:sp>
        <p:nvSpPr>
          <p:cNvPr id="6" name="Text 3"/>
          <p:cNvSpPr txBox="1"/>
          <p:nvPr/>
        </p:nvSpPr>
        <p:spPr>
          <a:xfrm>
            <a:off x="822960" y="1719072"/>
            <a:ext cx="685800" cy="685800"/>
          </a:xfrm>
          <a:prstGeom prst="rect">
            <a:avLst/>
          </a:prstGeom>
          <a:noFill/>
          <a:ln/>
        </p:spPr>
        <p:txBody>
          <a:bodyPr wrap="square" lIns="0" tIns="0" rIns="0" bIns="0" rtlCol="0" anchor="ctr"/>
          <a:lstStyle/>
          <a:p>
            <a:pPr algn="ctr" indent="0" marL="0">
              <a:buNone/>
            </a:pPr>
            <a:r>
              <a:rPr lang="en-US" sz="2000" b="1" dirty="0">
                <a:solidFill>
                  <a:schemeClr val="bg1"/>
                </a:solidFill>
              </a:rPr>
              <a:t>H1</a:t>
            </a:r>
            <a:endParaRPr lang="en-US" sz="2000" dirty="0"/>
          </a:p>
        </p:txBody>
      </p:sp>
      <p:sp>
        <p:nvSpPr>
          <p:cNvPr id="7" name="Text 4"/>
          <p:cNvSpPr txBox="1"/>
          <p:nvPr/>
        </p:nvSpPr>
        <p:spPr>
          <a:xfrm>
            <a:off x="1828800" y="1527048"/>
            <a:ext cx="9509760" cy="640080"/>
          </a:xfrm>
          <a:prstGeom prst="rect">
            <a:avLst/>
          </a:prstGeom>
          <a:noFill/>
          <a:ln/>
        </p:spPr>
        <p:txBody>
          <a:bodyPr wrap="square" lIns="0" tIns="0" rIns="0" bIns="0" rtlCol="0" anchor="ctr"/>
          <a:lstStyle/>
          <a:p>
            <a:pPr indent="0" marL="0">
              <a:buNone/>
            </a:pPr>
            <a:r>
              <a:rPr lang="en-US" sz="2200" b="1" dirty="0">
                <a:solidFill>
                  <a:schemeClr val="tx1"/>
                </a:solidFill>
              </a:rPr>
              <a:t>Ошибка растёт с содержанием физической глины</a:t>
            </a:r>
            <a:endParaRPr lang="en-US" sz="2200" dirty="0"/>
          </a:p>
        </p:txBody>
      </p:sp>
      <p:sp>
        <p:nvSpPr>
          <p:cNvPr id="8" name="Text 5"/>
          <p:cNvSpPr txBox="1"/>
          <p:nvPr/>
        </p:nvSpPr>
        <p:spPr>
          <a:xfrm>
            <a:off x="1828800" y="2167128"/>
            <a:ext cx="9509760" cy="457200"/>
          </a:xfrm>
          <a:prstGeom prst="rect">
            <a:avLst/>
          </a:prstGeom>
          <a:noFill/>
          <a:ln/>
        </p:spPr>
        <p:txBody>
          <a:bodyPr wrap="square" lIns="0" tIns="0" rIns="0" bIns="0" rtlCol="0" anchor="t"/>
          <a:lstStyle/>
          <a:p>
            <a:pPr indent="0" marL="0">
              <a:buNone/>
            </a:pPr>
            <a:r>
              <a:rPr lang="en-US" sz="1600" i="1" dirty="0">
                <a:solidFill>
                  <a:schemeClr val="tx2"/>
                </a:solidFill>
              </a:rPr>
              <a:t>Опровергнет: ошибка одинакова в лёгких и тяжёлых почвах</a:t>
            </a:r>
            <a:endParaRPr lang="en-US" sz="1600" dirty="0"/>
          </a:p>
        </p:txBody>
      </p:sp>
      <p:sp>
        <p:nvSpPr>
          <p:cNvPr id="9" name="h-card-1"/>
          <p:cNvSpPr/>
          <p:nvPr/>
        </p:nvSpPr>
        <p:spPr>
          <a:xfrm>
            <a:off x="548640" y="2880360"/>
            <a:ext cx="11064240" cy="1280160"/>
          </a:xfrm>
          <a:prstGeom prst="roundRect">
            <a:avLst>
              <a:gd name="adj" fmla="val 5714"/>
            </a:avLst>
          </a:prstGeom>
          <a:solidFill>
            <a:schemeClr val="bg2"/>
          </a:solidFill>
          <a:ln/>
        </p:spPr>
      </p:sp>
      <p:sp>
        <p:nvSpPr>
          <p:cNvPr id="10" name="badge"/>
          <p:cNvSpPr/>
          <p:nvPr/>
        </p:nvSpPr>
        <p:spPr>
          <a:xfrm>
            <a:off x="822960" y="3182112"/>
            <a:ext cx="685800" cy="685800"/>
          </a:xfrm>
          <a:prstGeom prst="ellipse">
            <a:avLst/>
          </a:prstGeom>
          <a:solidFill>
            <a:schemeClr val="accent3"/>
          </a:solidFill>
          <a:ln/>
        </p:spPr>
      </p:sp>
      <p:sp>
        <p:nvSpPr>
          <p:cNvPr id="11" name="Text 8"/>
          <p:cNvSpPr txBox="1"/>
          <p:nvPr/>
        </p:nvSpPr>
        <p:spPr>
          <a:xfrm>
            <a:off x="822960" y="3182112"/>
            <a:ext cx="685800" cy="685800"/>
          </a:xfrm>
          <a:prstGeom prst="rect">
            <a:avLst/>
          </a:prstGeom>
          <a:noFill/>
          <a:ln/>
        </p:spPr>
        <p:txBody>
          <a:bodyPr wrap="square" lIns="0" tIns="0" rIns="0" bIns="0" rtlCol="0" anchor="ctr"/>
          <a:lstStyle/>
          <a:p>
            <a:pPr algn="ctr" indent="0" marL="0">
              <a:buNone/>
            </a:pPr>
            <a:r>
              <a:rPr lang="en-US" sz="2000" b="1" dirty="0">
                <a:solidFill>
                  <a:schemeClr val="bg1"/>
                </a:solidFill>
              </a:rPr>
              <a:t>H2</a:t>
            </a:r>
            <a:endParaRPr lang="en-US" sz="2000" dirty="0"/>
          </a:p>
        </p:txBody>
      </p:sp>
      <p:sp>
        <p:nvSpPr>
          <p:cNvPr id="12" name="Text 9"/>
          <p:cNvSpPr txBox="1"/>
          <p:nvPr/>
        </p:nvSpPr>
        <p:spPr>
          <a:xfrm>
            <a:off x="1828800" y="2990088"/>
            <a:ext cx="9509760" cy="640080"/>
          </a:xfrm>
          <a:prstGeom prst="rect">
            <a:avLst/>
          </a:prstGeom>
          <a:noFill/>
          <a:ln/>
        </p:spPr>
        <p:txBody>
          <a:bodyPr wrap="square" lIns="0" tIns="0" rIns="0" bIns="0" rtlCol="0" anchor="ctr"/>
          <a:lstStyle/>
          <a:p>
            <a:pPr indent="0" marL="0">
              <a:buNone/>
            </a:pPr>
            <a:r>
              <a:rPr lang="en-US" sz="2200" b="1" dirty="0">
                <a:solidFill>
                  <a:schemeClr val="tx1"/>
                </a:solidFill>
              </a:rPr>
              <a:t>Ошибка нарастает с влажностью, нелинейно</a:t>
            </a:r>
            <a:endParaRPr lang="en-US" sz="2200" dirty="0"/>
          </a:p>
        </p:txBody>
      </p:sp>
      <p:sp>
        <p:nvSpPr>
          <p:cNvPr id="13" name="Text 10"/>
          <p:cNvSpPr txBox="1"/>
          <p:nvPr/>
        </p:nvSpPr>
        <p:spPr>
          <a:xfrm>
            <a:off x="1828800" y="3630168"/>
            <a:ext cx="9509760" cy="457200"/>
          </a:xfrm>
          <a:prstGeom prst="rect">
            <a:avLst/>
          </a:prstGeom>
          <a:noFill/>
          <a:ln/>
        </p:spPr>
        <p:txBody>
          <a:bodyPr wrap="square" lIns="0" tIns="0" rIns="0" bIns="0" rtlCol="0" anchor="t"/>
          <a:lstStyle/>
          <a:p>
            <a:pPr indent="0" marL="0">
              <a:buNone/>
            </a:pPr>
            <a:r>
              <a:rPr lang="en-US" sz="1600" i="1" dirty="0">
                <a:solidFill>
                  <a:schemeClr val="tx2"/>
                </a:solidFill>
              </a:rPr>
              <a:t>Опровергнет: ошибка постоянна или растёт строго линейно</a:t>
            </a:r>
            <a:endParaRPr lang="en-US" sz="1600" dirty="0"/>
          </a:p>
        </p:txBody>
      </p:sp>
      <p:sp>
        <p:nvSpPr>
          <p:cNvPr id="14" name="h-card-2"/>
          <p:cNvSpPr/>
          <p:nvPr/>
        </p:nvSpPr>
        <p:spPr>
          <a:xfrm>
            <a:off x="548640" y="4343400"/>
            <a:ext cx="11064240" cy="1280160"/>
          </a:xfrm>
          <a:prstGeom prst="roundRect">
            <a:avLst>
              <a:gd name="adj" fmla="val 5714"/>
            </a:avLst>
          </a:prstGeom>
          <a:solidFill>
            <a:schemeClr val="bg2"/>
          </a:solidFill>
          <a:ln/>
        </p:spPr>
      </p:sp>
      <p:sp>
        <p:nvSpPr>
          <p:cNvPr id="15" name="badge"/>
          <p:cNvSpPr/>
          <p:nvPr/>
        </p:nvSpPr>
        <p:spPr>
          <a:xfrm>
            <a:off x="822960" y="4645152"/>
            <a:ext cx="685800" cy="685800"/>
          </a:xfrm>
          <a:prstGeom prst="ellipse">
            <a:avLst/>
          </a:prstGeom>
          <a:solidFill>
            <a:schemeClr val="accent4"/>
          </a:solidFill>
          <a:ln/>
        </p:spPr>
      </p:sp>
      <p:sp>
        <p:nvSpPr>
          <p:cNvPr id="16" name="Text 13"/>
          <p:cNvSpPr txBox="1"/>
          <p:nvPr/>
        </p:nvSpPr>
        <p:spPr>
          <a:xfrm>
            <a:off x="822960" y="4645152"/>
            <a:ext cx="685800" cy="685800"/>
          </a:xfrm>
          <a:prstGeom prst="rect">
            <a:avLst/>
          </a:prstGeom>
          <a:noFill/>
          <a:ln/>
        </p:spPr>
        <p:txBody>
          <a:bodyPr wrap="square" lIns="0" tIns="0" rIns="0" bIns="0" rtlCol="0" anchor="ctr"/>
          <a:lstStyle/>
          <a:p>
            <a:pPr algn="ctr" indent="0" marL="0">
              <a:buNone/>
            </a:pPr>
            <a:r>
              <a:rPr lang="en-US" sz="2000" b="1" dirty="0">
                <a:solidFill>
                  <a:schemeClr val="bg1"/>
                </a:solidFill>
              </a:rPr>
              <a:t>H3</a:t>
            </a:r>
            <a:endParaRPr lang="en-US" sz="2000" dirty="0"/>
          </a:p>
        </p:txBody>
      </p:sp>
      <p:sp>
        <p:nvSpPr>
          <p:cNvPr id="17" name="Text 14"/>
          <p:cNvSpPr txBox="1"/>
          <p:nvPr/>
        </p:nvSpPr>
        <p:spPr>
          <a:xfrm>
            <a:off x="1828800" y="4453128"/>
            <a:ext cx="9509760" cy="640080"/>
          </a:xfrm>
          <a:prstGeom prst="rect">
            <a:avLst/>
          </a:prstGeom>
          <a:noFill/>
          <a:ln/>
        </p:spPr>
        <p:txBody>
          <a:bodyPr wrap="square" lIns="0" tIns="0" rIns="0" bIns="0" rtlCol="0" anchor="ctr"/>
          <a:lstStyle/>
          <a:p>
            <a:pPr indent="0" marL="0">
              <a:buNone/>
            </a:pPr>
            <a:r>
              <a:rPr lang="en-US" sz="2200" b="1" dirty="0">
                <a:solidFill>
                  <a:schemeClr val="tx1"/>
                </a:solidFill>
              </a:rPr>
              <a:t>Плотность влияет, а сила влияния зависит от почвы</a:t>
            </a:r>
            <a:endParaRPr lang="en-US" sz="2200" dirty="0"/>
          </a:p>
        </p:txBody>
      </p:sp>
      <p:sp>
        <p:nvSpPr>
          <p:cNvPr id="18" name="Text 15"/>
          <p:cNvSpPr txBox="1"/>
          <p:nvPr/>
        </p:nvSpPr>
        <p:spPr>
          <a:xfrm>
            <a:off x="1828800" y="5093208"/>
            <a:ext cx="9509760" cy="457200"/>
          </a:xfrm>
          <a:prstGeom prst="rect">
            <a:avLst/>
          </a:prstGeom>
          <a:noFill/>
          <a:ln/>
        </p:spPr>
        <p:txBody>
          <a:bodyPr wrap="square" lIns="0" tIns="0" rIns="0" bIns="0" rtlCol="0" anchor="t"/>
          <a:lstStyle/>
          <a:p>
            <a:pPr indent="0" marL="0">
              <a:buNone/>
            </a:pPr>
            <a:r>
              <a:rPr lang="en-US" sz="1600" i="1" dirty="0">
                <a:solidFill>
                  <a:schemeClr val="tx2"/>
                </a:solidFill>
              </a:rPr>
              <a:t>Опровергнет: плотность не меняет ошибку или меняет её одинаково во всех почвах</a:t>
            </a:r>
            <a:endParaRPr lang="en-US" sz="1600" dirty="0"/>
          </a:p>
        </p:txBody>
      </p:sp>
      <p:sp>
        <p:nvSpPr>
          <p:cNvPr id="19" name="Text 16"/>
          <p:cNvSpPr txBox="1"/>
          <p:nvPr/>
        </p:nvSpPr>
        <p:spPr>
          <a:xfrm>
            <a:off x="548640" y="5897880"/>
            <a:ext cx="11064240" cy="365760"/>
          </a:xfrm>
          <a:prstGeom prst="rect">
            <a:avLst/>
          </a:prstGeom>
          <a:noFill/>
          <a:ln/>
        </p:spPr>
        <p:txBody>
          <a:bodyPr wrap="square" lIns="0" tIns="0" rIns="0" bIns="0" rtlCol="0" anchor="t"/>
          <a:lstStyle/>
          <a:p>
            <a:pPr indent="0" marL="0">
              <a:buNone/>
            </a:pPr>
            <a:r>
              <a:rPr lang="en-US" sz="1600" b="1" dirty="0">
                <a:solidFill>
                  <a:schemeClr val="accent1"/>
                </a:solidFill>
              </a:rPr>
              <a:t>Каждое предсказание запрещает часть возможных результатов — поэтому его можно проверить</a:t>
            </a:r>
            <a:endParaRPr lang="en-US" sz="16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1"/>
                </a:solidFill>
              </a:rPr>
              <a:t>Эксперимент: экзамен для датчика</a:t>
            </a:r>
            <a:endParaRPr lang="en-US" sz="3000" dirty="0"/>
          </a:p>
        </p:txBody>
      </p:sp>
      <p:sp>
        <p:nvSpPr>
          <p:cNvPr id="4" name="Text 1"/>
          <p:cNvSpPr txBox="1"/>
          <p:nvPr/>
        </p:nvSpPr>
        <p:spPr>
          <a:xfrm>
            <a:off x="548640" y="1371600"/>
            <a:ext cx="5486400" cy="320040"/>
          </a:xfrm>
          <a:prstGeom prst="rect">
            <a:avLst/>
          </a:prstGeom>
          <a:noFill/>
          <a:ln/>
        </p:spPr>
        <p:txBody>
          <a:bodyPr wrap="square" lIns="0" tIns="0" rIns="0" bIns="0" rtlCol="0" anchor="t"/>
          <a:lstStyle/>
          <a:p>
            <a:pPr indent="0" marL="0">
              <a:buNone/>
            </a:pPr>
            <a:r>
              <a:rPr lang="en-US" sz="1400" b="1" dirty="0">
                <a:solidFill>
                  <a:schemeClr val="tx2"/>
                </a:solidFill>
              </a:rPr>
              <a:t>Схема опыта: 3 почвы × 2 плотности</a:t>
            </a:r>
            <a:endParaRPr lang="en-US" sz="1400" dirty="0"/>
          </a:p>
        </p:txBody>
      </p:sp>
      <p:sp>
        <p:nvSpPr>
          <p:cNvPr id="5" name="Text 2"/>
          <p:cNvSpPr txBox="1"/>
          <p:nvPr/>
        </p:nvSpPr>
        <p:spPr>
          <a:xfrm>
            <a:off x="1737360" y="1783080"/>
            <a:ext cx="1463040" cy="640080"/>
          </a:xfrm>
          <a:prstGeom prst="rect">
            <a:avLst/>
          </a:prstGeom>
          <a:noFill/>
          <a:ln/>
        </p:spPr>
        <p:txBody>
          <a:bodyPr wrap="square" lIns="0" tIns="0" rIns="0" bIns="0" rtlCol="0" anchor="t"/>
          <a:lstStyle/>
          <a:p>
            <a:pPr algn="ctr" indent="0" marL="0">
              <a:buNone/>
            </a:pPr>
            <a:r>
              <a:rPr lang="en-US" sz="2000" b="1" dirty="0">
                <a:solidFill>
                  <a:schemeClr val="accent1"/>
                </a:solidFill>
              </a:rPr>
              <a:t>A</a:t>
            </a:r>
            <a:endParaRPr lang="en-US" sz="1600" dirty="0"/>
          </a:p>
          <a:p>
            <a:pPr algn="ctr" indent="0" marL="0">
              <a:buNone/>
            </a:pPr>
            <a:r>
              <a:rPr lang="en-US" sz="1200" dirty="0">
                <a:solidFill>
                  <a:schemeClr val="accent1"/>
                </a:solidFill>
              </a:rPr>
              <a:t>10–20 % физ. глины</a:t>
            </a:r>
            <a:endParaRPr lang="en-US" sz="1600" dirty="0"/>
          </a:p>
        </p:txBody>
      </p:sp>
      <p:sp>
        <p:nvSpPr>
          <p:cNvPr id="6" name="cell"/>
          <p:cNvSpPr/>
          <p:nvPr/>
        </p:nvSpPr>
        <p:spPr>
          <a:xfrm>
            <a:off x="1737360" y="2514600"/>
            <a:ext cx="1463040" cy="685800"/>
          </a:xfrm>
          <a:prstGeom prst="roundRect">
            <a:avLst>
              <a:gd name="adj" fmla="val 10667"/>
            </a:avLst>
          </a:prstGeom>
          <a:solidFill>
            <a:schemeClr val="accent1"/>
          </a:solidFill>
          <a:ln/>
        </p:spPr>
      </p:sp>
      <p:sp>
        <p:nvSpPr>
          <p:cNvPr id="7" name="Text 4"/>
          <p:cNvSpPr txBox="1"/>
          <p:nvPr/>
        </p:nvSpPr>
        <p:spPr>
          <a:xfrm>
            <a:off x="1737360" y="2514600"/>
            <a:ext cx="1463040" cy="685800"/>
          </a:xfrm>
          <a:prstGeom prst="rect">
            <a:avLst/>
          </a:prstGeom>
          <a:noFill/>
          <a:ln/>
        </p:spPr>
        <p:txBody>
          <a:bodyPr wrap="square" lIns="0" tIns="0" rIns="0" bIns="0" rtlCol="0" anchor="ctr"/>
          <a:lstStyle/>
          <a:p>
            <a:pPr algn="ctr" indent="0" marL="0">
              <a:buNone/>
            </a:pPr>
            <a:r>
              <a:rPr lang="en-US" sz="1400" b="1" dirty="0">
                <a:solidFill>
                  <a:schemeClr val="bg1"/>
                </a:solidFill>
              </a:rPr>
              <a:t>1,35 г/см³</a:t>
            </a:r>
            <a:endParaRPr lang="en-US" sz="1400" dirty="0"/>
          </a:p>
        </p:txBody>
      </p:sp>
      <p:sp>
        <p:nvSpPr>
          <p:cNvPr id="8" name="cell"/>
          <p:cNvSpPr/>
          <p:nvPr/>
        </p:nvSpPr>
        <p:spPr>
          <a:xfrm>
            <a:off x="1737360" y="3291840"/>
            <a:ext cx="1463040" cy="685800"/>
          </a:xfrm>
          <a:prstGeom prst="roundRect">
            <a:avLst>
              <a:gd name="adj" fmla="val 10667"/>
            </a:avLst>
          </a:prstGeom>
          <a:solidFill>
            <a:schemeClr val="accent1"/>
          </a:solidFill>
          <a:ln/>
        </p:spPr>
      </p:sp>
      <p:sp>
        <p:nvSpPr>
          <p:cNvPr id="9" name="Text 6"/>
          <p:cNvSpPr txBox="1"/>
          <p:nvPr/>
        </p:nvSpPr>
        <p:spPr>
          <a:xfrm>
            <a:off x="1737360" y="3291840"/>
            <a:ext cx="1463040" cy="685800"/>
          </a:xfrm>
          <a:prstGeom prst="rect">
            <a:avLst/>
          </a:prstGeom>
          <a:noFill/>
          <a:ln/>
        </p:spPr>
        <p:txBody>
          <a:bodyPr wrap="square" lIns="0" tIns="0" rIns="0" bIns="0" rtlCol="0" anchor="ctr"/>
          <a:lstStyle/>
          <a:p>
            <a:pPr algn="ctr" indent="0" marL="0">
              <a:buNone/>
            </a:pPr>
            <a:r>
              <a:rPr lang="en-US" sz="1400" b="1" dirty="0">
                <a:solidFill>
                  <a:schemeClr val="bg1"/>
                </a:solidFill>
              </a:rPr>
              <a:t>1,52 г/см³</a:t>
            </a:r>
            <a:endParaRPr lang="en-US" sz="1400" dirty="0"/>
          </a:p>
        </p:txBody>
      </p:sp>
      <p:sp>
        <p:nvSpPr>
          <p:cNvPr id="10" name="Text 7"/>
          <p:cNvSpPr txBox="1"/>
          <p:nvPr/>
        </p:nvSpPr>
        <p:spPr>
          <a:xfrm>
            <a:off x="3291840" y="1783080"/>
            <a:ext cx="1463040" cy="640080"/>
          </a:xfrm>
          <a:prstGeom prst="rect">
            <a:avLst/>
          </a:prstGeom>
          <a:noFill/>
          <a:ln/>
        </p:spPr>
        <p:txBody>
          <a:bodyPr wrap="square" lIns="0" tIns="0" rIns="0" bIns="0" rtlCol="0" anchor="t"/>
          <a:lstStyle/>
          <a:p>
            <a:pPr algn="ctr" indent="0" marL="0">
              <a:buNone/>
            </a:pPr>
            <a:r>
              <a:rPr lang="en-US" sz="2000" b="1" dirty="0">
                <a:solidFill>
                  <a:schemeClr val="tx1"/>
                </a:solidFill>
              </a:rPr>
              <a:t>B</a:t>
            </a:r>
            <a:endParaRPr lang="en-US" sz="1600" dirty="0"/>
          </a:p>
          <a:p>
            <a:pPr algn="ctr" indent="0" marL="0">
              <a:buNone/>
            </a:pPr>
            <a:r>
              <a:rPr lang="en-US" sz="1200" dirty="0">
                <a:solidFill>
                  <a:schemeClr val="tx1"/>
                </a:solidFill>
              </a:rPr>
              <a:t>40–50 %</a:t>
            </a:r>
            <a:endParaRPr lang="en-US" sz="1600" dirty="0"/>
          </a:p>
        </p:txBody>
      </p:sp>
      <p:sp>
        <p:nvSpPr>
          <p:cNvPr id="11" name="cell"/>
          <p:cNvSpPr/>
          <p:nvPr/>
        </p:nvSpPr>
        <p:spPr>
          <a:xfrm>
            <a:off x="3291840" y="2514600"/>
            <a:ext cx="1463040" cy="685800"/>
          </a:xfrm>
          <a:prstGeom prst="roundRect">
            <a:avLst>
              <a:gd name="adj" fmla="val 10667"/>
            </a:avLst>
          </a:prstGeom>
          <a:solidFill>
            <a:schemeClr val="accent4"/>
          </a:solidFill>
          <a:ln/>
        </p:spPr>
      </p:sp>
      <p:sp>
        <p:nvSpPr>
          <p:cNvPr id="12" name="Text 9"/>
          <p:cNvSpPr txBox="1"/>
          <p:nvPr/>
        </p:nvSpPr>
        <p:spPr>
          <a:xfrm>
            <a:off x="3291840" y="2514600"/>
            <a:ext cx="1463040" cy="685800"/>
          </a:xfrm>
          <a:prstGeom prst="rect">
            <a:avLst/>
          </a:prstGeom>
          <a:noFill/>
          <a:ln/>
        </p:spPr>
        <p:txBody>
          <a:bodyPr wrap="square" lIns="0" tIns="0" rIns="0" bIns="0" rtlCol="0" anchor="ctr"/>
          <a:lstStyle/>
          <a:p>
            <a:pPr algn="ctr" indent="0" marL="0">
              <a:buNone/>
            </a:pPr>
            <a:r>
              <a:rPr lang="en-US" sz="1400" b="1" dirty="0">
                <a:solidFill>
                  <a:schemeClr val="bg1"/>
                </a:solidFill>
              </a:rPr>
              <a:t>1,35 г/см³</a:t>
            </a:r>
            <a:endParaRPr lang="en-US" sz="1400" dirty="0"/>
          </a:p>
        </p:txBody>
      </p:sp>
      <p:sp>
        <p:nvSpPr>
          <p:cNvPr id="13" name="cell"/>
          <p:cNvSpPr/>
          <p:nvPr/>
        </p:nvSpPr>
        <p:spPr>
          <a:xfrm>
            <a:off x="3291840" y="3291840"/>
            <a:ext cx="1463040" cy="685800"/>
          </a:xfrm>
          <a:prstGeom prst="roundRect">
            <a:avLst>
              <a:gd name="adj" fmla="val 10667"/>
            </a:avLst>
          </a:prstGeom>
          <a:solidFill>
            <a:schemeClr val="accent4"/>
          </a:solidFill>
          <a:ln/>
        </p:spPr>
      </p:sp>
      <p:sp>
        <p:nvSpPr>
          <p:cNvPr id="14" name="Text 11"/>
          <p:cNvSpPr txBox="1"/>
          <p:nvPr/>
        </p:nvSpPr>
        <p:spPr>
          <a:xfrm>
            <a:off x="3291840" y="3291840"/>
            <a:ext cx="1463040" cy="685800"/>
          </a:xfrm>
          <a:prstGeom prst="rect">
            <a:avLst/>
          </a:prstGeom>
          <a:noFill/>
          <a:ln/>
        </p:spPr>
        <p:txBody>
          <a:bodyPr wrap="square" lIns="0" tIns="0" rIns="0" bIns="0" rtlCol="0" anchor="ctr"/>
          <a:lstStyle/>
          <a:p>
            <a:pPr algn="ctr" indent="0" marL="0">
              <a:buNone/>
            </a:pPr>
            <a:r>
              <a:rPr lang="en-US" sz="1400" b="1" dirty="0">
                <a:solidFill>
                  <a:schemeClr val="bg1"/>
                </a:solidFill>
              </a:rPr>
              <a:t>1,52 г/см³</a:t>
            </a:r>
            <a:endParaRPr lang="en-US" sz="1400" dirty="0"/>
          </a:p>
        </p:txBody>
      </p:sp>
      <p:sp>
        <p:nvSpPr>
          <p:cNvPr id="15" name="Text 12"/>
          <p:cNvSpPr txBox="1"/>
          <p:nvPr/>
        </p:nvSpPr>
        <p:spPr>
          <a:xfrm>
            <a:off x="4846320" y="1783080"/>
            <a:ext cx="1463040" cy="640080"/>
          </a:xfrm>
          <a:prstGeom prst="rect">
            <a:avLst/>
          </a:prstGeom>
          <a:noFill/>
          <a:ln/>
        </p:spPr>
        <p:txBody>
          <a:bodyPr wrap="square" lIns="0" tIns="0" rIns="0" bIns="0" rtlCol="0" anchor="t"/>
          <a:lstStyle/>
          <a:p>
            <a:pPr algn="ctr" indent="0" marL="0">
              <a:buNone/>
            </a:pPr>
            <a:r>
              <a:rPr lang="en-US" sz="2000" b="1" dirty="0">
                <a:solidFill>
                  <a:schemeClr val="tx1"/>
                </a:solidFill>
              </a:rPr>
              <a:t>C</a:t>
            </a:r>
            <a:endParaRPr lang="en-US" sz="1600" dirty="0"/>
          </a:p>
          <a:p>
            <a:pPr algn="ctr" indent="0" marL="0">
              <a:buNone/>
            </a:pPr>
            <a:r>
              <a:rPr lang="en-US" sz="1200" dirty="0">
                <a:solidFill>
                  <a:schemeClr val="tx1"/>
                </a:solidFill>
              </a:rPr>
              <a:t>50–65 %</a:t>
            </a:r>
            <a:endParaRPr lang="en-US" sz="1600" dirty="0"/>
          </a:p>
        </p:txBody>
      </p:sp>
      <p:sp>
        <p:nvSpPr>
          <p:cNvPr id="16" name="cell"/>
          <p:cNvSpPr/>
          <p:nvPr/>
        </p:nvSpPr>
        <p:spPr>
          <a:xfrm>
            <a:off x="4846320" y="2514600"/>
            <a:ext cx="1463040" cy="685800"/>
          </a:xfrm>
          <a:prstGeom prst="roundRect">
            <a:avLst>
              <a:gd name="adj" fmla="val 10667"/>
            </a:avLst>
          </a:prstGeom>
          <a:solidFill>
            <a:schemeClr val="accent3"/>
          </a:solidFill>
          <a:ln/>
        </p:spPr>
      </p:sp>
      <p:sp>
        <p:nvSpPr>
          <p:cNvPr id="17" name="Text 14"/>
          <p:cNvSpPr txBox="1"/>
          <p:nvPr/>
        </p:nvSpPr>
        <p:spPr>
          <a:xfrm>
            <a:off x="4846320" y="2514600"/>
            <a:ext cx="1463040" cy="685800"/>
          </a:xfrm>
          <a:prstGeom prst="rect">
            <a:avLst/>
          </a:prstGeom>
          <a:noFill/>
          <a:ln/>
        </p:spPr>
        <p:txBody>
          <a:bodyPr wrap="square" lIns="0" tIns="0" rIns="0" bIns="0" rtlCol="0" anchor="ctr"/>
          <a:lstStyle/>
          <a:p>
            <a:pPr algn="ctr" indent="0" marL="0">
              <a:buNone/>
            </a:pPr>
            <a:r>
              <a:rPr lang="en-US" sz="1400" b="1" dirty="0">
                <a:solidFill>
                  <a:schemeClr val="bg1"/>
                </a:solidFill>
              </a:rPr>
              <a:t>1,35 г/см³</a:t>
            </a:r>
            <a:endParaRPr lang="en-US" sz="1400" dirty="0"/>
          </a:p>
        </p:txBody>
      </p:sp>
      <p:sp>
        <p:nvSpPr>
          <p:cNvPr id="18" name="cell"/>
          <p:cNvSpPr/>
          <p:nvPr/>
        </p:nvSpPr>
        <p:spPr>
          <a:xfrm>
            <a:off x="4846320" y="3291840"/>
            <a:ext cx="1463040" cy="685800"/>
          </a:xfrm>
          <a:prstGeom prst="roundRect">
            <a:avLst>
              <a:gd name="adj" fmla="val 10667"/>
            </a:avLst>
          </a:prstGeom>
          <a:solidFill>
            <a:schemeClr val="accent3"/>
          </a:solidFill>
          <a:ln/>
        </p:spPr>
      </p:sp>
      <p:sp>
        <p:nvSpPr>
          <p:cNvPr id="19" name="Text 16"/>
          <p:cNvSpPr txBox="1"/>
          <p:nvPr/>
        </p:nvSpPr>
        <p:spPr>
          <a:xfrm>
            <a:off x="4846320" y="3291840"/>
            <a:ext cx="1463040" cy="685800"/>
          </a:xfrm>
          <a:prstGeom prst="rect">
            <a:avLst/>
          </a:prstGeom>
          <a:noFill/>
          <a:ln/>
        </p:spPr>
        <p:txBody>
          <a:bodyPr wrap="square" lIns="0" tIns="0" rIns="0" bIns="0" rtlCol="0" anchor="ctr"/>
          <a:lstStyle/>
          <a:p>
            <a:pPr algn="ctr" indent="0" marL="0">
              <a:buNone/>
            </a:pPr>
            <a:r>
              <a:rPr lang="en-US" sz="1400" b="1" dirty="0">
                <a:solidFill>
                  <a:schemeClr val="bg1"/>
                </a:solidFill>
              </a:rPr>
              <a:t>1,52 г/см³</a:t>
            </a:r>
            <a:endParaRPr lang="en-US" sz="1400" dirty="0"/>
          </a:p>
        </p:txBody>
      </p:sp>
      <p:sp>
        <p:nvSpPr>
          <p:cNvPr id="20" name="Text 17"/>
          <p:cNvSpPr txBox="1"/>
          <p:nvPr/>
        </p:nvSpPr>
        <p:spPr>
          <a:xfrm>
            <a:off x="548640" y="2514600"/>
            <a:ext cx="1097280" cy="685800"/>
          </a:xfrm>
          <a:prstGeom prst="rect">
            <a:avLst/>
          </a:prstGeom>
          <a:noFill/>
          <a:ln/>
        </p:spPr>
        <p:txBody>
          <a:bodyPr wrap="square" lIns="0" tIns="0" rIns="0" bIns="0" rtlCol="0" anchor="ctr"/>
          <a:lstStyle/>
          <a:p>
            <a:pPr indent="0" marL="0">
              <a:buNone/>
            </a:pPr>
            <a:r>
              <a:rPr lang="en-US" sz="1400" dirty="0">
                <a:solidFill>
                  <a:schemeClr val="tx2"/>
                </a:solidFill>
              </a:rPr>
              <a:t>плотность</a:t>
            </a:r>
            <a:endParaRPr lang="en-US" sz="1400" dirty="0"/>
          </a:p>
        </p:txBody>
      </p:sp>
      <p:sp>
        <p:nvSpPr>
          <p:cNvPr id="21" name="Text 18"/>
          <p:cNvSpPr txBox="1"/>
          <p:nvPr/>
        </p:nvSpPr>
        <p:spPr>
          <a:xfrm>
            <a:off x="1737360" y="4114800"/>
            <a:ext cx="4572000" cy="365760"/>
          </a:xfrm>
          <a:prstGeom prst="rect">
            <a:avLst/>
          </a:prstGeom>
          <a:noFill/>
          <a:ln/>
        </p:spPr>
        <p:txBody>
          <a:bodyPr wrap="square" lIns="0" tIns="0" rIns="0" bIns="0" rtlCol="0" anchor="t"/>
          <a:lstStyle/>
          <a:p>
            <a:pPr indent="0" marL="0">
              <a:buNone/>
            </a:pPr>
            <a:r>
              <a:rPr lang="en-US" sz="1400" dirty="0">
                <a:solidFill>
                  <a:schemeClr val="tx2"/>
                </a:solidFill>
              </a:rPr>
              <a:t>все почвы незасолённые: ECe 0,28–0,61 дСм/м</a:t>
            </a:r>
            <a:endParaRPr lang="en-US" sz="1400" dirty="0"/>
          </a:p>
        </p:txBody>
      </p:sp>
      <p:sp>
        <p:nvSpPr>
          <p:cNvPr id="22" name="count-card"/>
          <p:cNvSpPr/>
          <p:nvPr/>
        </p:nvSpPr>
        <p:spPr>
          <a:xfrm>
            <a:off x="6675120" y="1371600"/>
            <a:ext cx="4937760" cy="1325880"/>
          </a:xfrm>
          <a:prstGeom prst="roundRect">
            <a:avLst>
              <a:gd name="adj" fmla="val 5517"/>
            </a:avLst>
          </a:prstGeom>
          <a:solidFill>
            <a:schemeClr val="tx1"/>
          </a:solidFill>
          <a:ln/>
        </p:spPr>
      </p:sp>
      <p:sp>
        <p:nvSpPr>
          <p:cNvPr id="23" name="Text 20"/>
          <p:cNvSpPr txBox="1"/>
          <p:nvPr/>
        </p:nvSpPr>
        <p:spPr>
          <a:xfrm>
            <a:off x="6903720" y="1417320"/>
            <a:ext cx="4480560" cy="731520"/>
          </a:xfrm>
          <a:prstGeom prst="rect">
            <a:avLst/>
          </a:prstGeom>
          <a:noFill/>
          <a:ln/>
        </p:spPr>
        <p:txBody>
          <a:bodyPr wrap="square" lIns="0" tIns="0" rIns="0" bIns="0" rtlCol="0" anchor="ctr"/>
          <a:lstStyle/>
          <a:p>
            <a:pPr indent="0" marL="0">
              <a:buNone/>
            </a:pPr>
            <a:r>
              <a:rPr lang="en-US" sz="3600" b="1" dirty="0">
                <a:solidFill>
                  <a:schemeClr val="bg1"/>
                </a:solidFill>
              </a:rPr>
              <a:t>6 × 3 × 10 = 180</a:t>
            </a:r>
            <a:endParaRPr lang="en-US" sz="3600" dirty="0"/>
          </a:p>
        </p:txBody>
      </p:sp>
      <p:sp>
        <p:nvSpPr>
          <p:cNvPr id="24" name="Text 21"/>
          <p:cNvSpPr txBox="1"/>
          <p:nvPr/>
        </p:nvSpPr>
        <p:spPr>
          <a:xfrm>
            <a:off x="6903720" y="2148840"/>
            <a:ext cx="4480560" cy="457200"/>
          </a:xfrm>
          <a:prstGeom prst="rect">
            <a:avLst/>
          </a:prstGeom>
          <a:noFill/>
          <a:ln/>
        </p:spPr>
        <p:txBody>
          <a:bodyPr wrap="square" lIns="0" tIns="0" rIns="0" bIns="0" rtlCol="0" anchor="t"/>
          <a:lstStyle/>
          <a:p>
            <a:pPr indent="0" marL="0">
              <a:buNone/>
            </a:pPr>
            <a:r>
              <a:rPr lang="en-US" sz="1400" dirty="0">
                <a:solidFill>
                  <a:schemeClr val="accent2"/>
                </a:solidFill>
              </a:rPr>
              <a:t>вариантов × колонок × ступеней влажности</a:t>
            </a:r>
            <a:endParaRPr lang="en-US" sz="1400" dirty="0"/>
          </a:p>
        </p:txBody>
      </p:sp>
      <p:sp>
        <p:nvSpPr>
          <p:cNvPr id="25" name="exam-0"/>
          <p:cNvSpPr/>
          <p:nvPr/>
        </p:nvSpPr>
        <p:spPr>
          <a:xfrm>
            <a:off x="6675120" y="2880360"/>
            <a:ext cx="4937760" cy="731520"/>
          </a:xfrm>
          <a:prstGeom prst="roundRect">
            <a:avLst>
              <a:gd name="adj" fmla="val 10000"/>
            </a:avLst>
          </a:prstGeom>
          <a:solidFill>
            <a:schemeClr val="bg2"/>
          </a:solidFill>
          <a:ln/>
        </p:spPr>
      </p:sp>
      <p:sp>
        <p:nvSpPr>
          <p:cNvPr id="26" name="Text 23"/>
          <p:cNvSpPr txBox="1"/>
          <p:nvPr/>
        </p:nvSpPr>
        <p:spPr>
          <a:xfrm>
            <a:off x="6858000" y="2880360"/>
            <a:ext cx="4572000" cy="731520"/>
          </a:xfrm>
          <a:prstGeom prst="rect">
            <a:avLst/>
          </a:prstGeom>
          <a:noFill/>
          <a:ln/>
        </p:spPr>
        <p:txBody>
          <a:bodyPr wrap="square" lIns="0" tIns="0" rIns="0" bIns="0" rtlCol="0" anchor="ctr"/>
          <a:lstStyle/>
          <a:p>
            <a:pPr indent="0" marL="0">
              <a:buNone/>
            </a:pPr>
            <a:r>
              <a:rPr lang="en-US" sz="1600" b="1" dirty="0">
                <a:solidFill>
                  <a:schemeClr val="tx1"/>
                </a:solidFill>
              </a:rPr>
              <a:t>Датчик с заводским уравнением</a:t>
            </a:r>
            <a:endParaRPr lang="en-US" sz="1600" dirty="0"/>
          </a:p>
          <a:p>
            <a:pPr indent="0" marL="0">
              <a:buNone/>
            </a:pPr>
            <a:r>
              <a:rPr lang="en-US" sz="1400" b="1" dirty="0">
                <a:solidFill>
                  <a:schemeClr val="accent1"/>
                </a:solidFill>
              </a:rPr>
              <a:t>= студент</a:t>
            </a:r>
            <a:endParaRPr lang="en-US" sz="1600" dirty="0"/>
          </a:p>
        </p:txBody>
      </p:sp>
      <p:sp>
        <p:nvSpPr>
          <p:cNvPr id="27" name="exam-1"/>
          <p:cNvSpPr/>
          <p:nvPr/>
        </p:nvSpPr>
        <p:spPr>
          <a:xfrm>
            <a:off x="6675120" y="3749040"/>
            <a:ext cx="4937760" cy="731520"/>
          </a:xfrm>
          <a:prstGeom prst="roundRect">
            <a:avLst>
              <a:gd name="adj" fmla="val 10000"/>
            </a:avLst>
          </a:prstGeom>
          <a:solidFill>
            <a:schemeClr val="bg2"/>
          </a:solidFill>
          <a:ln/>
        </p:spPr>
      </p:sp>
      <p:sp>
        <p:nvSpPr>
          <p:cNvPr id="28" name="Text 25"/>
          <p:cNvSpPr txBox="1"/>
          <p:nvPr/>
        </p:nvSpPr>
        <p:spPr>
          <a:xfrm>
            <a:off x="6858000" y="3749040"/>
            <a:ext cx="4572000" cy="731520"/>
          </a:xfrm>
          <a:prstGeom prst="rect">
            <a:avLst/>
          </a:prstGeom>
          <a:noFill/>
          <a:ln/>
        </p:spPr>
        <p:txBody>
          <a:bodyPr wrap="square" lIns="0" tIns="0" rIns="0" bIns="0" rtlCol="0" anchor="ctr"/>
          <a:lstStyle/>
          <a:p>
            <a:pPr indent="0" marL="0">
              <a:buNone/>
            </a:pPr>
            <a:r>
              <a:rPr lang="en-US" sz="1600" b="1" dirty="0">
                <a:solidFill>
                  <a:schemeClr val="tx1"/>
                </a:solidFill>
              </a:rPr>
              <a:t>Термостатно-весовой метод</a:t>
            </a:r>
            <a:endParaRPr lang="en-US" sz="1600" dirty="0"/>
          </a:p>
          <a:p>
            <a:pPr indent="0" marL="0">
              <a:buNone/>
            </a:pPr>
            <a:r>
              <a:rPr lang="en-US" sz="1400" b="1" dirty="0">
                <a:solidFill>
                  <a:schemeClr val="accent3"/>
                </a:solidFill>
              </a:rPr>
              <a:t>= ключ с ответами (неопределённость 0,005)</a:t>
            </a:r>
            <a:endParaRPr lang="en-US" sz="1600" dirty="0"/>
          </a:p>
        </p:txBody>
      </p:sp>
      <p:sp>
        <p:nvSpPr>
          <p:cNvPr id="29" name="proc-0"/>
          <p:cNvSpPr/>
          <p:nvPr/>
        </p:nvSpPr>
        <p:spPr>
          <a:xfrm>
            <a:off x="548640" y="4892040"/>
            <a:ext cx="2606040" cy="1234440"/>
          </a:xfrm>
          <a:prstGeom prst="roundRect">
            <a:avLst>
              <a:gd name="adj" fmla="val 5926"/>
            </a:avLst>
          </a:prstGeom>
          <a:solidFill>
            <a:schemeClr val="bg2"/>
          </a:solidFill>
          <a:ln/>
        </p:spPr>
      </p:sp>
      <p:sp>
        <p:nvSpPr>
          <p:cNvPr id="30" name="Text 27"/>
          <p:cNvSpPr txBox="1"/>
          <p:nvPr/>
        </p:nvSpPr>
        <p:spPr>
          <a:xfrm>
            <a:off x="731520" y="4892040"/>
            <a:ext cx="2240280" cy="1234440"/>
          </a:xfrm>
          <a:prstGeom prst="rect">
            <a:avLst/>
          </a:prstGeom>
          <a:noFill/>
          <a:ln/>
        </p:spPr>
        <p:txBody>
          <a:bodyPr wrap="square" lIns="0" tIns="0" rIns="0" bIns="0" rtlCol="0" anchor="ctr"/>
          <a:lstStyle/>
          <a:p>
            <a:pPr indent="0" marL="0">
              <a:buNone/>
            </a:pPr>
            <a:r>
              <a:rPr lang="en-US" sz="1600" b="1" dirty="0">
                <a:solidFill>
                  <a:schemeClr val="tx1"/>
                </a:solidFill>
              </a:rPr>
              <a:t>Насыщение снизу, 48 ч</a:t>
            </a:r>
            <a:endParaRPr lang="en-US" sz="1600" dirty="0"/>
          </a:p>
        </p:txBody>
      </p:sp>
      <p:sp>
        <p:nvSpPr>
          <p:cNvPr id="31" name="arrow"/>
          <p:cNvSpPr/>
          <p:nvPr/>
        </p:nvSpPr>
        <p:spPr>
          <a:xfrm>
            <a:off x="3182112" y="5349240"/>
            <a:ext cx="219456" cy="320040"/>
          </a:xfrm>
          <a:prstGeom prst="rightArrow">
            <a:avLst/>
          </a:prstGeom>
          <a:solidFill>
            <a:schemeClr val="accent5"/>
          </a:solidFill>
          <a:ln/>
        </p:spPr>
      </p:sp>
      <p:sp>
        <p:nvSpPr>
          <p:cNvPr id="32" name="proc-1"/>
          <p:cNvSpPr/>
          <p:nvPr/>
        </p:nvSpPr>
        <p:spPr>
          <a:xfrm>
            <a:off x="3383280" y="4892040"/>
            <a:ext cx="2606040" cy="1234440"/>
          </a:xfrm>
          <a:prstGeom prst="roundRect">
            <a:avLst>
              <a:gd name="adj" fmla="val 5926"/>
            </a:avLst>
          </a:prstGeom>
          <a:solidFill>
            <a:schemeClr val="bg2"/>
          </a:solidFill>
          <a:ln/>
        </p:spPr>
      </p:sp>
      <p:sp>
        <p:nvSpPr>
          <p:cNvPr id="33" name="Text 30"/>
          <p:cNvSpPr txBox="1"/>
          <p:nvPr/>
        </p:nvSpPr>
        <p:spPr>
          <a:xfrm>
            <a:off x="3566160" y="4892040"/>
            <a:ext cx="2240280" cy="1234440"/>
          </a:xfrm>
          <a:prstGeom prst="rect">
            <a:avLst/>
          </a:prstGeom>
          <a:noFill/>
          <a:ln/>
        </p:spPr>
        <p:txBody>
          <a:bodyPr wrap="square" lIns="0" tIns="0" rIns="0" bIns="0" rtlCol="0" anchor="ctr"/>
          <a:lstStyle/>
          <a:p>
            <a:pPr indent="0" marL="0">
              <a:buNone/>
            </a:pPr>
            <a:r>
              <a:rPr lang="en-US" sz="1600" b="1" dirty="0">
                <a:solidFill>
                  <a:schemeClr val="tx1"/>
                </a:solidFill>
              </a:rPr>
              <a:t>Ступенчатое иссушение при 20 °C</a:t>
            </a:r>
            <a:endParaRPr lang="en-US" sz="1600" dirty="0"/>
          </a:p>
        </p:txBody>
      </p:sp>
      <p:sp>
        <p:nvSpPr>
          <p:cNvPr id="34" name="arrow"/>
          <p:cNvSpPr/>
          <p:nvPr/>
        </p:nvSpPr>
        <p:spPr>
          <a:xfrm>
            <a:off x="6016752" y="5349240"/>
            <a:ext cx="219456" cy="320040"/>
          </a:xfrm>
          <a:prstGeom prst="rightArrow">
            <a:avLst/>
          </a:prstGeom>
          <a:solidFill>
            <a:schemeClr val="accent5"/>
          </a:solidFill>
          <a:ln/>
        </p:spPr>
      </p:sp>
      <p:sp>
        <p:nvSpPr>
          <p:cNvPr id="35" name="proc-2"/>
          <p:cNvSpPr/>
          <p:nvPr/>
        </p:nvSpPr>
        <p:spPr>
          <a:xfrm>
            <a:off x="6217920" y="4892040"/>
            <a:ext cx="2606040" cy="1234440"/>
          </a:xfrm>
          <a:prstGeom prst="roundRect">
            <a:avLst>
              <a:gd name="adj" fmla="val 5926"/>
            </a:avLst>
          </a:prstGeom>
          <a:solidFill>
            <a:schemeClr val="bg2"/>
          </a:solidFill>
          <a:ln/>
        </p:spPr>
      </p:sp>
      <p:sp>
        <p:nvSpPr>
          <p:cNvPr id="36" name="Text 33"/>
          <p:cNvSpPr txBox="1"/>
          <p:nvPr/>
        </p:nvSpPr>
        <p:spPr>
          <a:xfrm>
            <a:off x="6400800" y="4892040"/>
            <a:ext cx="2240280" cy="1234440"/>
          </a:xfrm>
          <a:prstGeom prst="rect">
            <a:avLst/>
          </a:prstGeom>
          <a:noFill/>
          <a:ln/>
        </p:spPr>
        <p:txBody>
          <a:bodyPr wrap="square" lIns="0" tIns="0" rIns="0" bIns="0" rtlCol="0" anchor="ctr"/>
          <a:lstStyle/>
          <a:p>
            <a:pPr indent="0" marL="0">
              <a:buNone/>
            </a:pPr>
            <a:r>
              <a:rPr lang="en-US" sz="1600" b="1" dirty="0">
                <a:solidFill>
                  <a:schemeClr val="tx1"/>
                </a:solidFill>
              </a:rPr>
              <a:t>Ожидание равновесия 8–36 ч</a:t>
            </a:r>
            <a:endParaRPr lang="en-US" sz="1600" dirty="0"/>
          </a:p>
        </p:txBody>
      </p:sp>
      <p:sp>
        <p:nvSpPr>
          <p:cNvPr id="37" name="arrow"/>
          <p:cNvSpPr/>
          <p:nvPr/>
        </p:nvSpPr>
        <p:spPr>
          <a:xfrm>
            <a:off x="8851392" y="5349240"/>
            <a:ext cx="219456" cy="320040"/>
          </a:xfrm>
          <a:prstGeom prst="rightArrow">
            <a:avLst/>
          </a:prstGeom>
          <a:solidFill>
            <a:schemeClr val="accent5"/>
          </a:solidFill>
          <a:ln/>
        </p:spPr>
      </p:sp>
      <p:sp>
        <p:nvSpPr>
          <p:cNvPr id="38" name="proc-3"/>
          <p:cNvSpPr/>
          <p:nvPr/>
        </p:nvSpPr>
        <p:spPr>
          <a:xfrm>
            <a:off x="9052560" y="4892040"/>
            <a:ext cx="2606040" cy="1234440"/>
          </a:xfrm>
          <a:prstGeom prst="roundRect">
            <a:avLst>
              <a:gd name="adj" fmla="val 5926"/>
            </a:avLst>
          </a:prstGeom>
          <a:solidFill>
            <a:schemeClr val="accent1"/>
          </a:solidFill>
          <a:ln/>
        </p:spPr>
      </p:sp>
      <p:sp>
        <p:nvSpPr>
          <p:cNvPr id="39" name="Text 36"/>
          <p:cNvSpPr txBox="1"/>
          <p:nvPr/>
        </p:nvSpPr>
        <p:spPr>
          <a:xfrm>
            <a:off x="9235440" y="4892040"/>
            <a:ext cx="2240280" cy="1234440"/>
          </a:xfrm>
          <a:prstGeom prst="rect">
            <a:avLst/>
          </a:prstGeom>
          <a:noFill/>
          <a:ln/>
        </p:spPr>
        <p:txBody>
          <a:bodyPr wrap="square" lIns="0" tIns="0" rIns="0" bIns="0" rtlCol="0" anchor="ctr"/>
          <a:lstStyle/>
          <a:p>
            <a:pPr indent="0" marL="0">
              <a:buNone/>
            </a:pPr>
            <a:r>
              <a:rPr lang="en-US" sz="1600" b="1" dirty="0">
                <a:solidFill>
                  <a:schemeClr val="bg1"/>
                </a:solidFill>
              </a:rPr>
              <a:t>Снимок: период τ + масса колонки</a:t>
            </a:r>
            <a:endParaRPr lang="en-US" sz="1600" dirty="0"/>
          </a:p>
        </p:txBody>
      </p:sp>
      <p:sp>
        <p:nvSpPr>
          <p:cNvPr id="40" name="Text 37"/>
          <p:cNvSpPr txBox="1"/>
          <p:nvPr/>
        </p:nvSpPr>
        <p:spPr>
          <a:xfrm>
            <a:off x="548640" y="6199632"/>
            <a:ext cx="10972800" cy="274320"/>
          </a:xfrm>
          <a:prstGeom prst="rect">
            <a:avLst/>
          </a:prstGeom>
          <a:noFill/>
          <a:ln/>
        </p:spPr>
        <p:txBody>
          <a:bodyPr wrap="square" lIns="0" tIns="0" rIns="0" bIns="0" rtlCol="0" anchor="t"/>
          <a:lstStyle/>
          <a:p>
            <a:pPr indent="0" marL="0">
              <a:buNone/>
            </a:pPr>
            <a:r>
              <a:rPr lang="en-US" sz="1200" dirty="0">
                <a:solidFill>
                  <a:schemeClr val="tx2"/>
                </a:solidFill>
              </a:rPr>
              <a:t>Колонка 152 мм × 300 мм, три слоя уплотнения. Каждое решение убирает одну постороннюю причину.</a:t>
            </a:r>
            <a:endParaRPr lang="en-US" sz="12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1"/>
                </a:solidFill>
              </a:rPr>
              <a:t>Как измерять ошибку: мишень</a:t>
            </a:r>
            <a:endParaRPr lang="en-US" sz="3000" dirty="0"/>
          </a:p>
        </p:txBody>
      </p:sp>
      <p:sp>
        <p:nvSpPr>
          <p:cNvPr id="4" name="target-ring"/>
          <p:cNvSpPr/>
          <p:nvPr/>
        </p:nvSpPr>
        <p:spPr>
          <a:xfrm>
            <a:off x="1005840" y="1783080"/>
            <a:ext cx="4206240" cy="4206240"/>
          </a:xfrm>
          <a:prstGeom prst="ellipse">
            <a:avLst/>
          </a:prstGeom>
          <a:solidFill>
            <a:schemeClr val="bg2"/>
          </a:solidFill>
          <a:ln w="12700">
            <a:solidFill>
              <a:schemeClr val="accent5"/>
            </a:solidFill>
            <a:prstDash val="solid"/>
          </a:ln>
        </p:spPr>
      </p:sp>
      <p:sp>
        <p:nvSpPr>
          <p:cNvPr id="5" name="target-ring"/>
          <p:cNvSpPr/>
          <p:nvPr/>
        </p:nvSpPr>
        <p:spPr>
          <a:xfrm>
            <a:off x="1691640" y="2468880"/>
            <a:ext cx="2834640" cy="2834640"/>
          </a:xfrm>
          <a:prstGeom prst="ellipse">
            <a:avLst/>
          </a:prstGeom>
          <a:solidFill>
            <a:schemeClr val="bg1"/>
          </a:solidFill>
          <a:ln w="12700">
            <a:solidFill>
              <a:schemeClr val="accent5"/>
            </a:solidFill>
            <a:prstDash val="solid"/>
          </a:ln>
        </p:spPr>
      </p:sp>
      <p:sp>
        <p:nvSpPr>
          <p:cNvPr id="6" name="target-ring"/>
          <p:cNvSpPr/>
          <p:nvPr/>
        </p:nvSpPr>
        <p:spPr>
          <a:xfrm>
            <a:off x="2377440" y="3154680"/>
            <a:ext cx="1463040" cy="1463040"/>
          </a:xfrm>
          <a:prstGeom prst="ellipse">
            <a:avLst/>
          </a:prstGeom>
          <a:solidFill>
            <a:schemeClr val="bg2"/>
          </a:solidFill>
          <a:ln w="12700">
            <a:solidFill>
              <a:schemeClr val="accent5"/>
            </a:solidFill>
            <a:prstDash val="solid"/>
          </a:ln>
        </p:spPr>
      </p:sp>
      <p:sp>
        <p:nvSpPr>
          <p:cNvPr id="7" name="bullseye"/>
          <p:cNvSpPr/>
          <p:nvPr/>
        </p:nvSpPr>
        <p:spPr>
          <a:xfrm>
            <a:off x="3044952" y="3822192"/>
            <a:ext cx="128016" cy="128016"/>
          </a:xfrm>
          <a:prstGeom prst="ellipse">
            <a:avLst/>
          </a:prstGeom>
          <a:solidFill>
            <a:schemeClr val="tx1"/>
          </a:solidFill>
          <a:ln/>
        </p:spPr>
      </p:sp>
      <p:sp>
        <p:nvSpPr>
          <p:cNvPr id="8" name="shot"/>
          <p:cNvSpPr/>
          <p:nvPr/>
        </p:nvSpPr>
        <p:spPr>
          <a:xfrm>
            <a:off x="3712464" y="3300984"/>
            <a:ext cx="164592" cy="164592"/>
          </a:xfrm>
          <a:prstGeom prst="ellipse">
            <a:avLst/>
          </a:prstGeom>
          <a:solidFill>
            <a:schemeClr val="accent3"/>
          </a:solidFill>
          <a:ln/>
        </p:spPr>
      </p:sp>
      <p:sp>
        <p:nvSpPr>
          <p:cNvPr id="9" name="shot"/>
          <p:cNvSpPr/>
          <p:nvPr/>
        </p:nvSpPr>
        <p:spPr>
          <a:xfrm>
            <a:off x="3986784" y="3118104"/>
            <a:ext cx="164592" cy="164592"/>
          </a:xfrm>
          <a:prstGeom prst="ellipse">
            <a:avLst/>
          </a:prstGeom>
          <a:solidFill>
            <a:schemeClr val="accent3"/>
          </a:solidFill>
          <a:ln/>
        </p:spPr>
      </p:sp>
      <p:sp>
        <p:nvSpPr>
          <p:cNvPr id="10" name="shot"/>
          <p:cNvSpPr/>
          <p:nvPr/>
        </p:nvSpPr>
        <p:spPr>
          <a:xfrm>
            <a:off x="3483864" y="3575304"/>
            <a:ext cx="164592" cy="164592"/>
          </a:xfrm>
          <a:prstGeom prst="ellipse">
            <a:avLst/>
          </a:prstGeom>
          <a:solidFill>
            <a:schemeClr val="accent3"/>
          </a:solidFill>
          <a:ln/>
        </p:spPr>
      </p:sp>
      <p:sp>
        <p:nvSpPr>
          <p:cNvPr id="11" name="shot"/>
          <p:cNvSpPr/>
          <p:nvPr/>
        </p:nvSpPr>
        <p:spPr>
          <a:xfrm>
            <a:off x="3895344" y="3621024"/>
            <a:ext cx="164592" cy="164592"/>
          </a:xfrm>
          <a:prstGeom prst="ellipse">
            <a:avLst/>
          </a:prstGeom>
          <a:solidFill>
            <a:schemeClr val="accent3"/>
          </a:solidFill>
          <a:ln/>
        </p:spPr>
      </p:sp>
      <p:sp>
        <p:nvSpPr>
          <p:cNvPr id="12" name="shot"/>
          <p:cNvSpPr/>
          <p:nvPr/>
        </p:nvSpPr>
        <p:spPr>
          <a:xfrm>
            <a:off x="3438144" y="3163824"/>
            <a:ext cx="164592" cy="164592"/>
          </a:xfrm>
          <a:prstGeom prst="ellipse">
            <a:avLst/>
          </a:prstGeom>
          <a:solidFill>
            <a:schemeClr val="accent3"/>
          </a:solidFill>
          <a:ln/>
        </p:spPr>
      </p:sp>
      <p:sp>
        <p:nvSpPr>
          <p:cNvPr id="13" name="shot"/>
          <p:cNvSpPr/>
          <p:nvPr/>
        </p:nvSpPr>
        <p:spPr>
          <a:xfrm>
            <a:off x="4123944" y="3346704"/>
            <a:ext cx="164592" cy="164592"/>
          </a:xfrm>
          <a:prstGeom prst="ellipse">
            <a:avLst/>
          </a:prstGeom>
          <a:solidFill>
            <a:schemeClr val="accent3"/>
          </a:solidFill>
          <a:ln/>
        </p:spPr>
      </p:sp>
      <p:sp>
        <p:nvSpPr>
          <p:cNvPr id="14" name="shot"/>
          <p:cNvSpPr/>
          <p:nvPr/>
        </p:nvSpPr>
        <p:spPr>
          <a:xfrm>
            <a:off x="3666744" y="2935224"/>
            <a:ext cx="164592" cy="164592"/>
          </a:xfrm>
          <a:prstGeom prst="ellipse">
            <a:avLst/>
          </a:prstGeom>
          <a:solidFill>
            <a:schemeClr val="accent3"/>
          </a:solidFill>
          <a:ln/>
        </p:spPr>
      </p:sp>
      <p:sp>
        <p:nvSpPr>
          <p:cNvPr id="15" name="mb-arrow"/>
          <p:cNvSpPr/>
          <p:nvPr/>
        </p:nvSpPr>
        <p:spPr>
          <a:xfrm>
            <a:off x="3108960" y="3886200"/>
            <a:ext cx="685800" cy="-502920"/>
          </a:xfrm>
          <a:prstGeom prst="line">
            <a:avLst/>
          </a:prstGeom>
          <a:noFill/>
          <a:ln w="31750">
            <a:solidFill>
              <a:schemeClr val="tx1"/>
            </a:solidFill>
            <a:prstDash val="solid"/>
            <a:tailEnd type="triangle"/>
          </a:ln>
        </p:spPr>
      </p:sp>
      <p:sp>
        <p:nvSpPr>
          <p:cNvPr id="16" name="Text 13"/>
          <p:cNvSpPr txBox="1"/>
          <p:nvPr/>
        </p:nvSpPr>
        <p:spPr>
          <a:xfrm>
            <a:off x="914400" y="6080760"/>
            <a:ext cx="4389120" cy="320040"/>
          </a:xfrm>
          <a:prstGeom prst="rect">
            <a:avLst/>
          </a:prstGeom>
          <a:noFill/>
          <a:ln/>
        </p:spPr>
        <p:txBody>
          <a:bodyPr wrap="square" lIns="0" tIns="0" rIns="0" bIns="0" rtlCol="0" anchor="t"/>
          <a:lstStyle/>
          <a:p>
            <a:pPr algn="ctr" indent="0" marL="0">
              <a:buNone/>
            </a:pPr>
            <a:r>
              <a:rPr lang="en-US" sz="1400" b="1" dirty="0">
                <a:solidFill>
                  <a:schemeClr val="accent3"/>
                </a:solidFill>
              </a:rPr>
              <a:t>MB — сдвиг центра кучки</a:t>
            </a:r>
            <a:endParaRPr lang="en-US" sz="1400" dirty="0"/>
          </a:p>
        </p:txBody>
      </p:sp>
      <p:sp>
        <p:nvSpPr>
          <p:cNvPr id="17" name="identity"/>
          <p:cNvSpPr/>
          <p:nvPr/>
        </p:nvSpPr>
        <p:spPr>
          <a:xfrm>
            <a:off x="6309360" y="1463040"/>
            <a:ext cx="5303520" cy="1371600"/>
          </a:xfrm>
          <a:prstGeom prst="roundRect">
            <a:avLst>
              <a:gd name="adj" fmla="val 5333"/>
            </a:avLst>
          </a:prstGeom>
          <a:solidFill>
            <a:schemeClr val="tx1"/>
          </a:solidFill>
          <a:ln/>
        </p:spPr>
      </p:sp>
      <p:sp>
        <p:nvSpPr>
          <p:cNvPr id="18" name="Text 15"/>
          <p:cNvSpPr txBox="1"/>
          <p:nvPr/>
        </p:nvSpPr>
        <p:spPr>
          <a:xfrm>
            <a:off x="6537960" y="1463040"/>
            <a:ext cx="4846320" cy="914400"/>
          </a:xfrm>
          <a:prstGeom prst="rect">
            <a:avLst/>
          </a:prstGeom>
          <a:noFill/>
          <a:ln/>
        </p:spPr>
        <p:txBody>
          <a:bodyPr wrap="square" lIns="0" tIns="0" rIns="0" bIns="0" rtlCol="0" anchor="ctr"/>
          <a:lstStyle/>
          <a:p>
            <a:pPr indent="0" marL="0">
              <a:buNone/>
            </a:pPr>
            <a:r>
              <a:rPr lang="en-US" sz="3000" b="1" dirty="0">
                <a:solidFill>
                  <a:schemeClr val="bg1"/>
                </a:solidFill>
              </a:rPr>
              <a:t>RMSE² = MB² + разброс²</a:t>
            </a:r>
            <a:endParaRPr lang="en-US" sz="3000" dirty="0"/>
          </a:p>
        </p:txBody>
      </p:sp>
      <p:sp>
        <p:nvSpPr>
          <p:cNvPr id="19" name="Text 16"/>
          <p:cNvSpPr txBox="1"/>
          <p:nvPr/>
        </p:nvSpPr>
        <p:spPr>
          <a:xfrm>
            <a:off x="6537960" y="2331720"/>
            <a:ext cx="4846320" cy="411480"/>
          </a:xfrm>
          <a:prstGeom prst="rect">
            <a:avLst/>
          </a:prstGeom>
          <a:noFill/>
          <a:ln/>
        </p:spPr>
        <p:txBody>
          <a:bodyPr wrap="square" lIns="0" tIns="0" rIns="0" bIns="0" rtlCol="0" anchor="t"/>
          <a:lstStyle/>
          <a:p>
            <a:pPr indent="0" marL="0">
              <a:buNone/>
            </a:pPr>
            <a:r>
              <a:rPr lang="en-US" sz="1400" dirty="0">
                <a:solidFill>
                  <a:schemeClr val="accent2"/>
                </a:solidFill>
              </a:rPr>
              <a:t>типичный промах складывается из сдвига и разброса</a:t>
            </a:r>
            <a:endParaRPr lang="en-US" sz="1400" dirty="0"/>
          </a:p>
        </p:txBody>
      </p:sp>
      <p:sp>
        <p:nvSpPr>
          <p:cNvPr id="20" name="mb0"/>
          <p:cNvSpPr/>
          <p:nvPr/>
        </p:nvSpPr>
        <p:spPr>
          <a:xfrm>
            <a:off x="6309360" y="3017520"/>
            <a:ext cx="5303520" cy="1188720"/>
          </a:xfrm>
          <a:prstGeom prst="roundRect">
            <a:avLst>
              <a:gd name="adj" fmla="val 6154"/>
            </a:avLst>
          </a:prstGeom>
          <a:solidFill>
            <a:schemeClr val="bg2"/>
          </a:solidFill>
          <a:ln/>
        </p:spPr>
      </p:sp>
      <p:sp>
        <p:nvSpPr>
          <p:cNvPr id="21" name="Text 18"/>
          <p:cNvSpPr txBox="1"/>
          <p:nvPr/>
        </p:nvSpPr>
        <p:spPr>
          <a:xfrm>
            <a:off x="6537960" y="3017520"/>
            <a:ext cx="4846320" cy="1188720"/>
          </a:xfrm>
          <a:prstGeom prst="rect">
            <a:avLst/>
          </a:prstGeom>
          <a:noFill/>
          <a:ln/>
        </p:spPr>
        <p:txBody>
          <a:bodyPr wrap="square" lIns="0" tIns="0" rIns="0" bIns="0" rtlCol="0" anchor="ctr"/>
          <a:lstStyle/>
          <a:p>
            <a:pPr indent="0" marL="0">
              <a:buNone/>
            </a:pPr>
            <a:r>
              <a:rPr lang="en-US" sz="1600" b="1" dirty="0">
                <a:solidFill>
                  <a:schemeClr val="accent1"/>
                </a:solidFill>
              </a:rPr>
              <a:t>MB ≈ 0: </a:t>
            </a:r>
            <a:pPr indent="0" marL="0">
              <a:buNone/>
            </a:pPr>
            <a:r>
              <a:rPr lang="en-US" sz="1600" dirty="0">
                <a:solidFill>
                  <a:schemeClr val="tx1"/>
                </a:solidFill>
              </a:rPr>
              <a:t>ошибки случайны, выше и ниже, при усреднении гасятся</a:t>
            </a:r>
            <a:endParaRPr lang="en-US" sz="1600" dirty="0"/>
          </a:p>
        </p:txBody>
      </p:sp>
      <p:sp>
        <p:nvSpPr>
          <p:cNvPr id="22" name="mbpos"/>
          <p:cNvSpPr/>
          <p:nvPr/>
        </p:nvSpPr>
        <p:spPr>
          <a:xfrm>
            <a:off x="6309360" y="4389120"/>
            <a:ext cx="5303520" cy="1188720"/>
          </a:xfrm>
          <a:prstGeom prst="roundRect">
            <a:avLst>
              <a:gd name="adj" fmla="val 6154"/>
            </a:avLst>
          </a:prstGeom>
          <a:solidFill>
            <a:schemeClr val="bg2"/>
          </a:solidFill>
          <a:ln/>
        </p:spPr>
      </p:sp>
      <p:sp>
        <p:nvSpPr>
          <p:cNvPr id="23" name="Text 20"/>
          <p:cNvSpPr txBox="1"/>
          <p:nvPr/>
        </p:nvSpPr>
        <p:spPr>
          <a:xfrm>
            <a:off x="6537960" y="4389120"/>
            <a:ext cx="4846320" cy="1188720"/>
          </a:xfrm>
          <a:prstGeom prst="rect">
            <a:avLst/>
          </a:prstGeom>
          <a:noFill/>
          <a:ln/>
        </p:spPr>
        <p:txBody>
          <a:bodyPr wrap="square" lIns="0" tIns="0" rIns="0" bIns="0" rtlCol="0" anchor="ctr"/>
          <a:lstStyle/>
          <a:p>
            <a:pPr indent="0" marL="0">
              <a:buNone/>
            </a:pPr>
            <a:r>
              <a:rPr lang="en-US" sz="1600" b="1" dirty="0">
                <a:solidFill>
                  <a:schemeClr val="accent3"/>
                </a:solidFill>
              </a:rPr>
              <a:t>MB &gt; 0: </a:t>
            </a:r>
            <a:pPr indent="0" marL="0">
              <a:buNone/>
            </a:pPr>
            <a:r>
              <a:rPr lang="en-US" sz="1600" dirty="0">
                <a:solidFill>
                  <a:schemeClr val="tx1"/>
                </a:solidFill>
              </a:rPr>
              <a:t>датчик систематически завышает, усреднение не помогает; это опасно для порога полива</a:t>
            </a:r>
            <a:endParaRPr lang="en-US" sz="1600" dirty="0"/>
          </a:p>
        </p:txBody>
      </p:sp>
      <p:sp>
        <p:nvSpPr>
          <p:cNvPr id="24" name="Text 21"/>
          <p:cNvSpPr txBox="1"/>
          <p:nvPr/>
        </p:nvSpPr>
        <p:spPr>
          <a:xfrm>
            <a:off x="6309360" y="5760720"/>
            <a:ext cx="5303520" cy="411480"/>
          </a:xfrm>
          <a:prstGeom prst="rect">
            <a:avLst/>
          </a:prstGeom>
          <a:noFill/>
          <a:ln/>
        </p:spPr>
        <p:txBody>
          <a:bodyPr wrap="square" lIns="0" tIns="0" rIns="0" bIns="0" rtlCol="0" anchor="t"/>
          <a:lstStyle/>
          <a:p>
            <a:pPr indent="0" marL="0">
              <a:buNone/>
            </a:pPr>
            <a:r>
              <a:rPr lang="en-US" sz="2000" b="1" dirty="0">
                <a:solidFill>
                  <a:schemeClr val="accent1"/>
                </a:solidFill>
              </a:rPr>
              <a:t>Критерий приемлемости: RMSE ≤ 0,02</a:t>
            </a:r>
            <a:endParaRPr lang="en-US" sz="20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1"/>
                </a:solidFill>
              </a:rPr>
              <a:t>Результат 1: точность хорошая, но есть градиент</a:t>
            </a:r>
            <a:endParaRPr lang="en-US" sz="3000" dirty="0"/>
          </a:p>
        </p:txBody>
      </p:sp>
      <p:graphicFrame>
        <p:nvGraphicFramePr>
          <p:cNvPr id="4" name="Chart 0" descr=""/>
          <p:cNvGraphicFramePr/>
          <p:nvPr/>
        </p:nvGraphicFramePr>
        <p:xfrm>
          <a:off x="548640" y="1371600"/>
          <a:ext cx="6949440" cy="4846320"/>
        </p:xfrm>
        <a:graphic xmlns:a="http://schemas.openxmlformats.org/drawingml/2006/main">
          <a:graphicData uri="http://schemas.openxmlformats.org/drawingml/2006/chart">
            <c:chart xmlns:c="http://schemas.openxmlformats.org/drawingml/2006/chart" r:id="rId1"/>
          </a:graphicData>
        </a:graphic>
      </p:graphicFrame>
      <p:sp>
        <p:nvSpPr>
          <p:cNvPr id="5" name="kpi-0"/>
          <p:cNvSpPr/>
          <p:nvPr/>
        </p:nvSpPr>
        <p:spPr>
          <a:xfrm>
            <a:off x="7863840" y="1371600"/>
            <a:ext cx="3749040" cy="1463040"/>
          </a:xfrm>
          <a:prstGeom prst="roundRect">
            <a:avLst>
              <a:gd name="adj" fmla="val 5000"/>
            </a:avLst>
          </a:prstGeom>
          <a:solidFill>
            <a:schemeClr val="bg2"/>
          </a:solidFill>
          <a:ln/>
        </p:spPr>
      </p:sp>
      <p:sp>
        <p:nvSpPr>
          <p:cNvPr id="6" name="Text 2"/>
          <p:cNvSpPr txBox="1"/>
          <p:nvPr/>
        </p:nvSpPr>
        <p:spPr>
          <a:xfrm>
            <a:off x="8092440" y="1463040"/>
            <a:ext cx="3383280" cy="548640"/>
          </a:xfrm>
          <a:prstGeom prst="rect">
            <a:avLst/>
          </a:prstGeom>
          <a:noFill/>
          <a:ln/>
        </p:spPr>
        <p:txBody>
          <a:bodyPr wrap="square" lIns="0" tIns="0" rIns="0" bIns="0" rtlCol="0" anchor="ctr"/>
          <a:lstStyle/>
          <a:p>
            <a:pPr indent="0" marL="0">
              <a:buNone/>
            </a:pPr>
            <a:r>
              <a:rPr lang="en-US" sz="2800" b="1" dirty="0">
                <a:solidFill>
                  <a:schemeClr val="accent1"/>
                </a:solidFill>
              </a:rPr>
              <a:t>0,006–0,014</a:t>
            </a:r>
            <a:endParaRPr lang="en-US" sz="2800" dirty="0"/>
          </a:p>
        </p:txBody>
      </p:sp>
      <p:sp>
        <p:nvSpPr>
          <p:cNvPr id="7" name="Text 3"/>
          <p:cNvSpPr txBox="1"/>
          <p:nvPr/>
        </p:nvSpPr>
        <p:spPr>
          <a:xfrm>
            <a:off x="8092440" y="2057400"/>
            <a:ext cx="3383280" cy="731520"/>
          </a:xfrm>
          <a:prstGeom prst="rect">
            <a:avLst/>
          </a:prstGeom>
          <a:noFill/>
          <a:ln/>
        </p:spPr>
        <p:txBody>
          <a:bodyPr wrap="square" lIns="0" tIns="0" rIns="0" bIns="0" rtlCol="0" anchor="t"/>
          <a:lstStyle/>
          <a:p>
            <a:pPr indent="0" marL="0">
              <a:buNone/>
            </a:pPr>
            <a:r>
              <a:rPr lang="en-US" sz="1400" dirty="0">
                <a:solidFill>
                  <a:schemeClr val="tx1"/>
                </a:solidFill>
              </a:rPr>
              <a:t>RMSE во всех шести вариантах: ниже критерия 0,02</a:t>
            </a:r>
            <a:endParaRPr lang="en-US" sz="1400" dirty="0"/>
          </a:p>
        </p:txBody>
      </p:sp>
      <p:sp>
        <p:nvSpPr>
          <p:cNvPr id="8" name="kpi-1"/>
          <p:cNvSpPr/>
          <p:nvPr/>
        </p:nvSpPr>
        <p:spPr>
          <a:xfrm>
            <a:off x="7863840" y="3017520"/>
            <a:ext cx="3749040" cy="1463040"/>
          </a:xfrm>
          <a:prstGeom prst="roundRect">
            <a:avLst>
              <a:gd name="adj" fmla="val 5000"/>
            </a:avLst>
          </a:prstGeom>
          <a:solidFill>
            <a:schemeClr val="bg2"/>
          </a:solidFill>
          <a:ln/>
        </p:spPr>
      </p:sp>
      <p:sp>
        <p:nvSpPr>
          <p:cNvPr id="9" name="Text 5"/>
          <p:cNvSpPr txBox="1"/>
          <p:nvPr/>
        </p:nvSpPr>
        <p:spPr>
          <a:xfrm>
            <a:off x="8092440" y="3108960"/>
            <a:ext cx="3383280" cy="548640"/>
          </a:xfrm>
          <a:prstGeom prst="rect">
            <a:avLst/>
          </a:prstGeom>
          <a:noFill/>
          <a:ln/>
        </p:spPr>
        <p:txBody>
          <a:bodyPr wrap="square" lIns="0" tIns="0" rIns="0" bIns="0" rtlCol="0" anchor="ctr"/>
          <a:lstStyle/>
          <a:p>
            <a:pPr indent="0" marL="0">
              <a:buNone/>
            </a:pPr>
            <a:r>
              <a:rPr lang="en-US" sz="2800" b="1" dirty="0">
                <a:solidFill>
                  <a:schemeClr val="accent4"/>
                </a:solidFill>
              </a:rPr>
              <a:t>1 : 1,5 : 2</a:t>
            </a:r>
            <a:endParaRPr lang="en-US" sz="2800" dirty="0"/>
          </a:p>
        </p:txBody>
      </p:sp>
      <p:sp>
        <p:nvSpPr>
          <p:cNvPr id="10" name="Text 6"/>
          <p:cNvSpPr txBox="1"/>
          <p:nvPr/>
        </p:nvSpPr>
        <p:spPr>
          <a:xfrm>
            <a:off x="8092440" y="3703320"/>
            <a:ext cx="3383280" cy="731520"/>
          </a:xfrm>
          <a:prstGeom prst="rect">
            <a:avLst/>
          </a:prstGeom>
          <a:noFill/>
          <a:ln/>
        </p:spPr>
        <p:txBody>
          <a:bodyPr wrap="square" lIns="0" tIns="0" rIns="0" bIns="0" rtlCol="0" anchor="t"/>
          <a:lstStyle/>
          <a:p>
            <a:pPr indent="0" marL="0">
              <a:buNone/>
            </a:pPr>
            <a:r>
              <a:rPr lang="en-US" sz="1400" dirty="0">
                <a:solidFill>
                  <a:schemeClr val="tx1"/>
                </a:solidFill>
              </a:rPr>
              <a:t>рост RMSE от группы A к B и C (0,0065; 0,0100; 0,0130)</a:t>
            </a:r>
            <a:endParaRPr lang="en-US" sz="1400" dirty="0"/>
          </a:p>
        </p:txBody>
      </p:sp>
      <p:sp>
        <p:nvSpPr>
          <p:cNvPr id="11" name="kpi-2"/>
          <p:cNvSpPr/>
          <p:nvPr/>
        </p:nvSpPr>
        <p:spPr>
          <a:xfrm>
            <a:off x="7863840" y="4663440"/>
            <a:ext cx="3749040" cy="1463040"/>
          </a:xfrm>
          <a:prstGeom prst="roundRect">
            <a:avLst>
              <a:gd name="adj" fmla="val 5000"/>
            </a:avLst>
          </a:prstGeom>
          <a:solidFill>
            <a:schemeClr val="bg2"/>
          </a:solidFill>
          <a:ln/>
        </p:spPr>
      </p:sp>
      <p:sp>
        <p:nvSpPr>
          <p:cNvPr id="12" name="Text 8"/>
          <p:cNvSpPr txBox="1"/>
          <p:nvPr/>
        </p:nvSpPr>
        <p:spPr>
          <a:xfrm>
            <a:off x="8092440" y="4754880"/>
            <a:ext cx="3383280" cy="548640"/>
          </a:xfrm>
          <a:prstGeom prst="rect">
            <a:avLst/>
          </a:prstGeom>
          <a:noFill/>
          <a:ln/>
        </p:spPr>
        <p:txBody>
          <a:bodyPr wrap="square" lIns="0" tIns="0" rIns="0" bIns="0" rtlCol="0" anchor="ctr"/>
          <a:lstStyle/>
          <a:p>
            <a:pPr indent="0" marL="0">
              <a:buNone/>
            </a:pPr>
            <a:r>
              <a:rPr lang="en-US" sz="2800" b="1" dirty="0">
                <a:solidFill>
                  <a:schemeClr val="accent3"/>
                </a:solidFill>
              </a:rPr>
              <a:t>MB &gt; 0</a:t>
            </a:r>
            <a:endParaRPr lang="en-US" sz="2800" dirty="0"/>
          </a:p>
        </p:txBody>
      </p:sp>
      <p:sp>
        <p:nvSpPr>
          <p:cNvPr id="13" name="Text 9"/>
          <p:cNvSpPr txBox="1"/>
          <p:nvPr/>
        </p:nvSpPr>
        <p:spPr>
          <a:xfrm>
            <a:off x="8092440" y="5349240"/>
            <a:ext cx="3383280" cy="731520"/>
          </a:xfrm>
          <a:prstGeom prst="rect">
            <a:avLst/>
          </a:prstGeom>
          <a:noFill/>
          <a:ln/>
        </p:spPr>
        <p:txBody>
          <a:bodyPr wrap="square" lIns="0" tIns="0" rIns="0" bIns="0" rtlCol="0" anchor="t"/>
          <a:lstStyle/>
          <a:p>
            <a:pPr indent="0" marL="0">
              <a:buNone/>
            </a:pPr>
            <a:r>
              <a:rPr lang="en-US" sz="1400" dirty="0">
                <a:solidFill>
                  <a:schemeClr val="tx1"/>
                </a:solidFill>
              </a:rPr>
              <a:t>везде завышение; в A неотличимо от нуля, в B и C +0,006…+0,010</a:t>
            </a:r>
            <a:endParaRPr lang="en-US" sz="14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1"/>
                </a:solidFill>
              </a:rPr>
              <a:t>Результат 2: линейка, которая растягивается</a:t>
            </a:r>
            <a:endParaRPr lang="en-US" sz="3000" dirty="0"/>
          </a:p>
        </p:txBody>
      </p:sp>
      <p:graphicFrame>
        <p:nvGraphicFramePr>
          <p:cNvPr id="4" name="Chart 0" descr=""/>
          <p:cNvGraphicFramePr/>
          <p:nvPr/>
        </p:nvGraphicFramePr>
        <p:xfrm>
          <a:off x="548640" y="1371600"/>
          <a:ext cx="7315200" cy="489204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8138160" y="1371600"/>
            <a:ext cx="3474720" cy="365760"/>
          </a:xfrm>
          <a:prstGeom prst="rect">
            <a:avLst/>
          </a:prstGeom>
          <a:noFill/>
          <a:ln/>
        </p:spPr>
        <p:txBody>
          <a:bodyPr wrap="square" lIns="0" tIns="0" rIns="0" bIns="0" rtlCol="0" anchor="t"/>
          <a:lstStyle/>
          <a:p>
            <a:pPr indent="0" marL="0">
              <a:buNone/>
            </a:pPr>
            <a:r>
              <a:rPr lang="en-US" sz="1400" b="1" dirty="0">
                <a:solidFill>
                  <a:schemeClr val="tx2"/>
                </a:solidFill>
              </a:rPr>
              <a:t>Прирост ошибки при θ от 0,20 до 0,40</a:t>
            </a:r>
            <a:endParaRPr lang="en-US" sz="1400" dirty="0"/>
          </a:p>
        </p:txBody>
      </p:sp>
      <p:sp>
        <p:nvSpPr>
          <p:cNvPr id="6" name="inc-0"/>
          <p:cNvSpPr/>
          <p:nvPr/>
        </p:nvSpPr>
        <p:spPr>
          <a:xfrm>
            <a:off x="8138160" y="1783080"/>
            <a:ext cx="3474720" cy="640080"/>
          </a:xfrm>
          <a:prstGeom prst="roundRect">
            <a:avLst>
              <a:gd name="adj" fmla="val 11429"/>
            </a:avLst>
          </a:prstGeom>
          <a:solidFill>
            <a:schemeClr val="bg2"/>
          </a:solidFill>
          <a:ln/>
        </p:spPr>
      </p:sp>
      <p:sp>
        <p:nvSpPr>
          <p:cNvPr id="7" name="badge"/>
          <p:cNvSpPr/>
          <p:nvPr/>
        </p:nvSpPr>
        <p:spPr>
          <a:xfrm>
            <a:off x="8275320" y="1874520"/>
            <a:ext cx="457200" cy="457200"/>
          </a:xfrm>
          <a:prstGeom prst="ellipse">
            <a:avLst/>
          </a:prstGeom>
          <a:solidFill>
            <a:schemeClr val="accent1"/>
          </a:solidFill>
          <a:ln/>
        </p:spPr>
      </p:sp>
      <p:sp>
        <p:nvSpPr>
          <p:cNvPr id="8" name="Text 4"/>
          <p:cNvSpPr txBox="1"/>
          <p:nvPr/>
        </p:nvSpPr>
        <p:spPr>
          <a:xfrm>
            <a:off x="8275320" y="18745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9" name="Text 5"/>
          <p:cNvSpPr txBox="1"/>
          <p:nvPr/>
        </p:nvSpPr>
        <p:spPr>
          <a:xfrm>
            <a:off x="8915400" y="1783080"/>
            <a:ext cx="2560320" cy="640080"/>
          </a:xfrm>
          <a:prstGeom prst="rect">
            <a:avLst/>
          </a:prstGeom>
          <a:noFill/>
          <a:ln/>
        </p:spPr>
        <p:txBody>
          <a:bodyPr wrap="square" lIns="0" tIns="0" rIns="0" bIns="0" rtlCol="0" anchor="ctr"/>
          <a:lstStyle/>
          <a:p>
            <a:pPr indent="0" marL="0">
              <a:buNone/>
            </a:pPr>
            <a:r>
              <a:rPr lang="en-US" sz="2200" b="1" dirty="0">
                <a:solidFill>
                  <a:schemeClr val="tx1"/>
                </a:solidFill>
              </a:rPr>
              <a:t>+0,008 м³/м³</a:t>
            </a:r>
            <a:endParaRPr lang="en-US" sz="2200" dirty="0"/>
          </a:p>
        </p:txBody>
      </p:sp>
      <p:sp>
        <p:nvSpPr>
          <p:cNvPr id="10" name="inc-1"/>
          <p:cNvSpPr/>
          <p:nvPr/>
        </p:nvSpPr>
        <p:spPr>
          <a:xfrm>
            <a:off x="8138160" y="2560320"/>
            <a:ext cx="3474720" cy="640080"/>
          </a:xfrm>
          <a:prstGeom prst="roundRect">
            <a:avLst>
              <a:gd name="adj" fmla="val 11429"/>
            </a:avLst>
          </a:prstGeom>
          <a:solidFill>
            <a:schemeClr val="bg2"/>
          </a:solidFill>
          <a:ln/>
        </p:spPr>
      </p:sp>
      <p:sp>
        <p:nvSpPr>
          <p:cNvPr id="11" name="badge"/>
          <p:cNvSpPr/>
          <p:nvPr/>
        </p:nvSpPr>
        <p:spPr>
          <a:xfrm>
            <a:off x="8275320" y="2651760"/>
            <a:ext cx="457200" cy="457200"/>
          </a:xfrm>
          <a:prstGeom prst="ellipse">
            <a:avLst/>
          </a:prstGeom>
          <a:solidFill>
            <a:schemeClr val="accent4"/>
          </a:solidFill>
          <a:ln/>
        </p:spPr>
      </p:sp>
      <p:sp>
        <p:nvSpPr>
          <p:cNvPr id="12" name="Text 8"/>
          <p:cNvSpPr txBox="1"/>
          <p:nvPr/>
        </p:nvSpPr>
        <p:spPr>
          <a:xfrm>
            <a:off x="8275320" y="26517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3" name="Text 9"/>
          <p:cNvSpPr txBox="1"/>
          <p:nvPr/>
        </p:nvSpPr>
        <p:spPr>
          <a:xfrm>
            <a:off x="8915400" y="2560320"/>
            <a:ext cx="2560320" cy="640080"/>
          </a:xfrm>
          <a:prstGeom prst="rect">
            <a:avLst/>
          </a:prstGeom>
          <a:noFill/>
          <a:ln/>
        </p:spPr>
        <p:txBody>
          <a:bodyPr wrap="square" lIns="0" tIns="0" rIns="0" bIns="0" rtlCol="0" anchor="ctr"/>
          <a:lstStyle/>
          <a:p>
            <a:pPr indent="0" marL="0">
              <a:buNone/>
            </a:pPr>
            <a:r>
              <a:rPr lang="en-US" sz="2200" b="1" dirty="0">
                <a:solidFill>
                  <a:schemeClr val="tx1"/>
                </a:solidFill>
              </a:rPr>
              <a:t>+0,014 м³/м³</a:t>
            </a:r>
            <a:endParaRPr lang="en-US" sz="2200" dirty="0"/>
          </a:p>
        </p:txBody>
      </p:sp>
      <p:sp>
        <p:nvSpPr>
          <p:cNvPr id="14" name="inc-2"/>
          <p:cNvSpPr/>
          <p:nvPr/>
        </p:nvSpPr>
        <p:spPr>
          <a:xfrm>
            <a:off x="8138160" y="3337560"/>
            <a:ext cx="3474720" cy="640080"/>
          </a:xfrm>
          <a:prstGeom prst="roundRect">
            <a:avLst>
              <a:gd name="adj" fmla="val 11429"/>
            </a:avLst>
          </a:prstGeom>
          <a:solidFill>
            <a:schemeClr val="bg2"/>
          </a:solidFill>
          <a:ln/>
        </p:spPr>
      </p:sp>
      <p:sp>
        <p:nvSpPr>
          <p:cNvPr id="15" name="badge"/>
          <p:cNvSpPr/>
          <p:nvPr/>
        </p:nvSpPr>
        <p:spPr>
          <a:xfrm>
            <a:off x="8275320" y="3429000"/>
            <a:ext cx="457200" cy="457200"/>
          </a:xfrm>
          <a:prstGeom prst="ellipse">
            <a:avLst/>
          </a:prstGeom>
          <a:solidFill>
            <a:schemeClr val="accent3"/>
          </a:solidFill>
          <a:ln/>
        </p:spPr>
      </p:sp>
      <p:sp>
        <p:nvSpPr>
          <p:cNvPr id="16" name="Text 12"/>
          <p:cNvSpPr txBox="1"/>
          <p:nvPr/>
        </p:nvSpPr>
        <p:spPr>
          <a:xfrm>
            <a:off x="8275320" y="34290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7" name="Text 13"/>
          <p:cNvSpPr txBox="1"/>
          <p:nvPr/>
        </p:nvSpPr>
        <p:spPr>
          <a:xfrm>
            <a:off x="8915400" y="3337560"/>
            <a:ext cx="2560320" cy="640080"/>
          </a:xfrm>
          <a:prstGeom prst="rect">
            <a:avLst/>
          </a:prstGeom>
          <a:noFill/>
          <a:ln/>
        </p:spPr>
        <p:txBody>
          <a:bodyPr wrap="square" lIns="0" tIns="0" rIns="0" bIns="0" rtlCol="0" anchor="ctr"/>
          <a:lstStyle/>
          <a:p>
            <a:pPr indent="0" marL="0">
              <a:buNone/>
            </a:pPr>
            <a:r>
              <a:rPr lang="en-US" sz="2200" b="1" dirty="0">
                <a:solidFill>
                  <a:schemeClr val="tx1"/>
                </a:solidFill>
              </a:rPr>
              <a:t>+0,021 м³/м³</a:t>
            </a:r>
            <a:endParaRPr lang="en-US" sz="2200" dirty="0"/>
          </a:p>
        </p:txBody>
      </p:sp>
      <p:sp>
        <p:nvSpPr>
          <p:cNvPr id="18" name="ratio-card"/>
          <p:cNvSpPr/>
          <p:nvPr/>
        </p:nvSpPr>
        <p:spPr>
          <a:xfrm>
            <a:off x="8138160" y="4206240"/>
            <a:ext cx="3474720" cy="2057400"/>
          </a:xfrm>
          <a:prstGeom prst="roundRect">
            <a:avLst>
              <a:gd name="adj" fmla="val 3556"/>
            </a:avLst>
          </a:prstGeom>
          <a:solidFill>
            <a:schemeClr val="tx1"/>
          </a:solidFill>
          <a:ln/>
        </p:spPr>
      </p:sp>
      <p:sp>
        <p:nvSpPr>
          <p:cNvPr id="19" name="Text 15"/>
          <p:cNvSpPr txBox="1"/>
          <p:nvPr/>
        </p:nvSpPr>
        <p:spPr>
          <a:xfrm>
            <a:off x="8366760" y="4251960"/>
            <a:ext cx="3017520" cy="822960"/>
          </a:xfrm>
          <a:prstGeom prst="rect">
            <a:avLst/>
          </a:prstGeom>
          <a:noFill/>
          <a:ln/>
        </p:spPr>
        <p:txBody>
          <a:bodyPr wrap="square" lIns="0" tIns="0" rIns="0" bIns="0" rtlCol="0" anchor="ctr"/>
          <a:lstStyle/>
          <a:p>
            <a:pPr indent="0" marL="0">
              <a:buNone/>
            </a:pPr>
            <a:r>
              <a:rPr lang="en-US" sz="4400" b="1" dirty="0">
                <a:solidFill>
                  <a:schemeClr val="accent2"/>
                </a:solidFill>
              </a:rPr>
              <a:t>2,6×</a:t>
            </a:r>
            <a:endParaRPr lang="en-US" sz="4400" dirty="0"/>
          </a:p>
        </p:txBody>
      </p:sp>
      <p:sp>
        <p:nvSpPr>
          <p:cNvPr id="20" name="Text 16"/>
          <p:cNvSpPr txBox="1"/>
          <p:nvPr/>
        </p:nvSpPr>
        <p:spPr>
          <a:xfrm>
            <a:off x="8366760" y="5074920"/>
            <a:ext cx="3017520" cy="1143000"/>
          </a:xfrm>
          <a:prstGeom prst="rect">
            <a:avLst/>
          </a:prstGeom>
          <a:noFill/>
          <a:ln/>
        </p:spPr>
        <p:txBody>
          <a:bodyPr wrap="square" lIns="0" tIns="0" rIns="0" bIns="0" rtlCol="0" anchor="t"/>
          <a:lstStyle/>
          <a:p>
            <a:pPr indent="0" marL="0">
              <a:buNone/>
            </a:pPr>
            <a:r>
              <a:rPr lang="en-US" sz="1400" dirty="0">
                <a:solidFill>
                  <a:schemeClr val="bg1"/>
                </a:solidFill>
              </a:rPr>
              <a:t>во столько раз ошибка в C прирастает сильнее, чем в A. Пустые состояния (0,44 и 0,48) показывают +0,031 и +0,038: кривая не выходит на плато</a:t>
            </a:r>
            <a:endParaRPr lang="en-US" sz="14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1"/>
                </a:solidFill>
              </a:rPr>
              <a:t>Доказательство: когда шум заглушает сигнал</a:t>
            </a:r>
            <a:endParaRPr lang="en-US" sz="3000" dirty="0"/>
          </a:p>
        </p:txBody>
      </p:sp>
      <p:graphicFrame>
        <p:nvGraphicFramePr>
          <p:cNvPr id="4" name="Chart 0" descr=""/>
          <p:cNvGraphicFramePr/>
          <p:nvPr/>
        </p:nvGraphicFramePr>
        <p:xfrm>
          <a:off x="548640" y="1371600"/>
          <a:ext cx="5303520" cy="4846320"/>
        </p:xfrm>
        <a:graphic xmlns:a="http://schemas.openxmlformats.org/drawingml/2006/main">
          <a:graphicData uri="http://schemas.openxmlformats.org/drawingml/2006/chart">
            <c:chart xmlns:c="http://schemas.openxmlformats.org/drawingml/2006/chart" r:id="rId1"/>
          </a:graphicData>
        </a:graphic>
      </p:graphicFrame>
      <p:sp>
        <p:nvSpPr>
          <p:cNvPr id="5" name="between"/>
          <p:cNvSpPr/>
          <p:nvPr/>
        </p:nvSpPr>
        <p:spPr>
          <a:xfrm>
            <a:off x="6217920" y="1371600"/>
            <a:ext cx="5394960" cy="1417320"/>
          </a:xfrm>
          <a:prstGeom prst="roundRect">
            <a:avLst>
              <a:gd name="adj" fmla="val 5161"/>
            </a:avLst>
          </a:prstGeom>
          <a:solidFill>
            <a:schemeClr val="bg2"/>
          </a:solidFill>
          <a:ln/>
        </p:spPr>
      </p:sp>
      <p:sp>
        <p:nvSpPr>
          <p:cNvPr id="6" name="Text 2"/>
          <p:cNvSpPr txBox="1"/>
          <p:nvPr/>
        </p:nvSpPr>
        <p:spPr>
          <a:xfrm>
            <a:off x="6446520" y="1371600"/>
            <a:ext cx="4937760" cy="1417320"/>
          </a:xfrm>
          <a:prstGeom prst="rect">
            <a:avLst/>
          </a:prstGeom>
          <a:noFill/>
          <a:ln/>
        </p:spPr>
        <p:txBody>
          <a:bodyPr wrap="square" lIns="0" tIns="0" rIns="0" bIns="0" rtlCol="0" anchor="ctr"/>
          <a:lstStyle/>
          <a:p>
            <a:pPr indent="0" marL="0">
              <a:buNone/>
            </a:pPr>
            <a:r>
              <a:rPr lang="en-US" sz="2000" b="1" dirty="0">
                <a:solidFill>
                  <a:schemeClr val="accent3"/>
                </a:solidFill>
              </a:rPr>
              <a:t>≈ 10 % между вариантами</a:t>
            </a:r>
            <a:endParaRPr lang="en-US" sz="1600" dirty="0"/>
          </a:p>
          <a:p>
            <a:pPr indent="0" marL="0">
              <a:buNone/>
            </a:pPr>
            <a:r>
              <a:rPr lang="en-US" sz="1400" dirty="0">
                <a:solidFill>
                  <a:schemeClr val="tx1"/>
                </a:solidFill>
              </a:rPr>
              <a:t>то, что мы хотим «услышать»: влияние почвы и плотности</a:t>
            </a:r>
            <a:endParaRPr lang="en-US" sz="1600" dirty="0"/>
          </a:p>
        </p:txBody>
      </p:sp>
      <p:sp>
        <p:nvSpPr>
          <p:cNvPr id="7" name="within"/>
          <p:cNvSpPr/>
          <p:nvPr/>
        </p:nvSpPr>
        <p:spPr>
          <a:xfrm>
            <a:off x="6217920" y="2926080"/>
            <a:ext cx="5394960" cy="1417320"/>
          </a:xfrm>
          <a:prstGeom prst="roundRect">
            <a:avLst>
              <a:gd name="adj" fmla="val 5161"/>
            </a:avLst>
          </a:prstGeom>
          <a:solidFill>
            <a:schemeClr val="bg2"/>
          </a:solidFill>
          <a:ln/>
        </p:spPr>
      </p:sp>
      <p:sp>
        <p:nvSpPr>
          <p:cNvPr id="8" name="Text 4"/>
          <p:cNvSpPr txBox="1"/>
          <p:nvPr/>
        </p:nvSpPr>
        <p:spPr>
          <a:xfrm>
            <a:off x="6446520" y="2926080"/>
            <a:ext cx="4937760" cy="1417320"/>
          </a:xfrm>
          <a:prstGeom prst="rect">
            <a:avLst/>
          </a:prstGeom>
          <a:noFill/>
          <a:ln/>
        </p:spPr>
        <p:txBody>
          <a:bodyPr wrap="square" lIns="0" tIns="0" rIns="0" bIns="0" rtlCol="0" anchor="ctr"/>
          <a:lstStyle/>
          <a:p>
            <a:pPr indent="0" marL="0">
              <a:buNone/>
            </a:pPr>
            <a:r>
              <a:rPr lang="en-US" sz="2000" b="1" dirty="0">
                <a:solidFill>
                  <a:schemeClr val="accent5"/>
                </a:solidFill>
              </a:rPr>
              <a:t>≈ 90 % внутри вариантов</a:t>
            </a:r>
            <a:endParaRPr lang="en-US" sz="1600" dirty="0"/>
          </a:p>
          <a:p>
            <a:pPr indent="0" marL="0">
              <a:buNone/>
            </a:pPr>
            <a:r>
              <a:rPr lang="en-US" sz="1400" dirty="0">
                <a:solidFill>
                  <a:schemeClr val="tx1"/>
                </a:solidFill>
              </a:rPr>
              <a:t>«музыка на концерте»: почти целиком рост ошибки с влажностью</a:t>
            </a:r>
            <a:endParaRPr lang="en-US" sz="1600" dirty="0"/>
          </a:p>
        </p:txBody>
      </p:sp>
      <p:sp>
        <p:nvSpPr>
          <p:cNvPr id="9" name="verdict"/>
          <p:cNvSpPr/>
          <p:nvPr/>
        </p:nvSpPr>
        <p:spPr>
          <a:xfrm>
            <a:off x="6217920" y="4480560"/>
            <a:ext cx="5394960" cy="1737360"/>
          </a:xfrm>
          <a:prstGeom prst="roundRect">
            <a:avLst>
              <a:gd name="adj" fmla="val 4211"/>
            </a:avLst>
          </a:prstGeom>
          <a:solidFill>
            <a:schemeClr val="tx1"/>
          </a:solidFill>
          <a:ln/>
        </p:spPr>
      </p:sp>
      <p:sp>
        <p:nvSpPr>
          <p:cNvPr id="10" name="Text 6"/>
          <p:cNvSpPr txBox="1"/>
          <p:nvPr/>
        </p:nvSpPr>
        <p:spPr>
          <a:xfrm>
            <a:off x="6446520" y="4572000"/>
            <a:ext cx="4937760" cy="502920"/>
          </a:xfrm>
          <a:prstGeom prst="rect">
            <a:avLst/>
          </a:prstGeom>
          <a:noFill/>
          <a:ln/>
        </p:spPr>
        <p:txBody>
          <a:bodyPr wrap="square" lIns="0" tIns="0" rIns="0" bIns="0" rtlCol="0" anchor="ctr"/>
          <a:lstStyle/>
          <a:p>
            <a:pPr indent="0" marL="0">
              <a:buNone/>
            </a:pPr>
            <a:r>
              <a:rPr lang="en-US" sz="2000" b="1" dirty="0">
                <a:solidFill>
                  <a:schemeClr val="bg1"/>
                </a:solidFill>
              </a:rPr>
              <a:t>Почва: F(2; 54) = 2,74; p = 0,074</a:t>
            </a:r>
            <a:endParaRPr lang="en-US" sz="2000" dirty="0"/>
          </a:p>
        </p:txBody>
      </p:sp>
      <p:sp>
        <p:nvSpPr>
          <p:cNvPr id="11" name="Text 7"/>
          <p:cNvSpPr txBox="1"/>
          <p:nvPr/>
        </p:nvSpPr>
        <p:spPr>
          <a:xfrm>
            <a:off x="6446520" y="5120640"/>
            <a:ext cx="4937760" cy="1005840"/>
          </a:xfrm>
          <a:prstGeom prst="rect">
            <a:avLst/>
          </a:prstGeom>
          <a:noFill/>
          <a:ln/>
        </p:spPr>
        <p:txBody>
          <a:bodyPr wrap="square" lIns="0" tIns="0" rIns="0" bIns="0" rtlCol="0" anchor="t"/>
          <a:lstStyle/>
          <a:p>
            <a:pPr indent="0" marL="0">
              <a:buNone/>
            </a:pPr>
            <a:r>
              <a:rPr lang="en-US" sz="1400" b="1" dirty="0">
                <a:solidFill>
                  <a:schemeClr val="accent2"/>
                </a:solidFill>
              </a:rPr>
              <a:t>«Не значимо» ≠ «эффекта нет». </a:t>
            </a:r>
            <a:pPr indent="0" marL="0">
              <a:buNone/>
            </a:pPr>
            <a:r>
              <a:rPr lang="en-US" sz="1400" dirty="0">
                <a:solidFill>
                  <a:schemeClr val="bg1"/>
                </a:solidFill>
              </a:rPr>
              <a:t>Тест говорит лишь, что на таком шумовом фоне эффект не слышен</a:t>
            </a:r>
            <a:endParaRPr lang="en-US" sz="14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1"/>
                </a:solidFill>
              </a:rPr>
              <a:t>Доказательство: сравнение на одной влажности</a:t>
            </a:r>
            <a:endParaRPr lang="en-US" sz="3000" dirty="0"/>
          </a:p>
        </p:txBody>
      </p:sp>
      <p:graphicFrame>
        <p:nvGraphicFramePr>
          <p:cNvPr id="14" name="checkpoints"/>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011680"/>
                <a:gridCol w="1508760"/>
                <a:gridCol w="1508760"/>
                <a:gridCol w="1508760"/>
                <a:gridCol w="1508760"/>
                <a:gridCol w="1508760"/>
                <a:gridCol w="1508760"/>
              </a:tblGrid>
              <a:tr h="457200">
                <a:tc>
                  <a:txBody>
                    <a:bodyPr/>
                    <a:lstStyle/>
                    <a:p>
                      <a:pPr algn="l" indent="0" marL="0">
                        <a:buNone/>
                      </a:pPr>
                      <a:r>
                        <a:rPr lang="en-US" sz="1400" b="1" dirty="0">
                          <a:solidFill>
                            <a:schemeClr val="bg1"/>
                          </a:solidFill>
                        </a:rPr>
                        <a:t>θ, м³/м³</a:t>
                      </a:r>
                      <a:endParaRPr lang="en-US" sz="1400" dirty="0"/>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0,05</a:t>
                      </a:r>
                      <a:endParaRPr lang="en-US" sz="1400" dirty="0"/>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0,10</a:t>
                      </a:r>
                      <a:endParaRPr lang="en-US" sz="1400" dirty="0"/>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0,20</a:t>
                      </a:r>
                      <a:endParaRPr lang="en-US" sz="1400" dirty="0"/>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0,30</a:t>
                      </a:r>
                      <a:endParaRPr lang="en-US" sz="1400" dirty="0"/>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0,38</a:t>
                      </a:r>
                      <a:endParaRPr lang="en-US" sz="1400" dirty="0"/>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0,40</a:t>
                      </a:r>
                      <a:endParaRPr lang="en-US" sz="1400" dirty="0"/>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1"/>
                    </a:solidFill>
                  </a:tcPr>
                </a:tc>
              </a:tr>
              <a:tr h="594360">
                <a:tc>
                  <a:txBody>
                    <a:bodyPr/>
                    <a:lstStyle/>
                    <a:p>
                      <a:pPr indent="0" marL="0">
                        <a:buNone/>
                      </a:pPr>
                      <a:r>
                        <a:rPr lang="en-US" sz="1600" b="1" dirty="0">
                          <a:solidFill>
                            <a:schemeClr val="bg1"/>
                          </a:solidFill>
                        </a:rPr>
                        <a:t>Группа A</a:t>
                      </a:r>
                      <a:endParaRPr lang="en-US" sz="1600" dirty="0"/>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600" dirty="0">
                          <a:solidFill>
                            <a:schemeClr val="tx1"/>
                          </a:solidFill>
                        </a:rPr>
                        <a:t>0,000</a:t>
                      </a:r>
                      <a:endParaRPr lang="en-US" sz="1600" dirty="0"/>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0,001</a:t>
                      </a:r>
                      <a:endParaRPr lang="en-US" sz="1600" dirty="0"/>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0,003</a:t>
                      </a:r>
                      <a:endParaRPr lang="en-US" sz="1600" dirty="0"/>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0,005</a:t>
                      </a:r>
                      <a:endParaRPr lang="en-US" sz="1600" dirty="0"/>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0,010</a:t>
                      </a:r>
                      <a:endParaRPr lang="en-US" sz="1600" dirty="0"/>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0,011</a:t>
                      </a:r>
                      <a:endParaRPr lang="en-US" sz="1600" dirty="0"/>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594360">
                <a:tc>
                  <a:txBody>
                    <a:bodyPr/>
                    <a:lstStyle/>
                    <a:p>
                      <a:pPr indent="0" marL="0">
                        <a:buNone/>
                      </a:pPr>
                      <a:r>
                        <a:rPr lang="en-US" sz="1600" b="1" dirty="0">
                          <a:solidFill>
                            <a:schemeClr val="bg1"/>
                          </a:solidFill>
                        </a:rPr>
                        <a:t>Группа B</a:t>
                      </a:r>
                      <a:endParaRPr lang="en-US" sz="1600" dirty="0"/>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4"/>
                    </a:solidFill>
                  </a:tcPr>
                </a:tc>
                <a:tc>
                  <a:txBody>
                    <a:bodyPr/>
                    <a:lstStyle/>
                    <a:p>
                      <a:pPr algn="ctr" indent="0" marL="0">
                        <a:buNone/>
                      </a:pPr>
                      <a:r>
                        <a:rPr lang="en-US" sz="1600" dirty="0">
                          <a:solidFill>
                            <a:schemeClr val="tx1"/>
                          </a:solidFill>
                        </a:rPr>
                        <a:t>0,001</a:t>
                      </a:r>
                      <a:endParaRPr lang="en-US" sz="1600" dirty="0"/>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0,002</a:t>
                      </a:r>
                      <a:endParaRPr lang="en-US" sz="1600" dirty="0"/>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0,005</a:t>
                      </a:r>
                      <a:endParaRPr lang="en-US" sz="1600" dirty="0"/>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0,009</a:t>
                      </a:r>
                      <a:endParaRPr lang="en-US" sz="1600" dirty="0"/>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0,017</a:t>
                      </a:r>
                      <a:endParaRPr lang="en-US" sz="1600" dirty="0"/>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0,019</a:t>
                      </a:r>
                      <a:endParaRPr lang="en-US" sz="1600" dirty="0"/>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594360">
                <a:tc>
                  <a:txBody>
                    <a:bodyPr/>
                    <a:lstStyle/>
                    <a:p>
                      <a:pPr indent="0" marL="0">
                        <a:buNone/>
                      </a:pPr>
                      <a:r>
                        <a:rPr lang="en-US" sz="1600" b="1" dirty="0">
                          <a:solidFill>
                            <a:schemeClr val="bg1"/>
                          </a:solidFill>
                        </a:rPr>
                        <a:t>Группа C</a:t>
                      </a:r>
                      <a:endParaRPr lang="en-US" sz="1600" dirty="0"/>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3"/>
                    </a:solidFill>
                  </a:tcPr>
                </a:tc>
                <a:tc>
                  <a:txBody>
                    <a:bodyPr/>
                    <a:lstStyle/>
                    <a:p>
                      <a:pPr algn="ctr" indent="0" marL="0">
                        <a:buNone/>
                      </a:pPr>
                      <a:r>
                        <a:rPr lang="en-US" sz="1600" dirty="0">
                          <a:solidFill>
                            <a:schemeClr val="tx1"/>
                          </a:solidFill>
                        </a:rPr>
                        <a:t>0,001</a:t>
                      </a:r>
                      <a:endParaRPr lang="en-US" sz="1600" dirty="0"/>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0,002</a:t>
                      </a:r>
                      <a:endParaRPr lang="en-US" sz="1600" dirty="0"/>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0,006</a:t>
                      </a:r>
                      <a:endParaRPr lang="en-US" sz="1600" dirty="0"/>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0,012</a:t>
                      </a:r>
                      <a:endParaRPr lang="en-US" sz="1600" dirty="0"/>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0,022</a:t>
                      </a:r>
                      <a:endParaRPr lang="en-US" sz="1600" dirty="0"/>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0,027</a:t>
                      </a:r>
                      <a:endParaRPr lang="en-US" sz="1600" dirty="0"/>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502920">
                <a:tc>
                  <a:txBody>
                    <a:bodyPr/>
                    <a:lstStyle/>
                    <a:p>
                      <a:pPr indent="0" marL="0">
                        <a:buNone/>
                      </a:pPr>
                      <a:r>
                        <a:rPr lang="en-US" sz="1400" b="1" dirty="0">
                          <a:solidFill>
                            <a:schemeClr val="tx2"/>
                          </a:solidFill>
                        </a:rPr>
                        <a:t>Порядок</a:t>
                      </a:r>
                      <a:endParaRPr lang="en-US" sz="1400" dirty="0"/>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400" b="1" dirty="0">
                          <a:solidFill>
                            <a:schemeClr val="accent1"/>
                          </a:solidFill>
                        </a:rPr>
                        <a:t>A &lt; B = C</a:t>
                      </a:r>
                      <a:endParaRPr lang="en-US" sz="1400" dirty="0"/>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400" b="1" dirty="0">
                          <a:solidFill>
                            <a:schemeClr val="accent1"/>
                          </a:solidFill>
                        </a:rPr>
                        <a:t>A &lt; B = C</a:t>
                      </a:r>
                      <a:endParaRPr lang="en-US" sz="1400" dirty="0"/>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400" b="1" dirty="0">
                          <a:solidFill>
                            <a:schemeClr val="accent1"/>
                          </a:solidFill>
                        </a:rPr>
                        <a:t>A &lt; B &lt; C</a:t>
                      </a:r>
                      <a:endParaRPr lang="en-US" sz="1400" dirty="0"/>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400" b="1" dirty="0">
                          <a:solidFill>
                            <a:schemeClr val="accent1"/>
                          </a:solidFill>
                        </a:rPr>
                        <a:t>A &lt; B &lt; C</a:t>
                      </a:r>
                      <a:endParaRPr lang="en-US" sz="1400" dirty="0"/>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400" b="1" dirty="0">
                          <a:solidFill>
                            <a:schemeClr val="accent1"/>
                          </a:solidFill>
                        </a:rPr>
                        <a:t>A &lt; B &lt; C</a:t>
                      </a:r>
                      <a:endParaRPr lang="en-US" sz="1400" dirty="0"/>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400" b="1" dirty="0">
                          <a:solidFill>
                            <a:schemeClr val="accent1"/>
                          </a:solidFill>
                        </a:rPr>
                        <a:t>A &lt; B &lt; C</a:t>
                      </a:r>
                      <a:endParaRPr lang="en-US" sz="1400" dirty="0"/>
                    </a:p>
                  </a:txBody>
                  <a:tcPr marL="45720" marR="4572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sp>
        <p:nvSpPr>
          <p:cNvPr id="5" name="Text 1"/>
          <p:cNvSpPr txBox="1"/>
          <p:nvPr/>
        </p:nvSpPr>
        <p:spPr>
          <a:xfrm>
            <a:off x="548640" y="4279392"/>
            <a:ext cx="11064240" cy="274320"/>
          </a:xfrm>
          <a:prstGeom prst="rect">
            <a:avLst/>
          </a:prstGeom>
          <a:noFill/>
          <a:ln/>
        </p:spPr>
        <p:txBody>
          <a:bodyPr wrap="square" lIns="0" tIns="0" rIns="0" bIns="0" rtlCol="0" anchor="t"/>
          <a:lstStyle/>
          <a:p>
            <a:pPr indent="0" marL="0">
              <a:buNone/>
            </a:pPr>
            <a:r>
              <a:rPr lang="en-US" sz="1400" i="1" dirty="0">
                <a:solidFill>
                  <a:schemeClr val="tx2"/>
                </a:solidFill>
              </a:rPr>
              <a:t>Ошибка Δθ в шести «контрольных отметках» влажности, плотность 1,35 г/см³: порядок не нарушен ни разу</a:t>
            </a:r>
            <a:endParaRPr lang="en-US" sz="1400" dirty="0"/>
          </a:p>
        </p:txBody>
      </p:sp>
      <p:sp>
        <p:nvSpPr>
          <p:cNvPr id="6" name="anova2"/>
          <p:cNvSpPr/>
          <p:nvPr/>
        </p:nvSpPr>
        <p:spPr>
          <a:xfrm>
            <a:off x="548640" y="4709160"/>
            <a:ext cx="3566160" cy="1554480"/>
          </a:xfrm>
          <a:prstGeom prst="roundRect">
            <a:avLst>
              <a:gd name="adj" fmla="val 4706"/>
            </a:avLst>
          </a:prstGeom>
          <a:solidFill>
            <a:schemeClr val="tx1"/>
          </a:solidFill>
          <a:ln/>
        </p:spPr>
      </p:sp>
      <p:sp>
        <p:nvSpPr>
          <p:cNvPr id="7" name="Text 3"/>
          <p:cNvSpPr txBox="1"/>
          <p:nvPr/>
        </p:nvSpPr>
        <p:spPr>
          <a:xfrm>
            <a:off x="777240" y="4709160"/>
            <a:ext cx="3200400" cy="1554480"/>
          </a:xfrm>
          <a:prstGeom prst="rect">
            <a:avLst/>
          </a:prstGeom>
          <a:noFill/>
          <a:ln/>
        </p:spPr>
        <p:txBody>
          <a:bodyPr wrap="square" lIns="0" tIns="0" rIns="0" bIns="0" rtlCol="0" anchor="ctr"/>
          <a:lstStyle/>
          <a:p>
            <a:pPr indent="0" marL="0">
              <a:buNone/>
            </a:pPr>
            <a:r>
              <a:rPr lang="en-US" sz="1400" b="1" dirty="0">
                <a:solidFill>
                  <a:schemeClr val="accent2"/>
                </a:solidFill>
              </a:rPr>
              <a:t>Двухфакторный анализ, влажность — блок</a:t>
            </a:r>
            <a:endParaRPr lang="en-US" sz="1600" dirty="0"/>
          </a:p>
          <a:p>
            <a:pPr indent="0" marL="0">
              <a:buNone/>
            </a:pPr>
            <a:r>
              <a:rPr lang="en-US" sz="2200" b="1" dirty="0">
                <a:solidFill>
                  <a:schemeClr val="bg1"/>
                </a:solidFill>
              </a:rPr>
              <a:t>F(2; 10) = 6,92</a:t>
            </a:r>
            <a:endParaRPr lang="en-US" sz="1600" dirty="0"/>
          </a:p>
          <a:p>
            <a:pPr indent="0" marL="0">
              <a:buNone/>
            </a:pPr>
            <a:r>
              <a:rPr lang="en-US" sz="2200" b="1" dirty="0">
                <a:solidFill>
                  <a:schemeClr val="bg1"/>
                </a:solidFill>
              </a:rPr>
              <a:t>p = 0,013</a:t>
            </a:r>
            <a:endParaRPr lang="en-US" sz="1600" dirty="0"/>
          </a:p>
        </p:txBody>
      </p:sp>
      <p:sp>
        <p:nvSpPr>
          <p:cNvPr id="8" name="friedman"/>
          <p:cNvSpPr/>
          <p:nvPr/>
        </p:nvSpPr>
        <p:spPr>
          <a:xfrm>
            <a:off x="4297680" y="4709160"/>
            <a:ext cx="3566160" cy="1554480"/>
          </a:xfrm>
          <a:prstGeom prst="roundRect">
            <a:avLst>
              <a:gd name="adj" fmla="val 4706"/>
            </a:avLst>
          </a:prstGeom>
          <a:solidFill>
            <a:schemeClr val="tx1"/>
          </a:solidFill>
          <a:ln/>
        </p:spPr>
      </p:sp>
      <p:sp>
        <p:nvSpPr>
          <p:cNvPr id="9" name="Text 5"/>
          <p:cNvSpPr txBox="1"/>
          <p:nvPr/>
        </p:nvSpPr>
        <p:spPr>
          <a:xfrm>
            <a:off x="4526280" y="4709160"/>
            <a:ext cx="3200400" cy="1554480"/>
          </a:xfrm>
          <a:prstGeom prst="rect">
            <a:avLst/>
          </a:prstGeom>
          <a:noFill/>
          <a:ln/>
        </p:spPr>
        <p:txBody>
          <a:bodyPr wrap="square" lIns="0" tIns="0" rIns="0" bIns="0" rtlCol="0" anchor="ctr"/>
          <a:lstStyle/>
          <a:p>
            <a:pPr indent="0" marL="0">
              <a:buNone/>
            </a:pPr>
            <a:r>
              <a:rPr lang="en-US" sz="1400" b="1" dirty="0">
                <a:solidFill>
                  <a:schemeClr val="accent2"/>
                </a:solidFill>
              </a:rPr>
              <a:t>Критерий Фридмана: только порядок, без допущений о форме</a:t>
            </a:r>
            <a:endParaRPr lang="en-US" sz="1600" dirty="0"/>
          </a:p>
          <a:p>
            <a:pPr indent="0" marL="0">
              <a:buNone/>
            </a:pPr>
            <a:r>
              <a:rPr lang="en-US" sz="2200" b="1" dirty="0">
                <a:solidFill>
                  <a:schemeClr val="bg1"/>
                </a:solidFill>
              </a:rPr>
              <a:t>χ²(2) = 11,27</a:t>
            </a:r>
            <a:endParaRPr lang="en-US" sz="1600" dirty="0"/>
          </a:p>
          <a:p>
            <a:pPr indent="0" marL="0">
              <a:buNone/>
            </a:pPr>
            <a:r>
              <a:rPr lang="en-US" sz="2200" b="1" dirty="0">
                <a:solidFill>
                  <a:schemeClr val="bg1"/>
                </a:solidFill>
              </a:rPr>
              <a:t>p = 0,004</a:t>
            </a:r>
            <a:endParaRPr lang="en-US" sz="1600" dirty="0"/>
          </a:p>
        </p:txBody>
      </p:sp>
      <p:sp>
        <p:nvSpPr>
          <p:cNvPr id="10" name="caveat"/>
          <p:cNvSpPr/>
          <p:nvPr/>
        </p:nvSpPr>
        <p:spPr>
          <a:xfrm>
            <a:off x="8046720" y="4709160"/>
            <a:ext cx="3566160" cy="1554480"/>
          </a:xfrm>
          <a:prstGeom prst="roundRect">
            <a:avLst>
              <a:gd name="adj" fmla="val 4706"/>
            </a:avLst>
          </a:prstGeom>
          <a:solidFill>
            <a:schemeClr val="bg1"/>
          </a:solidFill>
          <a:ln w="19050">
            <a:solidFill>
              <a:schemeClr val="accent2"/>
            </a:solidFill>
            <a:prstDash val="solid"/>
          </a:ln>
        </p:spPr>
      </p:sp>
      <p:sp>
        <p:nvSpPr>
          <p:cNvPr id="11" name="Text 7"/>
          <p:cNvSpPr txBox="1"/>
          <p:nvPr/>
        </p:nvSpPr>
        <p:spPr>
          <a:xfrm>
            <a:off x="8275320" y="4709160"/>
            <a:ext cx="3108960" cy="1554480"/>
          </a:xfrm>
          <a:prstGeom prst="rect">
            <a:avLst/>
          </a:prstGeom>
          <a:noFill/>
          <a:ln/>
        </p:spPr>
        <p:txBody>
          <a:bodyPr wrap="square" lIns="0" tIns="0" rIns="0" bIns="0" rtlCol="0" anchor="ctr"/>
          <a:lstStyle/>
          <a:p>
            <a:pPr indent="0" marL="0">
              <a:buNone/>
            </a:pPr>
            <a:r>
              <a:rPr lang="en-US" sz="1400" b="1" dirty="0">
                <a:solidFill>
                  <a:schemeClr val="accent3"/>
                </a:solidFill>
              </a:rPr>
              <a:t>Граница вывода</a:t>
            </a:r>
            <a:endParaRPr lang="en-US" sz="1400" dirty="0"/>
          </a:p>
          <a:p>
            <a:pPr indent="0" marL="0">
              <a:buNone/>
            </a:pPr>
            <a:r>
              <a:rPr lang="en-US" sz="1400" dirty="0">
                <a:solidFill>
                  <a:schemeClr val="tx1"/>
                </a:solidFill>
              </a:rPr>
              <a:t>одна почва на группу: порядок устойчив, но перенос на другие почвы — гипотеза</a:t>
            </a:r>
            <a:endParaRPr lang="en-US" sz="14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1"/>
                </a:solidFill>
              </a:rPr>
              <a:t>Кто виноват: глина или соли?</a:t>
            </a:r>
            <a:endParaRPr lang="en-US" sz="3000" dirty="0"/>
          </a:p>
        </p:txBody>
      </p:sp>
      <p:graphicFrame>
        <p:nvGraphicFramePr>
          <p:cNvPr id="4" name="Chart 0" descr=""/>
          <p:cNvGraphicFramePr/>
          <p:nvPr/>
        </p:nvGraphicFramePr>
        <p:xfrm>
          <a:off x="548640" y="1371600"/>
          <a:ext cx="5440680" cy="356616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172200" y="1371600"/>
          <a:ext cx="5440680" cy="3566160"/>
        </p:xfrm>
        <a:graphic xmlns:a="http://schemas.openxmlformats.org/drawingml/2006/main">
          <a:graphicData uri="http://schemas.openxmlformats.org/drawingml/2006/chart">
            <c:chart xmlns:c="http://schemas.openxmlformats.org/drawingml/2006/chart" r:id="rId2"/>
          </a:graphicData>
        </a:graphic>
      </p:graphicFrame>
      <p:sp>
        <p:nvSpPr>
          <p:cNvPr id="6" name="tied"/>
          <p:cNvSpPr/>
          <p:nvPr/>
        </p:nvSpPr>
        <p:spPr>
          <a:xfrm>
            <a:off x="548640" y="5120640"/>
            <a:ext cx="3657600" cy="1143000"/>
          </a:xfrm>
          <a:prstGeom prst="roundRect">
            <a:avLst>
              <a:gd name="adj" fmla="val 6400"/>
            </a:avLst>
          </a:prstGeom>
          <a:solidFill>
            <a:schemeClr val="bg2"/>
          </a:solidFill>
          <a:ln/>
        </p:spPr>
      </p:sp>
      <p:sp>
        <p:nvSpPr>
          <p:cNvPr id="7" name="Text 2"/>
          <p:cNvSpPr txBox="1"/>
          <p:nvPr/>
        </p:nvSpPr>
        <p:spPr>
          <a:xfrm>
            <a:off x="777240" y="5120640"/>
            <a:ext cx="3291840" cy="1143000"/>
          </a:xfrm>
          <a:prstGeom prst="rect">
            <a:avLst/>
          </a:prstGeom>
          <a:noFill/>
          <a:ln/>
        </p:spPr>
        <p:txBody>
          <a:bodyPr wrap="square" lIns="0" tIns="0" rIns="0" bIns="0" rtlCol="0" anchor="ctr"/>
          <a:lstStyle/>
          <a:p>
            <a:pPr indent="0" marL="0">
              <a:buNone/>
            </a:pPr>
            <a:r>
              <a:rPr lang="en-US" sz="2400" b="1" dirty="0">
                <a:solidFill>
                  <a:schemeClr val="accent3"/>
                </a:solidFill>
              </a:rPr>
              <a:t>r = 0,88</a:t>
            </a:r>
            <a:endParaRPr lang="en-US" sz="1600" dirty="0"/>
          </a:p>
          <a:p>
            <a:pPr indent="0" marL="0">
              <a:buNone/>
            </a:pPr>
            <a:r>
              <a:rPr lang="en-US" sz="1400" dirty="0">
                <a:solidFill>
                  <a:schemeClr val="tx1"/>
                </a:solidFill>
              </a:rPr>
              <a:t>между MH и ECe: подозреваемые всегда вместе</a:t>
            </a:r>
            <a:endParaRPr lang="en-US" sz="1600" dirty="0"/>
          </a:p>
        </p:txBody>
      </p:sp>
      <p:sp>
        <p:nvSpPr>
          <p:cNvPr id="8" name="fragile"/>
          <p:cNvSpPr/>
          <p:nvPr/>
        </p:nvSpPr>
        <p:spPr>
          <a:xfrm>
            <a:off x="4389120" y="5120640"/>
            <a:ext cx="3657600" cy="1143000"/>
          </a:xfrm>
          <a:prstGeom prst="roundRect">
            <a:avLst>
              <a:gd name="adj" fmla="val 6400"/>
            </a:avLst>
          </a:prstGeom>
          <a:solidFill>
            <a:schemeClr val="bg2"/>
          </a:solidFill>
          <a:ln/>
        </p:spPr>
      </p:sp>
      <p:sp>
        <p:nvSpPr>
          <p:cNvPr id="9" name="Text 4"/>
          <p:cNvSpPr txBox="1"/>
          <p:nvPr/>
        </p:nvSpPr>
        <p:spPr>
          <a:xfrm>
            <a:off x="4617720" y="5120640"/>
            <a:ext cx="3291840" cy="1143000"/>
          </a:xfrm>
          <a:prstGeom prst="rect">
            <a:avLst/>
          </a:prstGeom>
          <a:noFill/>
          <a:ln/>
        </p:spPr>
        <p:txBody>
          <a:bodyPr wrap="square" lIns="0" tIns="0" rIns="0" bIns="0" rtlCol="0" anchor="ctr"/>
          <a:lstStyle/>
          <a:p>
            <a:pPr indent="0" marL="0">
              <a:buNone/>
            </a:pPr>
            <a:r>
              <a:rPr lang="en-US" sz="2400" b="1" dirty="0">
                <a:solidFill>
                  <a:schemeClr val="accent1"/>
                </a:solidFill>
              </a:rPr>
              <a:t>p = 0,017</a:t>
            </a:r>
            <a:endParaRPr lang="en-US" sz="1600" dirty="0"/>
          </a:p>
          <a:p>
            <a:pPr indent="0" marL="0">
              <a:buNone/>
            </a:pPr>
            <a:r>
              <a:rPr lang="en-US" sz="1400" dirty="0">
                <a:solidFill>
                  <a:schemeClr val="tx1"/>
                </a:solidFill>
              </a:rPr>
              <a:t>ECe значима в модели с обоими, но вывод хрупкий; три почвы, а не шесть</a:t>
            </a:r>
            <a:endParaRPr lang="en-US" sz="1600" dirty="0"/>
          </a:p>
        </p:txBody>
      </p:sp>
      <p:sp>
        <p:nvSpPr>
          <p:cNvPr id="10" name="need"/>
          <p:cNvSpPr/>
          <p:nvPr/>
        </p:nvSpPr>
        <p:spPr>
          <a:xfrm>
            <a:off x="8229600" y="5120640"/>
            <a:ext cx="3383280" cy="1143000"/>
          </a:xfrm>
          <a:prstGeom prst="roundRect">
            <a:avLst>
              <a:gd name="adj" fmla="val 6400"/>
            </a:avLst>
          </a:prstGeom>
          <a:solidFill>
            <a:schemeClr val="tx1"/>
          </a:solidFill>
          <a:ln/>
        </p:spPr>
      </p:sp>
      <p:sp>
        <p:nvSpPr>
          <p:cNvPr id="11" name="Text 6"/>
          <p:cNvSpPr txBox="1"/>
          <p:nvPr/>
        </p:nvSpPr>
        <p:spPr>
          <a:xfrm>
            <a:off x="8412480" y="5120640"/>
            <a:ext cx="3017520" cy="1143000"/>
          </a:xfrm>
          <a:prstGeom prst="rect">
            <a:avLst/>
          </a:prstGeom>
          <a:noFill/>
          <a:ln/>
        </p:spPr>
        <p:txBody>
          <a:bodyPr wrap="square" lIns="0" tIns="0" rIns="0" bIns="0" rtlCol="0" anchor="ctr"/>
          <a:lstStyle/>
          <a:p>
            <a:pPr indent="0" marL="0">
              <a:buNone/>
            </a:pPr>
            <a:r>
              <a:rPr lang="en-US" sz="1600" b="1" dirty="0">
                <a:solidFill>
                  <a:schemeClr val="bg1"/>
                </a:solidFill>
              </a:rPr>
              <a:t>Нужны почвы, где глина и соли не идут вместе</a:t>
            </a:r>
            <a:endParaRPr lang="en-US" sz="16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1"/>
                </a:solidFill>
              </a:rPr>
              <a:t>Плотность: прогноз, который не сбылся</a:t>
            </a:r>
            <a:endParaRPr lang="en-US" sz="3000" dirty="0"/>
          </a:p>
        </p:txBody>
      </p:sp>
      <p:graphicFrame>
        <p:nvGraphicFramePr>
          <p:cNvPr id="4" name="Chart 0" descr=""/>
          <p:cNvGraphicFramePr/>
          <p:nvPr/>
        </p:nvGraphicFramePr>
        <p:xfrm>
          <a:off x="548640" y="1371600"/>
          <a:ext cx="5394960" cy="4846320"/>
        </p:xfrm>
        <a:graphic xmlns:a="http://schemas.openxmlformats.org/drawingml/2006/main">
          <a:graphicData uri="http://schemas.openxmlformats.org/drawingml/2006/chart">
            <c:chart xmlns:c="http://schemas.openxmlformats.org/drawingml/2006/chart" r:id="rId1"/>
          </a:graphicData>
        </a:graphic>
      </p:graphicFrame>
      <p:sp>
        <p:nvSpPr>
          <p:cNvPr id="5" name="ci"/>
          <p:cNvSpPr/>
          <p:nvPr/>
        </p:nvSpPr>
        <p:spPr>
          <a:xfrm>
            <a:off x="6309360" y="1371600"/>
            <a:ext cx="5303520" cy="1234440"/>
          </a:xfrm>
          <a:prstGeom prst="roundRect">
            <a:avLst>
              <a:gd name="adj" fmla="val 5926"/>
            </a:avLst>
          </a:prstGeom>
          <a:solidFill>
            <a:schemeClr val="tx1"/>
          </a:solidFill>
          <a:ln/>
        </p:spPr>
      </p:sp>
      <p:sp>
        <p:nvSpPr>
          <p:cNvPr id="6" name="Text 2"/>
          <p:cNvSpPr txBox="1"/>
          <p:nvPr/>
        </p:nvSpPr>
        <p:spPr>
          <a:xfrm>
            <a:off x="6537960" y="1371600"/>
            <a:ext cx="4846320" cy="1234440"/>
          </a:xfrm>
          <a:prstGeom prst="rect">
            <a:avLst/>
          </a:prstGeom>
          <a:noFill/>
          <a:ln/>
        </p:spPr>
        <p:txBody>
          <a:bodyPr wrap="square" lIns="0" tIns="0" rIns="0" bIns="0" rtlCol="0" anchor="ctr"/>
          <a:lstStyle/>
          <a:p>
            <a:pPr indent="0" marL="0">
              <a:buNone/>
            </a:pPr>
            <a:r>
              <a:rPr lang="en-US" sz="1800" b="1" dirty="0">
                <a:solidFill>
                  <a:schemeClr val="bg1"/>
                </a:solidFill>
              </a:rPr>
              <a:t>95 % ДИ эффекта плотности: −0,006…+0,003</a:t>
            </a:r>
            <a:endParaRPr lang="en-US" sz="1600" dirty="0"/>
          </a:p>
          <a:p>
            <a:pPr indent="0" marL="0">
              <a:buNone/>
            </a:pPr>
            <a:r>
              <a:rPr lang="en-US" sz="1400" dirty="0">
                <a:solidFill>
                  <a:schemeClr val="accent2"/>
                </a:solidFill>
              </a:rPr>
              <a:t>исключает прогноз +0,0095</a:t>
            </a:r>
            <a:endParaRPr lang="en-US" sz="1600" dirty="0"/>
          </a:p>
        </p:txBody>
      </p:sp>
      <p:sp>
        <p:nvSpPr>
          <p:cNvPr id="7" name="Text 3"/>
          <p:cNvSpPr txBox="1"/>
          <p:nvPr/>
        </p:nvSpPr>
        <p:spPr>
          <a:xfrm>
            <a:off x="6309360" y="2788920"/>
            <a:ext cx="5303520" cy="365760"/>
          </a:xfrm>
          <a:prstGeom prst="rect">
            <a:avLst/>
          </a:prstGeom>
          <a:noFill/>
          <a:ln/>
        </p:spPr>
        <p:txBody>
          <a:bodyPr wrap="square" lIns="0" tIns="0" rIns="0" bIns="0" rtlCol="0" anchor="t"/>
          <a:lstStyle/>
          <a:p>
            <a:pPr indent="0" marL="0">
              <a:buNone/>
            </a:pPr>
            <a:r>
              <a:rPr lang="en-US" sz="1600" b="1" dirty="0">
                <a:solidFill>
                  <a:schemeClr val="accent1"/>
                </a:solidFill>
              </a:rPr>
              <a:t>Прогноз = связка допущений. Какое подвело?</a:t>
            </a:r>
            <a:endParaRPr lang="en-US" sz="1600" dirty="0"/>
          </a:p>
        </p:txBody>
      </p:sp>
      <p:sp>
        <p:nvSpPr>
          <p:cNvPr id="8" name="assump-0"/>
          <p:cNvSpPr/>
          <p:nvPr/>
        </p:nvSpPr>
        <p:spPr>
          <a:xfrm>
            <a:off x="6309360" y="3246120"/>
            <a:ext cx="5303520" cy="1280160"/>
          </a:xfrm>
          <a:prstGeom prst="roundRect">
            <a:avLst>
              <a:gd name="adj" fmla="val 5714"/>
            </a:avLst>
          </a:prstGeom>
          <a:solidFill>
            <a:schemeClr val="bg2"/>
          </a:solidFill>
          <a:ln/>
        </p:spPr>
      </p:sp>
      <p:sp>
        <p:nvSpPr>
          <p:cNvPr id="9" name="badge"/>
          <p:cNvSpPr/>
          <p:nvPr/>
        </p:nvSpPr>
        <p:spPr>
          <a:xfrm>
            <a:off x="6492240" y="3657600"/>
            <a:ext cx="457200" cy="457200"/>
          </a:xfrm>
          <a:prstGeom prst="ellipse">
            <a:avLst/>
          </a:prstGeom>
          <a:solidFill>
            <a:schemeClr val="accent3"/>
          </a:solidFill>
          <a:ln/>
        </p:spPr>
      </p:sp>
      <p:sp>
        <p:nvSpPr>
          <p:cNvPr id="10" name="Text 6"/>
          <p:cNvSpPr txBox="1"/>
          <p:nvPr/>
        </p:nvSpPr>
        <p:spPr>
          <a:xfrm>
            <a:off x="6492240" y="3657600"/>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rPr>
              <a:t>×</a:t>
            </a:r>
            <a:endParaRPr lang="en-US" sz="2000" dirty="0"/>
          </a:p>
        </p:txBody>
      </p:sp>
      <p:sp>
        <p:nvSpPr>
          <p:cNvPr id="11" name="Text 7"/>
          <p:cNvSpPr txBox="1"/>
          <p:nvPr/>
        </p:nvSpPr>
        <p:spPr>
          <a:xfrm>
            <a:off x="7132320" y="3246120"/>
            <a:ext cx="4343400" cy="1280160"/>
          </a:xfrm>
          <a:prstGeom prst="rect">
            <a:avLst/>
          </a:prstGeom>
          <a:noFill/>
          <a:ln/>
        </p:spPr>
        <p:txBody>
          <a:bodyPr wrap="square" lIns="0" tIns="0" rIns="0" bIns="0" rtlCol="0" anchor="ctr"/>
          <a:lstStyle/>
          <a:p>
            <a:pPr indent="0" marL="0">
              <a:buNone/>
            </a:pPr>
            <a:r>
              <a:rPr lang="en-US" sz="1600" b="1" dirty="0">
                <a:solidFill>
                  <a:schemeClr val="tx1"/>
                </a:solidFill>
              </a:rPr>
              <a:t>«При той же влажности»</a:t>
            </a:r>
            <a:endParaRPr lang="en-US" sz="1600" dirty="0"/>
          </a:p>
          <a:p>
            <a:pPr indent="0" marL="0">
              <a:buNone/>
            </a:pPr>
            <a:r>
              <a:rPr lang="en-US" sz="1400" dirty="0">
                <a:solidFill>
                  <a:schemeClr val="tx1"/>
                </a:solidFill>
              </a:rPr>
              <a:t>диапазоны влажности вариантов разные, а ошибка растёт с влажностью</a:t>
            </a:r>
            <a:endParaRPr lang="en-US" sz="1600" dirty="0"/>
          </a:p>
        </p:txBody>
      </p:sp>
      <p:sp>
        <p:nvSpPr>
          <p:cNvPr id="12" name="assump-1"/>
          <p:cNvSpPr/>
          <p:nvPr/>
        </p:nvSpPr>
        <p:spPr>
          <a:xfrm>
            <a:off x="6309360" y="4663440"/>
            <a:ext cx="5303520" cy="1280160"/>
          </a:xfrm>
          <a:prstGeom prst="roundRect">
            <a:avLst>
              <a:gd name="adj" fmla="val 5714"/>
            </a:avLst>
          </a:prstGeom>
          <a:solidFill>
            <a:schemeClr val="bg2"/>
          </a:solidFill>
          <a:ln/>
        </p:spPr>
      </p:sp>
      <p:sp>
        <p:nvSpPr>
          <p:cNvPr id="13" name="badge"/>
          <p:cNvSpPr/>
          <p:nvPr/>
        </p:nvSpPr>
        <p:spPr>
          <a:xfrm>
            <a:off x="6492240" y="5074920"/>
            <a:ext cx="457200" cy="457200"/>
          </a:xfrm>
          <a:prstGeom prst="ellipse">
            <a:avLst/>
          </a:prstGeom>
          <a:solidFill>
            <a:schemeClr val="accent3"/>
          </a:solidFill>
          <a:ln/>
        </p:spPr>
      </p:sp>
      <p:sp>
        <p:nvSpPr>
          <p:cNvPr id="14" name="Text 10"/>
          <p:cNvSpPr txBox="1"/>
          <p:nvPr/>
        </p:nvSpPr>
        <p:spPr>
          <a:xfrm>
            <a:off x="6492240" y="5074920"/>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rPr>
              <a:t>×</a:t>
            </a:r>
            <a:endParaRPr lang="en-US" sz="2000" dirty="0"/>
          </a:p>
        </p:txBody>
      </p:sp>
      <p:sp>
        <p:nvSpPr>
          <p:cNvPr id="15" name="Text 11"/>
          <p:cNvSpPr txBox="1"/>
          <p:nvPr/>
        </p:nvSpPr>
        <p:spPr>
          <a:xfrm>
            <a:off x="7132320" y="4663440"/>
            <a:ext cx="4343400" cy="1280160"/>
          </a:xfrm>
          <a:prstGeom prst="rect">
            <a:avLst/>
          </a:prstGeom>
          <a:noFill/>
          <a:ln/>
        </p:spPr>
        <p:txBody>
          <a:bodyPr wrap="square" lIns="0" tIns="0" rIns="0" bIns="0" rtlCol="0" anchor="ctr"/>
          <a:lstStyle/>
          <a:p>
            <a:pPr indent="0" marL="0">
              <a:buNone/>
            </a:pPr>
            <a:r>
              <a:rPr lang="en-US" sz="1600" b="1" dirty="0">
                <a:solidFill>
                  <a:schemeClr val="tx1"/>
                </a:solidFill>
              </a:rPr>
              <a:t>«При той же проводимости»</a:t>
            </a:r>
            <a:endParaRPr lang="en-US" sz="1600" dirty="0"/>
          </a:p>
          <a:p>
            <a:pPr indent="0" marL="0">
              <a:buNone/>
            </a:pPr>
            <a:r>
              <a:rPr lang="en-US" sz="1400" dirty="0">
                <a:solidFill>
                  <a:schemeClr val="tx1"/>
                </a:solidFill>
              </a:rPr>
              <a:t>у плотных вариантов ECe ниже на 0,07–0,12 дСм/м; с ECe вместо MH коэффициент плотности +0,0004, p = 0,51</a:t>
            </a:r>
            <a:endParaRPr lang="en-US" sz="1600" dirty="0"/>
          </a:p>
        </p:txBody>
      </p:sp>
      <p:sp>
        <p:nvSpPr>
          <p:cNvPr id="16" name="Text 12"/>
          <p:cNvSpPr txBox="1"/>
          <p:nvPr/>
        </p:nvSpPr>
        <p:spPr>
          <a:xfrm>
            <a:off x="6309360" y="6126480"/>
            <a:ext cx="5303520" cy="274320"/>
          </a:xfrm>
          <a:prstGeom prst="rect">
            <a:avLst/>
          </a:prstGeom>
          <a:noFill/>
          <a:ln/>
        </p:spPr>
        <p:txBody>
          <a:bodyPr wrap="square" lIns="0" tIns="0" rIns="0" bIns="0" rtlCol="0" anchor="t"/>
          <a:lstStyle/>
          <a:p>
            <a:pPr indent="0" marL="0">
              <a:buNone/>
            </a:pPr>
            <a:r>
              <a:rPr lang="en-US" sz="1200" i="1" dirty="0">
                <a:solidFill>
                  <a:schemeClr val="tx2"/>
                </a:solidFill>
              </a:rPr>
              <a:t>Малый реальный эффект плотности нельзя ни подтвердить, ни исключить</a:t>
            </a:r>
            <a:endParaRPr lang="en-US" sz="12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1"/>
                </a:solidFill>
              </a:rPr>
              <a:t>Набухание: когда эталон меняет размер</a:t>
            </a:r>
            <a:endParaRPr lang="en-US" sz="3000" dirty="0"/>
          </a:p>
        </p:txBody>
      </p:sp>
      <p:sp>
        <p:nvSpPr>
          <p:cNvPr id="4" name="Text 1"/>
          <p:cNvSpPr txBox="1"/>
          <p:nvPr/>
        </p:nvSpPr>
        <p:spPr>
          <a:xfrm>
            <a:off x="548640" y="1371600"/>
            <a:ext cx="3474720" cy="365760"/>
          </a:xfrm>
          <a:prstGeom prst="rect">
            <a:avLst/>
          </a:prstGeom>
          <a:noFill/>
          <a:ln/>
        </p:spPr>
        <p:txBody>
          <a:bodyPr wrap="square" lIns="0" tIns="0" rIns="0" bIns="0" rtlCol="0" anchor="t"/>
          <a:lstStyle/>
          <a:p>
            <a:pPr algn="ctr" indent="0" marL="0">
              <a:buNone/>
            </a:pPr>
            <a:r>
              <a:rPr lang="en-US" sz="1600" b="1" dirty="0">
                <a:solidFill>
                  <a:schemeClr val="tx1"/>
                </a:solidFill>
              </a:rPr>
              <a:t>Сухая: 300 мм</a:t>
            </a:r>
            <a:endParaRPr lang="en-US" sz="1600" dirty="0"/>
          </a:p>
        </p:txBody>
      </p:sp>
      <p:sp>
        <p:nvSpPr>
          <p:cNvPr id="5" name="soil"/>
          <p:cNvSpPr/>
          <p:nvPr/>
        </p:nvSpPr>
        <p:spPr>
          <a:xfrm>
            <a:off x="1188720" y="2148840"/>
            <a:ext cx="2194560" cy="2926080"/>
          </a:xfrm>
          <a:prstGeom prst="rect">
            <a:avLst/>
          </a:prstGeom>
          <a:solidFill>
            <a:schemeClr val="accent3"/>
          </a:solidFill>
          <a:ln/>
        </p:spPr>
      </p:sp>
      <p:sp>
        <p:nvSpPr>
          <p:cNvPr id="6" name="column"/>
          <p:cNvSpPr/>
          <p:nvPr/>
        </p:nvSpPr>
        <p:spPr>
          <a:xfrm>
            <a:off x="1188720" y="2148840"/>
            <a:ext cx="2194560" cy="2926080"/>
          </a:xfrm>
          <a:prstGeom prst="rect">
            <a:avLst/>
          </a:prstGeom>
          <a:ln w="25400">
            <a:solidFill>
              <a:schemeClr val="accent5"/>
            </a:solidFill>
            <a:prstDash val="solid"/>
          </a:ln>
        </p:spPr>
      </p:sp>
      <p:sp>
        <p:nvSpPr>
          <p:cNvPr id="7" name="rod"/>
          <p:cNvSpPr/>
          <p:nvPr/>
        </p:nvSpPr>
        <p:spPr>
          <a:xfrm>
            <a:off x="1828800" y="2148840"/>
            <a:ext cx="64008" cy="2926080"/>
          </a:xfrm>
          <a:prstGeom prst="rect">
            <a:avLst/>
          </a:prstGeom>
          <a:solidFill>
            <a:schemeClr val="accent2"/>
          </a:solidFill>
          <a:ln/>
        </p:spPr>
      </p:sp>
      <p:sp>
        <p:nvSpPr>
          <p:cNvPr id="8" name="rod"/>
          <p:cNvSpPr/>
          <p:nvPr/>
        </p:nvSpPr>
        <p:spPr>
          <a:xfrm>
            <a:off x="2743200" y="2148840"/>
            <a:ext cx="64008" cy="2926080"/>
          </a:xfrm>
          <a:prstGeom prst="rect">
            <a:avLst/>
          </a:prstGeom>
          <a:solidFill>
            <a:schemeClr val="accent2"/>
          </a:solidFill>
          <a:ln/>
        </p:spPr>
      </p:sp>
      <p:sp>
        <p:nvSpPr>
          <p:cNvPr id="9" name="Text 6"/>
          <p:cNvSpPr txBox="1"/>
          <p:nvPr/>
        </p:nvSpPr>
        <p:spPr>
          <a:xfrm>
            <a:off x="548640" y="5166360"/>
            <a:ext cx="3474720" cy="365760"/>
          </a:xfrm>
          <a:prstGeom prst="rect">
            <a:avLst/>
          </a:prstGeom>
          <a:noFill/>
          <a:ln/>
        </p:spPr>
        <p:txBody>
          <a:bodyPr wrap="square" lIns="0" tIns="0" rIns="0" bIns="0" rtlCol="0" anchor="t"/>
          <a:lstStyle/>
          <a:p>
            <a:pPr algn="ctr" indent="0" marL="0">
              <a:buNone/>
            </a:pPr>
            <a:r>
              <a:rPr lang="en-US" sz="1400" dirty="0">
                <a:solidFill>
                  <a:schemeClr val="tx2"/>
                </a:solidFill>
              </a:rPr>
              <a:t>почва = длина штанг</a:t>
            </a:r>
            <a:endParaRPr lang="en-US" sz="1400" dirty="0"/>
          </a:p>
        </p:txBody>
      </p:sp>
      <p:sp>
        <p:nvSpPr>
          <p:cNvPr id="10" name="Text 7"/>
          <p:cNvSpPr txBox="1"/>
          <p:nvPr/>
        </p:nvSpPr>
        <p:spPr>
          <a:xfrm>
            <a:off x="4297680" y="1371600"/>
            <a:ext cx="3474720" cy="365760"/>
          </a:xfrm>
          <a:prstGeom prst="rect">
            <a:avLst/>
          </a:prstGeom>
          <a:noFill/>
          <a:ln/>
        </p:spPr>
        <p:txBody>
          <a:bodyPr wrap="square" lIns="0" tIns="0" rIns="0" bIns="0" rtlCol="0" anchor="t"/>
          <a:lstStyle/>
          <a:p>
            <a:pPr algn="ctr" indent="0" marL="0">
              <a:buNone/>
            </a:pPr>
            <a:r>
              <a:rPr lang="en-US" sz="1600" b="1" dirty="0">
                <a:solidFill>
                  <a:schemeClr val="tx1"/>
                </a:solidFill>
              </a:rPr>
              <a:t>Влажная: ≈ 325 мм</a:t>
            </a:r>
            <a:endParaRPr lang="en-US" sz="1600" dirty="0"/>
          </a:p>
        </p:txBody>
      </p:sp>
      <p:sp>
        <p:nvSpPr>
          <p:cNvPr id="11" name="soil"/>
          <p:cNvSpPr/>
          <p:nvPr/>
        </p:nvSpPr>
        <p:spPr>
          <a:xfrm>
            <a:off x="4937760" y="2148840"/>
            <a:ext cx="2194560" cy="2926080"/>
          </a:xfrm>
          <a:prstGeom prst="rect">
            <a:avLst/>
          </a:prstGeom>
          <a:solidFill>
            <a:schemeClr val="accent3"/>
          </a:solidFill>
          <a:ln/>
        </p:spPr>
      </p:sp>
      <p:sp>
        <p:nvSpPr>
          <p:cNvPr id="12" name="column"/>
          <p:cNvSpPr/>
          <p:nvPr/>
        </p:nvSpPr>
        <p:spPr>
          <a:xfrm>
            <a:off x="4937760" y="2148840"/>
            <a:ext cx="2194560" cy="2926080"/>
          </a:xfrm>
          <a:prstGeom prst="rect">
            <a:avLst/>
          </a:prstGeom>
          <a:ln w="25400">
            <a:solidFill>
              <a:schemeClr val="accent5"/>
            </a:solidFill>
            <a:prstDash val="solid"/>
          </a:ln>
        </p:spPr>
      </p:sp>
      <p:sp>
        <p:nvSpPr>
          <p:cNvPr id="13" name="rod"/>
          <p:cNvSpPr/>
          <p:nvPr/>
        </p:nvSpPr>
        <p:spPr>
          <a:xfrm>
            <a:off x="5577840" y="2148840"/>
            <a:ext cx="64008" cy="2926080"/>
          </a:xfrm>
          <a:prstGeom prst="rect">
            <a:avLst/>
          </a:prstGeom>
          <a:solidFill>
            <a:schemeClr val="accent2"/>
          </a:solidFill>
          <a:ln/>
        </p:spPr>
      </p:sp>
      <p:sp>
        <p:nvSpPr>
          <p:cNvPr id="14" name="rod"/>
          <p:cNvSpPr/>
          <p:nvPr/>
        </p:nvSpPr>
        <p:spPr>
          <a:xfrm>
            <a:off x="6492240" y="2148840"/>
            <a:ext cx="64008" cy="2926080"/>
          </a:xfrm>
          <a:prstGeom prst="rect">
            <a:avLst/>
          </a:prstGeom>
          <a:solidFill>
            <a:schemeClr val="accent2"/>
          </a:solidFill>
          <a:ln/>
        </p:spPr>
      </p:sp>
      <p:sp>
        <p:nvSpPr>
          <p:cNvPr id="15" name="Text 12"/>
          <p:cNvSpPr txBox="1"/>
          <p:nvPr/>
        </p:nvSpPr>
        <p:spPr>
          <a:xfrm>
            <a:off x="4297680" y="5166360"/>
            <a:ext cx="3474720" cy="365760"/>
          </a:xfrm>
          <a:prstGeom prst="rect">
            <a:avLst/>
          </a:prstGeom>
          <a:noFill/>
          <a:ln/>
        </p:spPr>
        <p:txBody>
          <a:bodyPr wrap="square" lIns="0" tIns="0" rIns="0" bIns="0" rtlCol="0" anchor="t"/>
          <a:lstStyle/>
          <a:p>
            <a:pPr algn="ctr" indent="0" marL="0">
              <a:buNone/>
            </a:pPr>
            <a:endParaRPr lang="en-US" sz="1400" dirty="0"/>
          </a:p>
        </p:txBody>
      </p:sp>
      <p:sp>
        <p:nvSpPr>
          <p:cNvPr id="16" name="swollen-top"/>
          <p:cNvSpPr/>
          <p:nvPr/>
        </p:nvSpPr>
        <p:spPr>
          <a:xfrm>
            <a:off x="4937760" y="1901952"/>
            <a:ext cx="2194560" cy="246888"/>
          </a:xfrm>
          <a:prstGeom prst="rect">
            <a:avLst/>
          </a:prstGeom>
          <a:solidFill>
            <a:schemeClr val="accent3"/>
          </a:solidFill>
          <a:ln/>
        </p:spPr>
      </p:sp>
      <p:sp>
        <p:nvSpPr>
          <p:cNvPr id="17" name="Text 14"/>
          <p:cNvSpPr txBox="1"/>
          <p:nvPr/>
        </p:nvSpPr>
        <p:spPr>
          <a:xfrm>
            <a:off x="4297680" y="5166360"/>
            <a:ext cx="3474720" cy="365760"/>
          </a:xfrm>
          <a:prstGeom prst="rect">
            <a:avLst/>
          </a:prstGeom>
          <a:noFill/>
          <a:ln/>
        </p:spPr>
        <p:txBody>
          <a:bodyPr wrap="square" lIns="0" tIns="0" rIns="0" bIns="0" rtlCol="0" anchor="t"/>
          <a:lstStyle/>
          <a:p>
            <a:pPr algn="ctr" indent="0" marL="0">
              <a:buNone/>
            </a:pPr>
            <a:r>
              <a:rPr lang="en-US" sz="1400" b="1" dirty="0">
                <a:solidFill>
                  <a:schemeClr val="accent3"/>
                </a:solidFill>
              </a:rPr>
              <a:t>почва выше штанг на ≈ 25 мм</a:t>
            </a:r>
            <a:endParaRPr lang="en-US" sz="1400" dirty="0"/>
          </a:p>
        </p:txBody>
      </p:sp>
      <p:sp>
        <p:nvSpPr>
          <p:cNvPr id="18" name="swell-0"/>
          <p:cNvSpPr/>
          <p:nvPr/>
        </p:nvSpPr>
        <p:spPr>
          <a:xfrm>
            <a:off x="8138160" y="1371600"/>
            <a:ext cx="3474720" cy="1051560"/>
          </a:xfrm>
          <a:prstGeom prst="roundRect">
            <a:avLst>
              <a:gd name="adj" fmla="val 6957"/>
            </a:avLst>
          </a:prstGeom>
          <a:solidFill>
            <a:schemeClr val="bg2"/>
          </a:solidFill>
          <a:ln/>
        </p:spPr>
      </p:sp>
      <p:sp>
        <p:nvSpPr>
          <p:cNvPr id="19" name="Text 16"/>
          <p:cNvSpPr txBox="1"/>
          <p:nvPr/>
        </p:nvSpPr>
        <p:spPr>
          <a:xfrm>
            <a:off x="8321040" y="1417320"/>
            <a:ext cx="3108960" cy="548640"/>
          </a:xfrm>
          <a:prstGeom prst="rect">
            <a:avLst/>
          </a:prstGeom>
          <a:noFill/>
          <a:ln/>
        </p:spPr>
        <p:txBody>
          <a:bodyPr wrap="square" lIns="0" tIns="0" rIns="0" bIns="0" rtlCol="0" anchor="ctr"/>
          <a:lstStyle/>
          <a:p>
            <a:pPr indent="0" marL="0">
              <a:buNone/>
            </a:pPr>
            <a:r>
              <a:rPr lang="en-US" sz="2600" b="1" dirty="0">
                <a:solidFill>
                  <a:schemeClr val="accent3"/>
                </a:solidFill>
              </a:rPr>
              <a:t>≈ 25 мм</a:t>
            </a:r>
            <a:endParaRPr lang="en-US" sz="2600" dirty="0"/>
          </a:p>
        </p:txBody>
      </p:sp>
      <p:sp>
        <p:nvSpPr>
          <p:cNvPr id="20" name="Text 17"/>
          <p:cNvSpPr txBox="1"/>
          <p:nvPr/>
        </p:nvSpPr>
        <p:spPr>
          <a:xfrm>
            <a:off x="8321040" y="1965960"/>
            <a:ext cx="3108960" cy="365760"/>
          </a:xfrm>
          <a:prstGeom prst="rect">
            <a:avLst/>
          </a:prstGeom>
          <a:noFill/>
          <a:ln/>
        </p:spPr>
        <p:txBody>
          <a:bodyPr wrap="square" lIns="0" tIns="0" rIns="0" bIns="0" rtlCol="0" anchor="t"/>
          <a:lstStyle/>
          <a:p>
            <a:pPr indent="0" marL="0">
              <a:buNone/>
            </a:pPr>
            <a:r>
              <a:rPr lang="en-US" sz="1400" dirty="0">
                <a:solidFill>
                  <a:schemeClr val="tx1"/>
                </a:solidFill>
              </a:rPr>
              <a:t>подъём поверхности</a:t>
            </a:r>
            <a:endParaRPr lang="en-US" sz="1400" dirty="0"/>
          </a:p>
        </p:txBody>
      </p:sp>
      <p:sp>
        <p:nvSpPr>
          <p:cNvPr id="21" name="swell-1"/>
          <p:cNvSpPr/>
          <p:nvPr/>
        </p:nvSpPr>
        <p:spPr>
          <a:xfrm>
            <a:off x="8138160" y="2560320"/>
            <a:ext cx="3474720" cy="1051560"/>
          </a:xfrm>
          <a:prstGeom prst="roundRect">
            <a:avLst>
              <a:gd name="adj" fmla="val 6957"/>
            </a:avLst>
          </a:prstGeom>
          <a:solidFill>
            <a:schemeClr val="bg2"/>
          </a:solidFill>
          <a:ln/>
        </p:spPr>
      </p:sp>
      <p:sp>
        <p:nvSpPr>
          <p:cNvPr id="22" name="Text 19"/>
          <p:cNvSpPr txBox="1"/>
          <p:nvPr/>
        </p:nvSpPr>
        <p:spPr>
          <a:xfrm>
            <a:off x="8321040" y="2606040"/>
            <a:ext cx="3108960" cy="548640"/>
          </a:xfrm>
          <a:prstGeom prst="rect">
            <a:avLst/>
          </a:prstGeom>
          <a:noFill/>
          <a:ln/>
        </p:spPr>
        <p:txBody>
          <a:bodyPr wrap="square" lIns="0" tIns="0" rIns="0" bIns="0" rtlCol="0" anchor="ctr"/>
          <a:lstStyle/>
          <a:p>
            <a:pPr indent="0" marL="0">
              <a:buNone/>
            </a:pPr>
            <a:r>
              <a:rPr lang="en-US" sz="2600" b="1" dirty="0">
                <a:solidFill>
                  <a:schemeClr val="accent3"/>
                </a:solidFill>
              </a:rPr>
              <a:t>8,3 %</a:t>
            </a:r>
            <a:endParaRPr lang="en-US" sz="2600" dirty="0"/>
          </a:p>
        </p:txBody>
      </p:sp>
      <p:sp>
        <p:nvSpPr>
          <p:cNvPr id="23" name="Text 20"/>
          <p:cNvSpPr txBox="1"/>
          <p:nvPr/>
        </p:nvSpPr>
        <p:spPr>
          <a:xfrm>
            <a:off x="8321040" y="3154680"/>
            <a:ext cx="3108960" cy="365760"/>
          </a:xfrm>
          <a:prstGeom prst="rect">
            <a:avLst/>
          </a:prstGeom>
          <a:noFill/>
          <a:ln/>
        </p:spPr>
        <p:txBody>
          <a:bodyPr wrap="square" lIns="0" tIns="0" rIns="0" bIns="0" rtlCol="0" anchor="t"/>
          <a:lstStyle/>
          <a:p>
            <a:pPr indent="0" marL="0">
              <a:buNone/>
            </a:pPr>
            <a:r>
              <a:rPr lang="en-US" sz="1400" dirty="0">
                <a:solidFill>
                  <a:schemeClr val="tx1"/>
                </a:solidFill>
              </a:rPr>
              <a:t>объёмная деформация</a:t>
            </a:r>
            <a:endParaRPr lang="en-US" sz="1400" dirty="0"/>
          </a:p>
        </p:txBody>
      </p:sp>
      <p:sp>
        <p:nvSpPr>
          <p:cNvPr id="24" name="swell-2"/>
          <p:cNvSpPr/>
          <p:nvPr/>
        </p:nvSpPr>
        <p:spPr>
          <a:xfrm>
            <a:off x="8138160" y="3749040"/>
            <a:ext cx="3474720" cy="1051560"/>
          </a:xfrm>
          <a:prstGeom prst="roundRect">
            <a:avLst>
              <a:gd name="adj" fmla="val 6957"/>
            </a:avLst>
          </a:prstGeom>
          <a:solidFill>
            <a:schemeClr val="bg2"/>
          </a:solidFill>
          <a:ln/>
        </p:spPr>
      </p:sp>
      <p:sp>
        <p:nvSpPr>
          <p:cNvPr id="25" name="Text 22"/>
          <p:cNvSpPr txBox="1"/>
          <p:nvPr/>
        </p:nvSpPr>
        <p:spPr>
          <a:xfrm>
            <a:off x="8321040" y="3794760"/>
            <a:ext cx="3108960" cy="548640"/>
          </a:xfrm>
          <a:prstGeom prst="rect">
            <a:avLst/>
          </a:prstGeom>
          <a:noFill/>
          <a:ln/>
        </p:spPr>
        <p:txBody>
          <a:bodyPr wrap="square" lIns="0" tIns="0" rIns="0" bIns="0" rtlCol="0" anchor="ctr"/>
          <a:lstStyle/>
          <a:p>
            <a:pPr indent="0" marL="0">
              <a:buNone/>
            </a:pPr>
            <a:r>
              <a:rPr lang="en-US" sz="2600" b="1" dirty="0">
                <a:solidFill>
                  <a:schemeClr val="accent3"/>
                </a:solidFill>
              </a:rPr>
              <a:t>0,460 &gt; 0,415</a:t>
            </a:r>
            <a:endParaRPr lang="en-US" sz="2600" dirty="0"/>
          </a:p>
        </p:txBody>
      </p:sp>
      <p:sp>
        <p:nvSpPr>
          <p:cNvPr id="26" name="Text 23"/>
          <p:cNvSpPr txBox="1"/>
          <p:nvPr/>
        </p:nvSpPr>
        <p:spPr>
          <a:xfrm>
            <a:off x="8321040" y="4343400"/>
            <a:ext cx="3108960" cy="365760"/>
          </a:xfrm>
          <a:prstGeom prst="rect">
            <a:avLst/>
          </a:prstGeom>
          <a:noFill/>
          <a:ln/>
        </p:spPr>
        <p:txBody>
          <a:bodyPr wrap="square" lIns="0" tIns="0" rIns="0" bIns="0" rtlCol="0" anchor="t"/>
          <a:lstStyle/>
          <a:p>
            <a:pPr indent="0" marL="0">
              <a:buNone/>
            </a:pPr>
            <a:r>
              <a:rPr lang="en-US" sz="1400" dirty="0">
                <a:solidFill>
                  <a:schemeClr val="tx1"/>
                </a:solidFill>
              </a:rPr>
              <a:t>θmax больше исходной пористости</a:t>
            </a:r>
            <a:endParaRPr lang="en-US" sz="1400" dirty="0"/>
          </a:p>
        </p:txBody>
      </p:sp>
      <p:sp>
        <p:nvSpPr>
          <p:cNvPr id="27" name="swell-note"/>
          <p:cNvSpPr/>
          <p:nvPr/>
        </p:nvSpPr>
        <p:spPr>
          <a:xfrm>
            <a:off x="548640" y="5623560"/>
            <a:ext cx="11064240" cy="731520"/>
          </a:xfrm>
          <a:prstGeom prst="roundRect">
            <a:avLst>
              <a:gd name="adj" fmla="val 10000"/>
            </a:avLst>
          </a:prstGeom>
          <a:solidFill>
            <a:schemeClr val="bg1"/>
          </a:solidFill>
          <a:ln w="19050">
            <a:solidFill>
              <a:schemeClr val="accent2"/>
            </a:solidFill>
            <a:prstDash val="solid"/>
          </a:ln>
        </p:spPr>
      </p:sp>
      <p:sp>
        <p:nvSpPr>
          <p:cNvPr id="28" name="Text 25"/>
          <p:cNvSpPr txBox="1"/>
          <p:nvPr/>
        </p:nvSpPr>
        <p:spPr>
          <a:xfrm>
            <a:off x="777240" y="5623560"/>
            <a:ext cx="10607040" cy="731520"/>
          </a:xfrm>
          <a:prstGeom prst="rect">
            <a:avLst/>
          </a:prstGeom>
          <a:noFill/>
          <a:ln/>
        </p:spPr>
        <p:txBody>
          <a:bodyPr wrap="square" lIns="0" tIns="0" rIns="0" bIns="0" rtlCol="0" anchor="ctr"/>
          <a:lstStyle/>
          <a:p>
            <a:pPr indent="0" marL="0">
              <a:buNone/>
            </a:pPr>
            <a:r>
              <a:rPr lang="en-US" sz="1400" dirty="0">
                <a:solidFill>
                  <a:schemeClr val="tx1"/>
                </a:solidFill>
              </a:rPr>
              <a:t>Если делить воду на прежний объём, эталон завышен, а ошибка датчика выглядит заниженной. Поэтому эталон считали по реальному объёму: дополнительной ошибки от набухания не нашли.</a:t>
            </a:r>
            <a:endParaRPr lang="en-US" sz="14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1"/>
                </a:solidFill>
              </a:rPr>
              <a:t>Что делать практику: светофор</a:t>
            </a:r>
            <a:endParaRPr lang="en-US" sz="3000" dirty="0"/>
          </a:p>
        </p:txBody>
      </p:sp>
      <p:sp>
        <p:nvSpPr>
          <p:cNvPr id="4" name="tl-0"/>
          <p:cNvSpPr/>
          <p:nvPr/>
        </p:nvSpPr>
        <p:spPr>
          <a:xfrm>
            <a:off x="548640" y="1371600"/>
            <a:ext cx="6309360" cy="1097280"/>
          </a:xfrm>
          <a:prstGeom prst="roundRect">
            <a:avLst>
              <a:gd name="adj" fmla="val 6667"/>
            </a:avLst>
          </a:prstGeom>
          <a:solidFill>
            <a:schemeClr val="bg2"/>
          </a:solidFill>
          <a:ln/>
        </p:spPr>
      </p:sp>
      <p:sp>
        <p:nvSpPr>
          <p:cNvPr id="5" name="light"/>
          <p:cNvSpPr/>
          <p:nvPr/>
        </p:nvSpPr>
        <p:spPr>
          <a:xfrm>
            <a:off x="731520" y="1600200"/>
            <a:ext cx="640080" cy="640080"/>
          </a:xfrm>
          <a:prstGeom prst="ellipse">
            <a:avLst/>
          </a:prstGeom>
          <a:solidFill>
            <a:schemeClr val="accent6"/>
          </a:solidFill>
          <a:ln/>
        </p:spPr>
      </p:sp>
      <p:sp>
        <p:nvSpPr>
          <p:cNvPr id="6" name="Text 3"/>
          <p:cNvSpPr txBox="1"/>
          <p:nvPr/>
        </p:nvSpPr>
        <p:spPr>
          <a:xfrm>
            <a:off x="1600200" y="1371600"/>
            <a:ext cx="5120640" cy="1097280"/>
          </a:xfrm>
          <a:prstGeom prst="rect">
            <a:avLst/>
          </a:prstGeom>
          <a:noFill/>
          <a:ln/>
        </p:spPr>
        <p:txBody>
          <a:bodyPr wrap="square" lIns="0" tIns="0" rIns="0" bIns="0" rtlCol="0" anchor="ctr"/>
          <a:lstStyle/>
          <a:p>
            <a:pPr indent="0" marL="0">
              <a:buNone/>
            </a:pPr>
            <a:r>
              <a:rPr lang="en-US" sz="1600" b="1" dirty="0">
                <a:solidFill>
                  <a:schemeClr val="tx1"/>
                </a:solidFill>
              </a:rPr>
              <a:t>Лёгкие, 10–20 % физ. глины</a:t>
            </a:r>
            <a:endParaRPr lang="en-US" sz="1600" dirty="0"/>
          </a:p>
          <a:p>
            <a:pPr indent="0" marL="0">
              <a:buNone/>
            </a:pPr>
            <a:r>
              <a:rPr lang="en-US" sz="1400" dirty="0">
                <a:solidFill>
                  <a:schemeClr val="tx2"/>
                </a:solidFill>
              </a:rPr>
              <a:t>заводская калибровка без поправки</a:t>
            </a:r>
            <a:endParaRPr lang="en-US" sz="1600" dirty="0"/>
          </a:p>
        </p:txBody>
      </p:sp>
      <p:sp>
        <p:nvSpPr>
          <p:cNvPr id="7" name="tl-1"/>
          <p:cNvSpPr/>
          <p:nvPr/>
        </p:nvSpPr>
        <p:spPr>
          <a:xfrm>
            <a:off x="548640" y="2606040"/>
            <a:ext cx="6309360" cy="1097280"/>
          </a:xfrm>
          <a:prstGeom prst="roundRect">
            <a:avLst>
              <a:gd name="adj" fmla="val 6667"/>
            </a:avLst>
          </a:prstGeom>
          <a:solidFill>
            <a:schemeClr val="bg2"/>
          </a:solidFill>
          <a:ln/>
        </p:spPr>
      </p:sp>
      <p:sp>
        <p:nvSpPr>
          <p:cNvPr id="8" name="light"/>
          <p:cNvSpPr/>
          <p:nvPr/>
        </p:nvSpPr>
        <p:spPr>
          <a:xfrm>
            <a:off x="731520" y="2834640"/>
            <a:ext cx="640080" cy="640080"/>
          </a:xfrm>
          <a:prstGeom prst="ellipse">
            <a:avLst/>
          </a:prstGeom>
          <a:solidFill>
            <a:schemeClr val="accent2"/>
          </a:solidFill>
          <a:ln/>
        </p:spPr>
      </p:sp>
      <p:sp>
        <p:nvSpPr>
          <p:cNvPr id="9" name="Text 6"/>
          <p:cNvSpPr txBox="1"/>
          <p:nvPr/>
        </p:nvSpPr>
        <p:spPr>
          <a:xfrm>
            <a:off x="1600200" y="2606040"/>
            <a:ext cx="5120640" cy="1097280"/>
          </a:xfrm>
          <a:prstGeom prst="rect">
            <a:avLst/>
          </a:prstGeom>
          <a:noFill/>
          <a:ln/>
        </p:spPr>
        <p:txBody>
          <a:bodyPr wrap="square" lIns="0" tIns="0" rIns="0" bIns="0" rtlCol="0" anchor="ctr"/>
          <a:lstStyle/>
          <a:p>
            <a:pPr indent="0" marL="0">
              <a:buNone/>
            </a:pPr>
            <a:r>
              <a:rPr lang="en-US" sz="1600" b="1" dirty="0">
                <a:solidFill>
                  <a:schemeClr val="tx1"/>
                </a:solidFill>
              </a:rPr>
              <a:t>Тяжёлые, 40–65 %</a:t>
            </a:r>
            <a:endParaRPr lang="en-US" sz="1600" dirty="0"/>
          </a:p>
          <a:p>
            <a:pPr indent="0" marL="0">
              <a:buNone/>
            </a:pPr>
            <a:r>
              <a:rPr lang="en-US" sz="1400" dirty="0">
                <a:solidFill>
                  <a:schemeClr val="tx2"/>
                </a:solidFill>
              </a:rPr>
              <a:t>RMSE ≤ 0,02, но завышение 0,006–0,010, до 0,027 во влажной. Для порогов вблизи наименьшей влагоёмкости: калибровка под почву или 1–2 весовые проверки за сезон</a:t>
            </a:r>
            <a:endParaRPr lang="en-US" sz="1600" dirty="0"/>
          </a:p>
        </p:txBody>
      </p:sp>
      <p:sp>
        <p:nvSpPr>
          <p:cNvPr id="10" name="tl-2"/>
          <p:cNvSpPr/>
          <p:nvPr/>
        </p:nvSpPr>
        <p:spPr>
          <a:xfrm>
            <a:off x="548640" y="3840480"/>
            <a:ext cx="6309360" cy="1097280"/>
          </a:xfrm>
          <a:prstGeom prst="roundRect">
            <a:avLst>
              <a:gd name="adj" fmla="val 6667"/>
            </a:avLst>
          </a:prstGeom>
          <a:solidFill>
            <a:schemeClr val="bg2"/>
          </a:solidFill>
          <a:ln/>
        </p:spPr>
      </p:sp>
      <p:sp>
        <p:nvSpPr>
          <p:cNvPr id="11" name="light"/>
          <p:cNvSpPr/>
          <p:nvPr/>
        </p:nvSpPr>
        <p:spPr>
          <a:xfrm>
            <a:off x="731520" y="4069080"/>
            <a:ext cx="640080" cy="640080"/>
          </a:xfrm>
          <a:prstGeom prst="ellipse">
            <a:avLst/>
          </a:prstGeom>
          <a:solidFill>
            <a:schemeClr val="accent3"/>
          </a:solidFill>
          <a:ln/>
        </p:spPr>
      </p:sp>
      <p:sp>
        <p:nvSpPr>
          <p:cNvPr id="12" name="Text 9"/>
          <p:cNvSpPr txBox="1"/>
          <p:nvPr/>
        </p:nvSpPr>
        <p:spPr>
          <a:xfrm>
            <a:off x="1600200" y="3840480"/>
            <a:ext cx="5120640" cy="1097280"/>
          </a:xfrm>
          <a:prstGeom prst="rect">
            <a:avLst/>
          </a:prstGeom>
          <a:noFill/>
          <a:ln/>
        </p:spPr>
        <p:txBody>
          <a:bodyPr wrap="square" lIns="0" tIns="0" rIns="0" bIns="0" rtlCol="0" anchor="ctr"/>
          <a:lstStyle/>
          <a:p>
            <a:pPr indent="0" marL="0">
              <a:buNone/>
            </a:pPr>
            <a:r>
              <a:rPr lang="en-US" sz="1600" b="1" dirty="0">
                <a:solidFill>
                  <a:schemeClr val="tx1"/>
                </a:solidFill>
              </a:rPr>
              <a:t>Постоянная поправка</a:t>
            </a:r>
            <a:endParaRPr lang="en-US" sz="1600" dirty="0"/>
          </a:p>
          <a:p>
            <a:pPr indent="0" marL="0">
              <a:buNone/>
            </a:pPr>
            <a:r>
              <a:rPr lang="en-US" sz="1400" dirty="0">
                <a:solidFill>
                  <a:schemeClr val="tx2"/>
                </a:solidFill>
              </a:rPr>
              <a:t>не годится: ошибка растёт с влажностью</a:t>
            </a:r>
            <a:endParaRPr lang="en-US" sz="1600" dirty="0"/>
          </a:p>
        </p:txBody>
      </p:sp>
      <p:sp>
        <p:nvSpPr>
          <p:cNvPr id="13" name="tl-3"/>
          <p:cNvSpPr/>
          <p:nvPr/>
        </p:nvSpPr>
        <p:spPr>
          <a:xfrm>
            <a:off x="548640" y="5074920"/>
            <a:ext cx="6309360" cy="1097280"/>
          </a:xfrm>
          <a:prstGeom prst="roundRect">
            <a:avLst>
              <a:gd name="adj" fmla="val 6667"/>
            </a:avLst>
          </a:prstGeom>
          <a:solidFill>
            <a:schemeClr val="bg2"/>
          </a:solidFill>
          <a:ln/>
        </p:spPr>
      </p:sp>
      <p:sp>
        <p:nvSpPr>
          <p:cNvPr id="14" name="light"/>
          <p:cNvSpPr/>
          <p:nvPr/>
        </p:nvSpPr>
        <p:spPr>
          <a:xfrm>
            <a:off x="731520" y="5303520"/>
            <a:ext cx="640080" cy="640080"/>
          </a:xfrm>
          <a:prstGeom prst="ellipse">
            <a:avLst/>
          </a:prstGeom>
          <a:solidFill>
            <a:schemeClr val="accent5"/>
          </a:solidFill>
          <a:ln/>
        </p:spPr>
      </p:sp>
      <p:sp>
        <p:nvSpPr>
          <p:cNvPr id="15" name="Text 12"/>
          <p:cNvSpPr txBox="1"/>
          <p:nvPr/>
        </p:nvSpPr>
        <p:spPr>
          <a:xfrm>
            <a:off x="1600200" y="5074920"/>
            <a:ext cx="5120640" cy="1097280"/>
          </a:xfrm>
          <a:prstGeom prst="rect">
            <a:avLst/>
          </a:prstGeom>
          <a:noFill/>
          <a:ln/>
        </p:spPr>
        <p:txBody>
          <a:bodyPr wrap="square" lIns="0" tIns="0" rIns="0" bIns="0" rtlCol="0" anchor="ctr"/>
          <a:lstStyle/>
          <a:p>
            <a:pPr indent="0" marL="0">
              <a:buNone/>
            </a:pPr>
            <a:r>
              <a:rPr lang="en-US" sz="1600" b="1" dirty="0">
                <a:solidFill>
                  <a:schemeClr val="tx1"/>
                </a:solidFill>
              </a:rPr>
              <a:t>Серая зона</a:t>
            </a:r>
            <a:endParaRPr lang="en-US" sz="1600" dirty="0"/>
          </a:p>
          <a:p>
            <a:pPr indent="0" marL="0">
              <a:buNone/>
            </a:pPr>
            <a:r>
              <a:rPr lang="en-US" sz="1400" dirty="0">
                <a:solidFill>
                  <a:schemeClr val="tx2"/>
                </a:solidFill>
              </a:rPr>
              <a:t>20–40 % физ. глины не проверяли; в поле нужна температурная поправка</a:t>
            </a:r>
            <a:endParaRPr lang="en-US" sz="1600" dirty="0"/>
          </a:p>
        </p:txBody>
      </p:sp>
      <p:graphicFrame>
        <p:nvGraphicFramePr>
          <p:cNvPr id="16" name="Chart 0" descr=""/>
          <p:cNvGraphicFramePr/>
          <p:nvPr/>
        </p:nvGraphicFramePr>
        <p:xfrm>
          <a:off x="7132320" y="1371600"/>
          <a:ext cx="4480560" cy="4023360"/>
        </p:xfrm>
        <a:graphic xmlns:a="http://schemas.openxmlformats.org/drawingml/2006/main">
          <a:graphicData uri="http://schemas.openxmlformats.org/drawingml/2006/chart">
            <c:chart xmlns:c="http://schemas.openxmlformats.org/drawingml/2006/chart" r:id="rId1"/>
          </a:graphicData>
        </a:graphic>
      </p:graphicFrame>
      <p:sp>
        <p:nvSpPr>
          <p:cNvPr id="17" name="scale-note"/>
          <p:cNvSpPr/>
          <p:nvPr/>
        </p:nvSpPr>
        <p:spPr>
          <a:xfrm>
            <a:off x="7132320" y="5532120"/>
            <a:ext cx="4480560" cy="777240"/>
          </a:xfrm>
          <a:prstGeom prst="roundRect">
            <a:avLst>
              <a:gd name="adj" fmla="val 9412"/>
            </a:avLst>
          </a:prstGeom>
          <a:solidFill>
            <a:schemeClr val="tx1"/>
          </a:solidFill>
          <a:ln/>
        </p:spPr>
      </p:sp>
      <p:sp>
        <p:nvSpPr>
          <p:cNvPr id="18" name="Text 14"/>
          <p:cNvSpPr txBox="1"/>
          <p:nvPr/>
        </p:nvSpPr>
        <p:spPr>
          <a:xfrm>
            <a:off x="7315200" y="5532120"/>
            <a:ext cx="4114800" cy="777240"/>
          </a:xfrm>
          <a:prstGeom prst="rect">
            <a:avLst/>
          </a:prstGeom>
          <a:noFill/>
          <a:ln/>
        </p:spPr>
        <p:txBody>
          <a:bodyPr wrap="square" lIns="0" tIns="0" rIns="0" bIns="0" rtlCol="0" anchor="ctr"/>
          <a:lstStyle/>
          <a:p>
            <a:pPr indent="0" marL="0">
              <a:buNone/>
            </a:pPr>
            <a:r>
              <a:rPr lang="en-US" sz="1400" b="1" dirty="0">
                <a:solidFill>
                  <a:schemeClr val="bg1"/>
                </a:solidFill>
              </a:rPr>
              <a:t>0,010 ≈ 10 мм воды в метровом слое, 0,027 ≈ 27 мм</a:t>
            </a:r>
            <a:endParaRPr lang="en-US" sz="14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1"/>
                </a:solidFill>
              </a:rPr>
              <a:t>Куда дальше: решающие эксперименты</a:t>
            </a:r>
            <a:endParaRPr lang="en-US" sz="3000" dirty="0"/>
          </a:p>
        </p:txBody>
      </p:sp>
      <p:graphicFrame>
        <p:nvGraphicFramePr>
          <p:cNvPr id="19" name="next-steps"/>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108960"/>
                <a:gridCol w="4480560"/>
                <a:gridCol w="3474720"/>
              </a:tblGrid>
              <a:tr h="457200">
                <a:tc>
                  <a:txBody>
                    <a:bodyPr/>
                    <a:lstStyle/>
                    <a:p>
                      <a:pPr indent="0" marL="0">
                        <a:buNone/>
                      </a:pPr>
                      <a:r>
                        <a:rPr lang="en-US" sz="1400" b="1" dirty="0">
                          <a:solidFill>
                            <a:schemeClr val="bg1"/>
                          </a:solidFill>
                        </a:rPr>
                        <a:t>Вопрос, на который данных нет</a:t>
                      </a:r>
                      <a:endParaRPr lang="en-US" sz="1400" dirty="0"/>
                    </a:p>
                  </a:txBody>
                  <a:tcPr marL="91440" marR="91440" marT="91440" marB="9144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Решающий эксперимент</a:t>
                      </a:r>
                      <a:endParaRPr lang="en-US" sz="1400" dirty="0"/>
                    </a:p>
                  </a:txBody>
                  <a:tcPr marL="91440" marR="91440" marT="91440" marB="9144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Как читать результат</a:t>
                      </a:r>
                      <a:endParaRPr lang="en-US" sz="1400" dirty="0"/>
                    </a:p>
                  </a:txBody>
                  <a:tcPr marL="91440" marR="91440" marT="91440" marB="9144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1"/>
                    </a:solidFill>
                  </a:tcPr>
                </a:tc>
              </a:tr>
              <a:tr h="1188720">
                <a:tc>
                  <a:txBody>
                    <a:bodyPr/>
                    <a:lstStyle/>
                    <a:p>
                      <a:pPr indent="0" marL="0">
                        <a:buNone/>
                      </a:pPr>
                      <a:r>
                        <a:rPr lang="en-US" sz="1500" b="1" dirty="0">
                          <a:solidFill>
                            <a:schemeClr val="tx1"/>
                          </a:solidFill>
                        </a:rPr>
                        <a:t>Глина или соли?</a:t>
                      </a:r>
                      <a:endParaRPr lang="en-US" sz="1500" dirty="0"/>
                    </a:p>
                  </a:txBody>
                  <a:tcPr marL="91440" marR="91440" marT="91440" marB="9144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Развести их: высокая глина при низкой солёности и наоборот; ступенчатое засоление одной почвы (часть сделана, 1–4 дСм/м, отдельная статья)</a:t>
                      </a:r>
                      <a:endParaRPr lang="en-US" sz="1500" dirty="0"/>
                    </a:p>
                  </a:txBody>
                  <a:tcPr marL="91440" marR="91440" marT="91440" marB="9144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Ошибка идёт за солью → механизм в растворе; за поверхностью → в проводимости глин</a:t>
                      </a:r>
                      <a:endParaRPr lang="en-US" sz="1500" dirty="0"/>
                    </a:p>
                  </a:txBody>
                  <a:tcPr marL="91440" marR="91440" marT="91440" marB="9144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1005840">
                <a:tc>
                  <a:txBody>
                    <a:bodyPr/>
                    <a:lstStyle/>
                    <a:p>
                      <a:pPr indent="0" marL="0">
                        <a:buNone/>
                      </a:pPr>
                      <a:r>
                        <a:rPr lang="en-US" sz="1500" b="1" dirty="0">
                          <a:solidFill>
                            <a:schemeClr val="accent3"/>
                          </a:solidFill>
                        </a:rPr>
                        <a:t>Можно ли учесть проводимость в поправке? (идея, не результат)</a:t>
                      </a:r>
                      <a:endParaRPr lang="en-US" sz="1500" dirty="0"/>
                    </a:p>
                  </a:txBody>
                  <a:tcPr marL="91440" marR="91440" marT="91440" marB="9144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Мерить рядом объёмную электропроводность почвы и строить поправку по двум входам: τ и ЭП</a:t>
                      </a:r>
                      <a:endParaRPr lang="en-US" sz="1500" dirty="0"/>
                    </a:p>
                  </a:txBody>
                  <a:tcPr marL="91440" marR="91440" marT="91440" marB="9144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Если остаток исчезает → поправка не требует калибровки под каждую почву</a:t>
                      </a:r>
                      <a:endParaRPr lang="en-US" sz="1500" dirty="0"/>
                    </a:p>
                  </a:txBody>
                  <a:tcPr marL="91440" marR="91440" marT="91440" marB="9144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914400">
                <a:tc>
                  <a:txBody>
                    <a:bodyPr/>
                    <a:lstStyle/>
                    <a:p>
                      <a:pPr indent="0" marL="0">
                        <a:buNone/>
                      </a:pPr>
                      <a:r>
                        <a:rPr lang="en-US" sz="1500" b="1" dirty="0">
                          <a:solidFill>
                            <a:schemeClr val="tx1"/>
                          </a:solidFill>
                        </a:rPr>
                        <a:t>Насколько устойчив эффект почвы?</a:t>
                      </a:r>
                      <a:endParaRPr lang="en-US" sz="1500" dirty="0"/>
                    </a:p>
                  </a:txBody>
                  <a:tcPr marL="91440" marR="91440" marT="91440" marB="9144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Переанализ уже имеющихся 180 значений смешанной моделью: колонка — случайный эффект</a:t>
                      </a:r>
                      <a:endParaRPr lang="en-US" sz="1500" dirty="0"/>
                    </a:p>
                  </a:txBody>
                  <a:tcPr marL="91440" marR="91440" marT="91440" marB="9144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Эффект сохраняется → снимается главное ограничение статистики</a:t>
                      </a:r>
                      <a:endParaRPr lang="en-US" sz="1500" dirty="0"/>
                    </a:p>
                  </a:txBody>
                  <a:tcPr marL="91440" marR="91440" marT="91440" marB="9144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1005840">
                <a:tc>
                  <a:txBody>
                    <a:bodyPr/>
                    <a:lstStyle/>
                    <a:p>
                      <a:pPr indent="0" marL="0">
                        <a:buNone/>
                      </a:pPr>
                      <a:r>
                        <a:rPr lang="en-US" sz="1500" b="1" dirty="0">
                          <a:solidFill>
                            <a:schemeClr val="tx1"/>
                          </a:solidFill>
                        </a:rPr>
                        <a:t>Верно ли это для класса почв, а не для одной почвы?</a:t>
                      </a:r>
                      <a:endParaRPr lang="en-US" sz="1500" dirty="0"/>
                    </a:p>
                  </a:txBody>
                  <a:tcPr marL="91440" marR="91440" marT="91440" marB="9144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Больше почв (в т. ч. 20–40 % физ. глины), минералогия глин, ветвь увлажнения, температура, поле</a:t>
                      </a:r>
                      <a:endParaRPr lang="en-US" sz="1500" dirty="0"/>
                    </a:p>
                  </a:txBody>
                  <a:tcPr marL="91440" marR="91440" marT="91440" marB="9144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Каждый шаг превращает «в изученных почвах» в «для класса почв»</a:t>
                      </a:r>
                      <a:endParaRPr lang="en-US" sz="1500" dirty="0"/>
                    </a:p>
                  </a:txBody>
                  <a:tcPr marL="91440" marR="91440" marT="91440" marB="9144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bl>
          </a:graphicData>
        </a:graphic>
      </p:graphicFrame>
      <p:sp>
        <p:nvSpPr>
          <p:cNvPr id="5" name="Text 1"/>
          <p:cNvSpPr txBox="1"/>
          <p:nvPr/>
        </p:nvSpPr>
        <p:spPr>
          <a:xfrm>
            <a:off x="548640" y="6053328"/>
            <a:ext cx="11064240" cy="274320"/>
          </a:xfrm>
          <a:prstGeom prst="rect">
            <a:avLst/>
          </a:prstGeom>
          <a:noFill/>
          <a:ln/>
        </p:spPr>
        <p:txBody>
          <a:bodyPr wrap="square" lIns="0" tIns="0" rIns="0" bIns="0" rtlCol="0" anchor="t"/>
          <a:lstStyle/>
          <a:p>
            <a:pPr indent="0" marL="0">
              <a:buNone/>
            </a:pPr>
            <a:r>
              <a:rPr lang="en-US" sz="1200" i="1" dirty="0">
                <a:solidFill>
                  <a:schemeClr val="tx2"/>
                </a:solidFill>
              </a:rPr>
              <a:t>Идея помечена как гипотеза: объёмную электропроводность в этом опыте мы не измеряли</a:t>
            </a:r>
            <a:endParaRPr lang="en-US" sz="12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bg1"/>
                </a:solidFill>
              </a:rPr>
              <a:t>Что мы доказали, а чего нет</a:t>
            </a:r>
            <a:endParaRPr lang="en-US" sz="3000" dirty="0"/>
          </a:p>
        </p:txBody>
      </p:sp>
      <p:sp>
        <p:nvSpPr>
          <p:cNvPr id="4" name="take-0"/>
          <p:cNvSpPr/>
          <p:nvPr/>
        </p:nvSpPr>
        <p:spPr>
          <a:xfrm>
            <a:off x="548640" y="1417320"/>
            <a:ext cx="3566160" cy="3200400"/>
          </a:xfrm>
          <a:prstGeom prst="roundRect">
            <a:avLst>
              <a:gd name="adj" fmla="val 2286"/>
            </a:avLst>
          </a:prstGeom>
          <a:solidFill>
            <a:srgbClr val="3D2E22"/>
          </a:solidFill>
          <a:ln/>
        </p:spPr>
      </p:sp>
      <p:sp>
        <p:nvSpPr>
          <p:cNvPr id="5" name="badge"/>
          <p:cNvSpPr/>
          <p:nvPr/>
        </p:nvSpPr>
        <p:spPr>
          <a:xfrm>
            <a:off x="822960" y="1645920"/>
            <a:ext cx="640080" cy="640080"/>
          </a:xfrm>
          <a:prstGeom prst="ellipse">
            <a:avLst/>
          </a:prstGeom>
          <a:solidFill>
            <a:schemeClr val="accent2"/>
          </a:solidFill>
          <a:ln/>
        </p:spPr>
      </p:sp>
      <p:sp>
        <p:nvSpPr>
          <p:cNvPr id="6" name="Text 3"/>
          <p:cNvSpPr txBox="1"/>
          <p:nvPr/>
        </p:nvSpPr>
        <p:spPr>
          <a:xfrm>
            <a:off x="822960" y="1645920"/>
            <a:ext cx="640080" cy="640080"/>
          </a:xfrm>
          <a:prstGeom prst="rect">
            <a:avLst/>
          </a:prstGeom>
          <a:noFill/>
          <a:ln/>
        </p:spPr>
        <p:txBody>
          <a:bodyPr wrap="square" lIns="0" tIns="0" rIns="0" bIns="0" rtlCol="0" anchor="ctr"/>
          <a:lstStyle/>
          <a:p>
            <a:pPr algn="ctr" indent="0" marL="0">
              <a:buNone/>
            </a:pPr>
            <a:r>
              <a:rPr lang="en-US" sz="2200" b="1" dirty="0">
                <a:solidFill>
                  <a:schemeClr val="tx1"/>
                </a:solidFill>
              </a:rPr>
              <a:t>1</a:t>
            </a:r>
            <a:endParaRPr lang="en-US" sz="2200" dirty="0"/>
          </a:p>
        </p:txBody>
      </p:sp>
      <p:sp>
        <p:nvSpPr>
          <p:cNvPr id="7" name="Text 4"/>
          <p:cNvSpPr txBox="1"/>
          <p:nvPr/>
        </p:nvSpPr>
        <p:spPr>
          <a:xfrm>
            <a:off x="822960" y="2468880"/>
            <a:ext cx="3017520" cy="822960"/>
          </a:xfrm>
          <a:prstGeom prst="rect">
            <a:avLst/>
          </a:prstGeom>
          <a:noFill/>
          <a:ln/>
        </p:spPr>
        <p:txBody>
          <a:bodyPr wrap="square" lIns="0" tIns="0" rIns="0" bIns="0" rtlCol="0" anchor="t"/>
          <a:lstStyle/>
          <a:p>
            <a:pPr indent="0" marL="0">
              <a:buNone/>
            </a:pPr>
            <a:r>
              <a:rPr lang="en-US" sz="2000" b="1" dirty="0">
                <a:solidFill>
                  <a:schemeClr val="bg1"/>
                </a:solidFill>
              </a:rPr>
              <a:t>Годится, но не бесплатно</a:t>
            </a:r>
            <a:endParaRPr lang="en-US" sz="2000" dirty="0"/>
          </a:p>
        </p:txBody>
      </p:sp>
      <p:sp>
        <p:nvSpPr>
          <p:cNvPr id="8" name="Text 5"/>
          <p:cNvSpPr txBox="1"/>
          <p:nvPr/>
        </p:nvSpPr>
        <p:spPr>
          <a:xfrm>
            <a:off x="822960" y="3337560"/>
            <a:ext cx="3017520" cy="1188720"/>
          </a:xfrm>
          <a:prstGeom prst="rect">
            <a:avLst/>
          </a:prstGeom>
          <a:noFill/>
          <a:ln/>
        </p:spPr>
        <p:txBody>
          <a:bodyPr wrap="square" lIns="0" tIns="0" rIns="0" bIns="0" rtlCol="0" anchor="t"/>
          <a:lstStyle/>
          <a:p>
            <a:pPr indent="0" marL="0">
              <a:buNone/>
            </a:pPr>
            <a:r>
              <a:rPr lang="en-US" sz="1400" dirty="0">
                <a:solidFill>
                  <a:schemeClr val="bg1"/>
                </a:solidFill>
              </a:rPr>
              <a:t>RMSE 0,006–0,014 &lt; 0,02 везде. Но в почвах с 40–65 % физ. глины датчик завышает и ошибка растёт с влажностью</a:t>
            </a:r>
            <a:endParaRPr lang="en-US" sz="1400" dirty="0"/>
          </a:p>
        </p:txBody>
      </p:sp>
      <p:sp>
        <p:nvSpPr>
          <p:cNvPr id="9" name="take-1"/>
          <p:cNvSpPr/>
          <p:nvPr/>
        </p:nvSpPr>
        <p:spPr>
          <a:xfrm>
            <a:off x="4297680" y="1417320"/>
            <a:ext cx="3566160" cy="3200400"/>
          </a:xfrm>
          <a:prstGeom prst="roundRect">
            <a:avLst>
              <a:gd name="adj" fmla="val 2286"/>
            </a:avLst>
          </a:prstGeom>
          <a:solidFill>
            <a:srgbClr val="3D2E22"/>
          </a:solidFill>
          <a:ln/>
        </p:spPr>
      </p:sp>
      <p:sp>
        <p:nvSpPr>
          <p:cNvPr id="10" name="badge"/>
          <p:cNvSpPr/>
          <p:nvPr/>
        </p:nvSpPr>
        <p:spPr>
          <a:xfrm>
            <a:off x="4572000" y="1645920"/>
            <a:ext cx="640080" cy="640080"/>
          </a:xfrm>
          <a:prstGeom prst="ellipse">
            <a:avLst/>
          </a:prstGeom>
          <a:solidFill>
            <a:schemeClr val="accent2"/>
          </a:solidFill>
          <a:ln/>
        </p:spPr>
      </p:sp>
      <p:sp>
        <p:nvSpPr>
          <p:cNvPr id="11" name="Text 8"/>
          <p:cNvSpPr txBox="1"/>
          <p:nvPr/>
        </p:nvSpPr>
        <p:spPr>
          <a:xfrm>
            <a:off x="4572000" y="1645920"/>
            <a:ext cx="640080" cy="640080"/>
          </a:xfrm>
          <a:prstGeom prst="rect">
            <a:avLst/>
          </a:prstGeom>
          <a:noFill/>
          <a:ln/>
        </p:spPr>
        <p:txBody>
          <a:bodyPr wrap="square" lIns="0" tIns="0" rIns="0" bIns="0" rtlCol="0" anchor="ctr"/>
          <a:lstStyle/>
          <a:p>
            <a:pPr algn="ctr" indent="0" marL="0">
              <a:buNone/>
            </a:pPr>
            <a:r>
              <a:rPr lang="en-US" sz="2200" b="1" dirty="0">
                <a:solidFill>
                  <a:schemeClr val="tx1"/>
                </a:solidFill>
              </a:rPr>
              <a:t>2</a:t>
            </a:r>
            <a:endParaRPr lang="en-US" sz="2200" dirty="0"/>
          </a:p>
        </p:txBody>
      </p:sp>
      <p:sp>
        <p:nvSpPr>
          <p:cNvPr id="12" name="Text 9"/>
          <p:cNvSpPr txBox="1"/>
          <p:nvPr/>
        </p:nvSpPr>
        <p:spPr>
          <a:xfrm>
            <a:off x="4572000" y="2468880"/>
            <a:ext cx="3017520" cy="822960"/>
          </a:xfrm>
          <a:prstGeom prst="rect">
            <a:avLst/>
          </a:prstGeom>
          <a:noFill/>
          <a:ln/>
        </p:spPr>
        <p:txBody>
          <a:bodyPr wrap="square" lIns="0" tIns="0" rIns="0" bIns="0" rtlCol="0" anchor="t"/>
          <a:lstStyle/>
          <a:p>
            <a:pPr indent="0" marL="0">
              <a:buNone/>
            </a:pPr>
            <a:r>
              <a:rPr lang="en-US" sz="2000" b="1" dirty="0">
                <a:solidFill>
                  <a:schemeClr val="bg1"/>
                </a:solidFill>
              </a:rPr>
              <a:t>Доказывали устойчивость, а не только p</a:t>
            </a:r>
            <a:endParaRPr lang="en-US" sz="2000" dirty="0"/>
          </a:p>
        </p:txBody>
      </p:sp>
      <p:sp>
        <p:nvSpPr>
          <p:cNvPr id="13" name="Text 10"/>
          <p:cNvSpPr txBox="1"/>
          <p:nvPr/>
        </p:nvSpPr>
        <p:spPr>
          <a:xfrm>
            <a:off x="4572000" y="3337560"/>
            <a:ext cx="3017520" cy="1188720"/>
          </a:xfrm>
          <a:prstGeom prst="rect">
            <a:avLst/>
          </a:prstGeom>
          <a:noFill/>
          <a:ln/>
        </p:spPr>
        <p:txBody>
          <a:bodyPr wrap="square" lIns="0" tIns="0" rIns="0" bIns="0" rtlCol="0" anchor="t"/>
          <a:lstStyle/>
          <a:p>
            <a:pPr indent="0" marL="0">
              <a:buNone/>
            </a:pPr>
            <a:r>
              <a:rPr lang="en-US" sz="1400" dirty="0">
                <a:solidFill>
                  <a:schemeClr val="bg1"/>
                </a:solidFill>
              </a:rPr>
              <a:t>Порядок групп сохранялся на каждом уровне влажности, два разных критерия согласны. Слабые места показаны</a:t>
            </a:r>
            <a:endParaRPr lang="en-US" sz="1400" dirty="0"/>
          </a:p>
        </p:txBody>
      </p:sp>
      <p:sp>
        <p:nvSpPr>
          <p:cNvPr id="14" name="take-2"/>
          <p:cNvSpPr/>
          <p:nvPr/>
        </p:nvSpPr>
        <p:spPr>
          <a:xfrm>
            <a:off x="8046720" y="1417320"/>
            <a:ext cx="3566160" cy="3200400"/>
          </a:xfrm>
          <a:prstGeom prst="roundRect">
            <a:avLst>
              <a:gd name="adj" fmla="val 2286"/>
            </a:avLst>
          </a:prstGeom>
          <a:solidFill>
            <a:srgbClr val="3D2E22"/>
          </a:solidFill>
          <a:ln/>
        </p:spPr>
      </p:sp>
      <p:sp>
        <p:nvSpPr>
          <p:cNvPr id="15" name="badge"/>
          <p:cNvSpPr/>
          <p:nvPr/>
        </p:nvSpPr>
        <p:spPr>
          <a:xfrm>
            <a:off x="8321040" y="1645920"/>
            <a:ext cx="640080" cy="640080"/>
          </a:xfrm>
          <a:prstGeom prst="ellipse">
            <a:avLst/>
          </a:prstGeom>
          <a:solidFill>
            <a:schemeClr val="accent2"/>
          </a:solidFill>
          <a:ln/>
        </p:spPr>
      </p:sp>
      <p:sp>
        <p:nvSpPr>
          <p:cNvPr id="16" name="Text 13"/>
          <p:cNvSpPr txBox="1"/>
          <p:nvPr/>
        </p:nvSpPr>
        <p:spPr>
          <a:xfrm>
            <a:off x="8321040" y="1645920"/>
            <a:ext cx="640080" cy="640080"/>
          </a:xfrm>
          <a:prstGeom prst="rect">
            <a:avLst/>
          </a:prstGeom>
          <a:noFill/>
          <a:ln/>
        </p:spPr>
        <p:txBody>
          <a:bodyPr wrap="square" lIns="0" tIns="0" rIns="0" bIns="0" rtlCol="0" anchor="ctr"/>
          <a:lstStyle/>
          <a:p>
            <a:pPr algn="ctr" indent="0" marL="0">
              <a:buNone/>
            </a:pPr>
            <a:r>
              <a:rPr lang="en-US" sz="2200" b="1" dirty="0">
                <a:solidFill>
                  <a:schemeClr val="tx1"/>
                </a:solidFill>
              </a:rPr>
              <a:t>3</a:t>
            </a:r>
            <a:endParaRPr lang="en-US" sz="2200" dirty="0"/>
          </a:p>
        </p:txBody>
      </p:sp>
      <p:sp>
        <p:nvSpPr>
          <p:cNvPr id="17" name="Text 14"/>
          <p:cNvSpPr txBox="1"/>
          <p:nvPr/>
        </p:nvSpPr>
        <p:spPr>
          <a:xfrm>
            <a:off x="8321040" y="2468880"/>
            <a:ext cx="3017520" cy="822960"/>
          </a:xfrm>
          <a:prstGeom prst="rect">
            <a:avLst/>
          </a:prstGeom>
          <a:noFill/>
          <a:ln/>
        </p:spPr>
        <p:txBody>
          <a:bodyPr wrap="square" lIns="0" tIns="0" rIns="0" bIns="0" rtlCol="0" anchor="t"/>
          <a:lstStyle/>
          <a:p>
            <a:pPr indent="0" marL="0">
              <a:buNone/>
            </a:pPr>
            <a:r>
              <a:rPr lang="en-US" sz="2000" b="1" dirty="0">
                <a:solidFill>
                  <a:schemeClr val="bg1"/>
                </a:solidFill>
              </a:rPr>
              <a:t>Гипотеза подтверждена частично</a:t>
            </a:r>
            <a:endParaRPr lang="en-US" sz="2000" dirty="0"/>
          </a:p>
        </p:txBody>
      </p:sp>
      <p:sp>
        <p:nvSpPr>
          <p:cNvPr id="18" name="Text 15"/>
          <p:cNvSpPr txBox="1"/>
          <p:nvPr/>
        </p:nvSpPr>
        <p:spPr>
          <a:xfrm>
            <a:off x="8321040" y="3337560"/>
            <a:ext cx="3017520" cy="1188720"/>
          </a:xfrm>
          <a:prstGeom prst="rect">
            <a:avLst/>
          </a:prstGeom>
          <a:noFill/>
          <a:ln/>
        </p:spPr>
        <p:txBody>
          <a:bodyPr wrap="square" lIns="0" tIns="0" rIns="0" bIns="0" rtlCol="0" anchor="t"/>
          <a:lstStyle/>
          <a:p>
            <a:pPr indent="0" marL="0">
              <a:buNone/>
            </a:pPr>
            <a:r>
              <a:rPr lang="en-US" sz="1400" dirty="0">
                <a:solidFill>
                  <a:schemeClr val="bg1"/>
                </a:solidFill>
              </a:rPr>
              <a:t>Почва и рост с влажностью: да. Плотность: нет. Механизм (глина или соли): не разделён</a:t>
            </a:r>
            <a:endParaRPr lang="en-US" sz="1400" dirty="0"/>
          </a:p>
        </p:txBody>
      </p:sp>
      <p:sp>
        <p:nvSpPr>
          <p:cNvPr id="19" name="Text 16"/>
          <p:cNvSpPr txBox="1"/>
          <p:nvPr/>
        </p:nvSpPr>
        <p:spPr>
          <a:xfrm>
            <a:off x="548640" y="4800600"/>
            <a:ext cx="5486400" cy="320040"/>
          </a:xfrm>
          <a:prstGeom prst="rect">
            <a:avLst/>
          </a:prstGeom>
          <a:noFill/>
          <a:ln/>
        </p:spPr>
        <p:txBody>
          <a:bodyPr wrap="square" lIns="0" tIns="0" rIns="0" bIns="0" rtlCol="0" anchor="t"/>
          <a:lstStyle/>
          <a:p>
            <a:pPr indent="0" marL="0">
              <a:buNone/>
            </a:pPr>
            <a:r>
              <a:rPr lang="en-US" sz="1400" b="1" dirty="0">
                <a:solidFill>
                  <a:schemeClr val="accent2"/>
                </a:solidFill>
              </a:rPr>
              <a:t>Границы применимости</a:t>
            </a:r>
            <a:endParaRPr lang="en-US" sz="1400" dirty="0"/>
          </a:p>
        </p:txBody>
      </p:sp>
      <p:sp>
        <p:nvSpPr>
          <p:cNvPr id="20" name="Text 17"/>
          <p:cNvSpPr txBox="1"/>
          <p:nvPr/>
        </p:nvSpPr>
        <p:spPr>
          <a:xfrm>
            <a:off x="548640" y="5166360"/>
            <a:ext cx="11064240" cy="640080"/>
          </a:xfrm>
          <a:prstGeom prst="rect">
            <a:avLst/>
          </a:prstGeom>
          <a:noFill/>
          <a:ln/>
        </p:spPr>
        <p:txBody>
          <a:bodyPr wrap="square" lIns="0" tIns="0" rIns="0" bIns="0" rtlCol="0" anchor="t"/>
          <a:lstStyle/>
          <a:p>
            <a:pPr indent="0" marL="0">
              <a:buNone/>
            </a:pPr>
            <a:r>
              <a:rPr lang="en-US" sz="1400" dirty="0">
                <a:solidFill>
                  <a:schemeClr val="bg1"/>
                </a:solidFill>
              </a:rPr>
              <a:t>одна почва на группу · лаборатория, 20 °C, только иссушение · стенки колонки · разброс между датчиками ±0,005…0,015 · неопределённость эталона 0,005 · статистика по сводным данным вариантов</a:t>
            </a:r>
            <a:endParaRPr lang="en-US" sz="1400" dirty="0"/>
          </a:p>
        </p:txBody>
      </p:sp>
      <p:sp>
        <p:nvSpPr>
          <p:cNvPr id="21" name="Text 18"/>
          <p:cNvSpPr txBox="1"/>
          <p:nvPr/>
        </p:nvSpPr>
        <p:spPr>
          <a:xfrm>
            <a:off x="548640" y="5852160"/>
            <a:ext cx="11064240" cy="457200"/>
          </a:xfrm>
          <a:prstGeom prst="rect">
            <a:avLst/>
          </a:prstGeom>
          <a:noFill/>
          <a:ln/>
        </p:spPr>
        <p:txBody>
          <a:bodyPr wrap="square" lIns="0" tIns="0" rIns="0" bIns="0" rtlCol="0" anchor="t"/>
          <a:lstStyle/>
          <a:p>
            <a:pPr indent="0" marL="0">
              <a:buNone/>
            </a:pPr>
            <a:r>
              <a:rPr lang="en-US" sz="1800" b="1" dirty="0">
                <a:solidFill>
                  <a:schemeClr val="accent2"/>
                </a:solidFill>
              </a:rPr>
              <a:t>Работа — карта: где датчик надёжен, где нужна проверка и какой эксперимент закроет пробел</a:t>
            </a:r>
            <a:endParaRPr lang="en-US" sz="18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CS616 Chernozem">
  <a:themeElements>
    <a:clrScheme name="CS616 Chernozem">
      <a:dk1>
        <a:srgbClr val="2A1E16"/>
      </a:dk1>
      <a:lt1>
        <a:srgbClr val="FFFFFF"/>
      </a:lt1>
      <a:dk2>
        <a:srgbClr val="5B4636"/>
      </a:dk2>
      <a:lt2>
        <a:srgbClr val="F1F3F2"/>
      </a:lt2>
      <a:accent1>
        <a:srgbClr val="1C7C8C"/>
      </a:accent1>
      <a:accent2>
        <a:srgbClr val="D9A441"/>
      </a:accent2>
      <a:accent3>
        <a:srgbClr val="B8552F"/>
      </a:accent3>
      <a:accent4>
        <a:srgbClr val="8C6A4F"/>
      </a:accent4>
      <a:accent5>
        <a:srgbClr val="6E7F80"/>
      </a:accent5>
      <a:accent6>
        <a:srgbClr val="4E8A5B"/>
      </a:accent6>
      <a:hlink>
        <a:srgbClr val="1C7C8C"/>
      </a:hlink>
      <a:folHlink>
        <a:srgbClr val="8C6A4F"/>
      </a:folHlink>
    </a:clrScheme>
    <a:fontScheme name="CS616 Chernozem">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Датчики CS616: систематическая погрешность заводской калибровки</dc:title>
  <dc:subject>PptxGenJS Presentation</dc:subject>
  <dc:creator>Вербицкий А. Ю., Приходько И. А., Болдырева Л. М., Кесафоти Х. Е.</dc:creator>
  <cp:lastModifiedBy>Вербицкий А. Ю., Приходько И. А., Болдырева Л. М., Кесафоти Х. Е.</cp:lastModifiedBy>
  <cp:revision>1</cp:revision>
  <dcterms:created xsi:type="dcterms:W3CDTF">2026-10-08T04:32:32Z</dcterms:created>
  <dcterms:modified xsi:type="dcterms:W3CDTF">2026-10-08T04:32:32Z</dcterms:modified>
</cp:coreProperties>
</file>
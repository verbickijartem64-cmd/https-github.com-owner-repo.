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2DD580A4-ADE7-C87C-78A4-AE9BDD5813F8}">
          <p14:sldIdLst>
            <p14:sldId id="256"/>
            <p14:sldId id="257"/>
            <p14:sldId id="258"/>
          </p14:sldIdLst>
        </p14:section>
        <p14:section name="Методы" id="{75C23F07-7CE8-41F9-BF41-716E53887165}">
          <p14:sldIdLst>
            <p14:sldId id="259"/>
          </p14:sldIdLst>
        </p14:section>
        <p14:section name="Результаты" id="{FB8B09A5-E447-9F11-C650-321823E459D3}">
          <p14:sldIdLst>
            <p14:sldId id="260"/>
            <p14:sldId id="261"/>
            <p14:sldId id="262"/>
            <p14:sldId id="263"/>
            <p14:sldId id="264"/>
          </p14:sldIdLst>
        </p14:section>
        <p14:section name="Заключение" id="{76192FCA-6893-4EB3-D5E9-9D869B35D97A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MB</c:v>
                </c:pt>
              </c:strCache>
            </c:strRef>
          </c:tx>
          <c:spPr>
            <a:solidFill>
              <a:srgbClr val="7D8A8C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+mn-lt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A, 1,35</c:v>
                </c:pt>
                <c:pt idx="1">
                  <c:v>A, 1,52</c:v>
                </c:pt>
                <c:pt idx="2">
                  <c:v>B, 1,35</c:v>
                </c:pt>
                <c:pt idx="3">
                  <c:v>B, 1,52</c:v>
                </c:pt>
                <c:pt idx="4">
                  <c:v>C, 1,35</c:v>
                </c:pt>
                <c:pt idx="5">
                  <c:v>C, 1,52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4.0000000000000001E-3</c:v>
                </c:pt>
                <c:pt idx="1">
                  <c:v>2E-3</c:v>
                </c:pt>
                <c:pt idx="2">
                  <c:v>7.0000000000000001E-3</c:v>
                </c:pt>
                <c:pt idx="3">
                  <c:v>6.0000000000000001E-3</c:v>
                </c:pt>
                <c:pt idx="4">
                  <c:v>0.01</c:v>
                </c:pt>
                <c:pt idx="5">
                  <c:v>8.0000000000000002E-3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1F-4D56-911B-6E7F9C3604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+mn-lt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A, 1,35</c:v>
                </c:pt>
                <c:pt idx="1">
                  <c:v>A, 1,52</c:v>
                </c:pt>
                <c:pt idx="2">
                  <c:v>B, 1,35</c:v>
                </c:pt>
                <c:pt idx="3">
                  <c:v>B, 1,52</c:v>
                </c:pt>
                <c:pt idx="4">
                  <c:v>C, 1,35</c:v>
                </c:pt>
                <c:pt idx="5">
                  <c:v>C, 1,52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7.0000000000000001E-3</c:v>
                </c:pt>
                <c:pt idx="1">
                  <c:v>6.0000000000000001E-3</c:v>
                </c:pt>
                <c:pt idx="2">
                  <c:v>1.0999999999999999E-2</c:v>
                </c:pt>
                <c:pt idx="3">
                  <c:v>8.9999999999999993E-3</c:v>
                </c:pt>
                <c:pt idx="4">
                  <c:v>1.4E-2</c:v>
                </c:pt>
                <c:pt idx="5">
                  <c:v>1.2E-2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1F-4D56-911B-6E7F9C36045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Критерий RMSE = 0,02</c:v>
                </c:pt>
              </c:strCache>
            </c:strRef>
          </c:tx>
          <c:spPr>
            <a:ln w="25400" cap="flat">
              <a:solidFill>
                <a:srgbClr val="C8553D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A, 1,35</c:v>
                </c:pt>
                <c:pt idx="1">
                  <c:v>A, 1,52</c:v>
                </c:pt>
                <c:pt idx="2">
                  <c:v>B, 1,35</c:v>
                </c:pt>
                <c:pt idx="3">
                  <c:v>B, 1,52</c:v>
                </c:pt>
                <c:pt idx="4">
                  <c:v>C, 1,35</c:v>
                </c:pt>
                <c:pt idx="5">
                  <c:v>C, 1,52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0.02</c:v>
                </c:pt>
                <c:pt idx="1">
                  <c:v>0.02</c:v>
                </c:pt>
                <c:pt idx="2">
                  <c:v>0.02</c:v>
                </c:pt>
                <c:pt idx="3">
                  <c:v>0.02</c:v>
                </c:pt>
                <c:pt idx="4">
                  <c:v>0.02</c:v>
                </c:pt>
                <c:pt idx="5">
                  <c:v>0.02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61F-4D56-911B-6E7F9C3604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A4A"/>
                    </a:solidFill>
                    <a:latin typeface="+mn-lt"/>
                  </a:defRPr>
                </a:pPr>
                <a:r>
                  <a:rPr lang="ru-RU" sz="1200" b="0" i="0" u="none" strike="noStrike">
                    <a:solidFill>
                      <a:srgbClr val="4A4A4A"/>
                    </a:solidFill>
                    <a:latin typeface="+mn-lt"/>
                  </a:rPr>
                  <a:t>Группа, плотность сложения (г/см³)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6C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4E-2"/>
          <c:min val="0"/>
        </c:scaling>
        <c:delete val="0"/>
        <c:axPos val="l"/>
        <c:majorGridlines>
          <c:spPr>
            <a:ln w="9525" cap="flat">
              <a:solidFill>
                <a:srgbClr val="E3E7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A4A"/>
                    </a:solidFill>
                    <a:latin typeface="+mn-lt"/>
                  </a:defRPr>
                </a:pPr>
                <a:r>
                  <a:rPr lang="ru-RU" sz="1200" b="0" i="0" u="none" strike="noStrike">
                    <a:solidFill>
                      <a:srgbClr val="4A4A4A"/>
                    </a:solidFill>
                    <a:latin typeface="+mn-lt"/>
                  </a:rPr>
                  <a:t>м³/м³</a:t>
                </a:r>
              </a:p>
            </c:rich>
          </c:tx>
          <c:layout/>
          <c:overlay val="0"/>
        </c:title>
        <c:numFmt formatCode="0.0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4.0000000000000001E-3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333333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Группа A</c:v>
                </c:pt>
              </c:strCache>
            </c:strRef>
          </c:tx>
          <c:spPr>
            <a:ln w="31750" cap="flat">
              <a:solidFill>
                <a:srgbClr val="D9A441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D9A441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0.05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0.38</c:v>
                </c:pt>
                <c:pt idx="5">
                  <c:v>0.4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1E-3</c:v>
                </c:pt>
                <c:pt idx="2">
                  <c:v>3.0000000000000001E-3</c:v>
                </c:pt>
                <c:pt idx="3">
                  <c:v>5.0000000000000001E-3</c:v>
                </c:pt>
                <c:pt idx="4">
                  <c:v>0.01</c:v>
                </c:pt>
                <c:pt idx="5">
                  <c:v>1.0999999999999999E-2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2DE-4AC9-B691-661AAF0CF2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Группа B</c:v>
                </c:pt>
              </c:strCache>
            </c:strRef>
          </c:tx>
          <c:spPr>
            <a:ln w="31750" cap="flat">
              <a:solidFill>
                <a:srgbClr val="9C6644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9C6644"/>
              </a:solidFill>
              <a:ln w="9525" cap="flat">
                <a:solidFill>
                  <a:srgbClr val="9C6644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0.05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0.38</c:v>
                </c:pt>
                <c:pt idx="5">
                  <c:v>0.4</c:v>
                </c:pt>
              </c:numCache>
            </c:numRef>
          </c:xVal>
          <c:yVal>
            <c:numRef>
              <c:f>Sheet1!$C$2:$C$7</c:f>
              <c:numCache>
                <c:formatCode>General</c:formatCode>
                <c:ptCount val="6"/>
                <c:pt idx="0">
                  <c:v>1E-3</c:v>
                </c:pt>
                <c:pt idx="1">
                  <c:v>2E-3</c:v>
                </c:pt>
                <c:pt idx="2">
                  <c:v>5.0000000000000001E-3</c:v>
                </c:pt>
                <c:pt idx="3">
                  <c:v>8.9999999999999993E-3</c:v>
                </c:pt>
                <c:pt idx="4">
                  <c:v>1.7000000000000001E-2</c:v>
                </c:pt>
                <c:pt idx="5">
                  <c:v>1.9E-2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2DE-4AC9-B691-661AAF0CF28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Группа C</c:v>
                </c:pt>
              </c:strCache>
            </c:strRef>
          </c:tx>
          <c:spPr>
            <a:ln w="31750" cap="flat">
              <a:solidFill>
                <a:srgbClr val="3E2C23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3E2C23"/>
              </a:solidFill>
              <a:ln w="9525" cap="flat">
                <a:solidFill>
                  <a:srgbClr val="3E2C23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0.05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0.38</c:v>
                </c:pt>
                <c:pt idx="5">
                  <c:v>0.4</c:v>
                </c:pt>
              </c:numCache>
            </c:numRef>
          </c:xVal>
          <c:yVal>
            <c:numRef>
              <c:f>Sheet1!$D$2:$D$7</c:f>
              <c:numCache>
                <c:formatCode>General</c:formatCode>
                <c:ptCount val="6"/>
                <c:pt idx="0">
                  <c:v>1E-3</c:v>
                </c:pt>
                <c:pt idx="1">
                  <c:v>2E-3</c:v>
                </c:pt>
                <c:pt idx="2">
                  <c:v>6.0000000000000001E-3</c:v>
                </c:pt>
                <c:pt idx="3">
                  <c:v>1.2E-2</c:v>
                </c:pt>
                <c:pt idx="4">
                  <c:v>2.1999999999999999E-2</c:v>
                </c:pt>
                <c:pt idx="5">
                  <c:v>2.7E-2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2DE-4AC9-B691-661AAF0CF28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Паспортный предел +0,025</c:v>
                </c:pt>
              </c:strCache>
            </c:strRef>
          </c:tx>
          <c:spPr>
            <a:ln w="31750" cap="flat">
              <a:solidFill>
                <a:srgbClr val="C8553D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Sheet1!$A$2:$A$7</c:f>
              <c:numCache>
                <c:formatCode>General</c:formatCode>
                <c:ptCount val="6"/>
                <c:pt idx="0">
                  <c:v>0.05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0.38</c:v>
                </c:pt>
                <c:pt idx="5">
                  <c:v>0.4</c:v>
                </c:pt>
              </c:numCache>
            </c:numRef>
          </c:xVal>
          <c:yVal>
            <c:numRef>
              <c:f>Sheet1!$E$2:$E$7</c:f>
              <c:numCache>
                <c:formatCode>General</c:formatCode>
                <c:ptCount val="6"/>
                <c:pt idx="0">
                  <c:v>2.5000000000000001E-2</c:v>
                </c:pt>
                <c:pt idx="1">
                  <c:v>2.5000000000000001E-2</c:v>
                </c:pt>
                <c:pt idx="2">
                  <c:v>2.5000000000000001E-2</c:v>
                </c:pt>
                <c:pt idx="3">
                  <c:v>2.5000000000000001E-2</c:v>
                </c:pt>
                <c:pt idx="4">
                  <c:v>2.5000000000000001E-2</c:v>
                </c:pt>
                <c:pt idx="5">
                  <c:v>2.5000000000000001E-2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2DE-4AC9-B691-661AAF0CF2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45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A4A"/>
                    </a:solidFill>
                    <a:latin typeface="+mn-lt"/>
                  </a:defRPr>
                </a:pPr>
                <a:r>
                  <a:rPr lang="ru-RU" sz="1200" b="0" i="0" u="none" strike="noStrike">
                    <a:solidFill>
                      <a:srgbClr val="4A4A4A"/>
                    </a:solidFill>
                    <a:latin typeface="+mn-lt"/>
                  </a:rPr>
                  <a:t>θ, м³/м³ (плотность 1,35 г/см³)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 w="12700" cap="flat">
            <a:solidFill>
              <a:srgbClr val="BFC6C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crossBetween val="midCat"/>
        <c:majorUnit val="0.05"/>
      </c:valAx>
      <c:valAx>
        <c:axId val="2094734552"/>
        <c:scaling>
          <c:orientation val="minMax"/>
          <c:max val="0.03"/>
          <c:min val="0"/>
        </c:scaling>
        <c:delete val="0"/>
        <c:axPos val="l"/>
        <c:majorGridlines>
          <c:spPr>
            <a:ln w="9525" cap="flat">
              <a:solidFill>
                <a:srgbClr val="E3E7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A4A"/>
                    </a:solidFill>
                    <a:latin typeface="+mn-lt"/>
                  </a:defRPr>
                </a:pPr>
                <a:r>
                  <a:rPr lang="el-GR" sz="1200" b="0" i="0" u="none" strike="noStrike">
                    <a:solidFill>
                      <a:srgbClr val="4A4A4A"/>
                    </a:solidFill>
                    <a:latin typeface="+mn-lt"/>
                  </a:rPr>
                  <a:t>Δθ, </a:t>
                </a:r>
                <a:r>
                  <a:rPr lang="ru-RU" sz="1200" b="0" i="0" u="none" strike="noStrike">
                    <a:solidFill>
                      <a:srgbClr val="4A4A4A"/>
                    </a:solidFill>
                    <a:latin typeface="+mn-lt"/>
                  </a:rPr>
                  <a:t>м³/м³</a:t>
                </a:r>
              </a:p>
            </c:rich>
          </c:tx>
          <c:layout/>
          <c:overlay val="0"/>
        </c:title>
        <c:numFmt formatCode="0.00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midCat"/>
        <c:majorUnit val="5.0000000000000001E-3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333333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изменчивости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C66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8A7-4D4A-88CE-F8EE4A7BE20F}"/>
              </c:ext>
            </c:extLst>
          </c:dPt>
          <c:dPt>
            <c:idx val="1"/>
            <c:bubble3D val="0"/>
            <c:spPr>
              <a:solidFill>
                <a:srgbClr val="D9A4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8A7-4D4A-88CE-F8EE4A7BE20F}"/>
              </c:ext>
            </c:extLst>
          </c:dPt>
          <c:dPt>
            <c:idx val="2"/>
            <c:bubble3D val="0"/>
            <c:spPr>
              <a:solidFill>
                <a:srgbClr val="C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8A7-4D4A-88CE-F8EE4A7BE20F}"/>
              </c:ext>
            </c:extLst>
          </c:dPt>
          <c:dPt>
            <c:idx val="3"/>
            <c:bubble3D val="0"/>
            <c:spPr>
              <a:solidFill>
                <a:srgbClr val="D5DC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8A7-4D4A-88CE-F8EE4A7BE20F}"/>
              </c:ext>
            </c:extLst>
          </c:dPt>
          <c:cat>
            <c:strRef>
              <c:f>Sheet1!$A$2:$A$5</c:f>
              <c:strCache>
                <c:ptCount val="4"/>
                <c:pt idx="0">
                  <c:v>Гранулометрический состав</c:v>
                </c:pt>
                <c:pt idx="1">
                  <c:v>Плотность сложения</c:v>
                </c:pt>
                <c:pt idx="2">
                  <c:v>Взаимодействие</c:v>
                </c:pt>
                <c:pt idx="3">
                  <c:v>Внутри вариантов (зависимость от θ)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9.1</c:v>
                </c:pt>
                <c:pt idx="1">
                  <c:v>1</c:v>
                </c:pt>
                <c:pt idx="2">
                  <c:v>0.1</c:v>
                </c:pt>
                <c:pt idx="3">
                  <c:v>89.8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8A7-4D4A-88CE-F8EE4A7BE2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B2118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2B2118"/>
                </a:solidFill>
                <a:latin typeface="+mn-lt"/>
              </a:rPr>
              <a:t>MB и МГ: R² = 0,88 (n = 6)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Варианты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9C6644"/>
              </a:solidFill>
              <a:ln w="9525" cap="flat">
                <a:solidFill>
                  <a:srgbClr val="9C6644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2.1</c:v>
                </c:pt>
                <c:pt idx="1">
                  <c:v>2.2999999999999998</c:v>
                </c:pt>
                <c:pt idx="2">
                  <c:v>6.5</c:v>
                </c:pt>
                <c:pt idx="3">
                  <c:v>6.8</c:v>
                </c:pt>
                <c:pt idx="4">
                  <c:v>11.1</c:v>
                </c:pt>
                <c:pt idx="5">
                  <c:v>11.4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4.0000000000000001E-3</c:v>
                </c:pt>
                <c:pt idx="1">
                  <c:v>2E-3</c:v>
                </c:pt>
                <c:pt idx="2">
                  <c:v>7.0000000000000001E-3</c:v>
                </c:pt>
                <c:pt idx="3">
                  <c:v>6.0000000000000001E-3</c:v>
                </c:pt>
                <c:pt idx="4">
                  <c:v>8.0000000000000002E-3</c:v>
                </c:pt>
                <c:pt idx="5">
                  <c:v>0.01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6E2-40A3-9040-1C6EDA7F37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Линейная аппроксимация</c:v>
                </c:pt>
              </c:strCache>
            </c:strRef>
          </c:tx>
          <c:spPr>
            <a:ln w="28575" cap="rnd">
              <a:solidFill>
                <a:srgbClr val="1F7A8C"/>
              </a:solidFill>
              <a:prstDash val="dash"/>
            </a:ln>
            <a:effectLst/>
          </c:spPr>
          <c:marker>
            <c:symbol val="none"/>
          </c:marker>
          <c:xVal>
            <c:numRef>
              <c:f>Sheet1!$A$2:$A$7</c:f>
              <c:numCache>
                <c:formatCode>General</c:formatCode>
                <c:ptCount val="6"/>
                <c:pt idx="0">
                  <c:v>2.1</c:v>
                </c:pt>
                <c:pt idx="1">
                  <c:v>2.2999999999999998</c:v>
                </c:pt>
                <c:pt idx="2">
                  <c:v>6.5</c:v>
                </c:pt>
                <c:pt idx="3">
                  <c:v>6.8</c:v>
                </c:pt>
                <c:pt idx="4">
                  <c:v>11.1</c:v>
                </c:pt>
                <c:pt idx="5">
                  <c:v>11.4</c:v>
                </c:pt>
              </c:numCache>
            </c:numRef>
          </c:xVal>
          <c:yVal>
            <c:numRef>
              <c:f>Sheet1!$C$2:$C$7</c:f>
              <c:numCache>
                <c:formatCode>General</c:formatCode>
                <c:ptCount val="6"/>
                <c:pt idx="0">
                  <c:v>3.0899999999999999E-3</c:v>
                </c:pt>
                <c:pt idx="1">
                  <c:v>3.2200000000000002E-3</c:v>
                </c:pt>
                <c:pt idx="2">
                  <c:v>5.9899999999999997E-3</c:v>
                </c:pt>
                <c:pt idx="3">
                  <c:v>6.1900000000000002E-3</c:v>
                </c:pt>
                <c:pt idx="4">
                  <c:v>9.0299999999999998E-3</c:v>
                </c:pt>
                <c:pt idx="5">
                  <c:v>9.2200000000000008E-3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6E2-40A3-9040-1C6EDA7F37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2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A4A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A4A"/>
                    </a:solidFill>
                    <a:latin typeface="+mn-lt"/>
                  </a:rPr>
                  <a:t>Максимальная гигроскопичность, %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12700" cap="flat">
            <a:solidFill>
              <a:srgbClr val="BFC6C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crossBetween val="midCat"/>
        <c:majorUnit val="2"/>
      </c:valAx>
      <c:valAx>
        <c:axId val="2094734552"/>
        <c:scaling>
          <c:orientation val="minMax"/>
          <c:max val="1.2E-2"/>
          <c:min val="0"/>
        </c:scaling>
        <c:delete val="0"/>
        <c:axPos val="l"/>
        <c:majorGridlines>
          <c:spPr>
            <a:ln w="9525" cap="flat">
              <a:solidFill>
                <a:srgbClr val="E3E7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A4A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A4A"/>
                    </a:solidFill>
                    <a:latin typeface="+mn-lt"/>
                  </a:rPr>
                  <a:t>MB, м³/м³</a:t>
                </a:r>
              </a:p>
            </c:rich>
          </c:tx>
          <c:overlay val="0"/>
        </c:title>
        <c:numFmt formatCode="0.00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midCat"/>
        <c:majorUnit val="2E-3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B2118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2B2118"/>
                </a:solidFill>
                <a:latin typeface="+mn-lt"/>
              </a:rPr>
              <a:t>MB и ECe: R² = 0,96 (n = 6)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Варианты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9C6644"/>
              </a:solidFill>
              <a:ln w="9525" cap="flat">
                <a:solidFill>
                  <a:srgbClr val="9C6644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0.28000000000000003</c:v>
                </c:pt>
                <c:pt idx="1">
                  <c:v>0.35</c:v>
                </c:pt>
                <c:pt idx="2">
                  <c:v>0.45</c:v>
                </c:pt>
                <c:pt idx="3">
                  <c:v>0.49</c:v>
                </c:pt>
                <c:pt idx="4">
                  <c:v>0.52</c:v>
                </c:pt>
                <c:pt idx="5">
                  <c:v>0.61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2E-3</c:v>
                </c:pt>
                <c:pt idx="1">
                  <c:v>4.0000000000000001E-3</c:v>
                </c:pt>
                <c:pt idx="2">
                  <c:v>6.0000000000000001E-3</c:v>
                </c:pt>
                <c:pt idx="3">
                  <c:v>8.0000000000000002E-3</c:v>
                </c:pt>
                <c:pt idx="4">
                  <c:v>7.0000000000000001E-3</c:v>
                </c:pt>
                <c:pt idx="5">
                  <c:v>0.01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204-4E3E-97FC-202DAF7F5A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Линейная аппроксимация</c:v>
                </c:pt>
              </c:strCache>
            </c:strRef>
          </c:tx>
          <c:spPr>
            <a:ln w="28575" cap="rnd">
              <a:solidFill>
                <a:srgbClr val="1F7A8C"/>
              </a:solidFill>
              <a:prstDash val="dash"/>
            </a:ln>
            <a:effectLst/>
          </c:spPr>
          <c:marker>
            <c:symbol val="none"/>
          </c:marker>
          <c:xVal>
            <c:numRef>
              <c:f>Sheet1!$A$2:$A$7</c:f>
              <c:numCache>
                <c:formatCode>General</c:formatCode>
                <c:ptCount val="6"/>
                <c:pt idx="0">
                  <c:v>0.28000000000000003</c:v>
                </c:pt>
                <c:pt idx="1">
                  <c:v>0.35</c:v>
                </c:pt>
                <c:pt idx="2">
                  <c:v>0.45</c:v>
                </c:pt>
                <c:pt idx="3">
                  <c:v>0.49</c:v>
                </c:pt>
                <c:pt idx="4">
                  <c:v>0.52</c:v>
                </c:pt>
                <c:pt idx="5">
                  <c:v>0.61</c:v>
                </c:pt>
              </c:numCache>
            </c:numRef>
          </c:xVal>
          <c:yVal>
            <c:numRef>
              <c:f>Sheet1!$C$2:$C$7</c:f>
              <c:numCache>
                <c:formatCode>General</c:formatCode>
                <c:ptCount val="6"/>
                <c:pt idx="0">
                  <c:v>2.1800000000000001E-3</c:v>
                </c:pt>
                <c:pt idx="1">
                  <c:v>3.82E-3</c:v>
                </c:pt>
                <c:pt idx="2">
                  <c:v>6.1799999999999997E-3</c:v>
                </c:pt>
                <c:pt idx="3">
                  <c:v>7.11E-3</c:v>
                </c:pt>
                <c:pt idx="4">
                  <c:v>7.8200000000000006E-3</c:v>
                </c:pt>
                <c:pt idx="5">
                  <c:v>9.9299999999999996E-3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204-4E3E-97FC-202DAF7F5A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7"/>
          <c:min val="0.2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A4A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A4A"/>
                    </a:solidFill>
                    <a:latin typeface="+mn-lt"/>
                  </a:rPr>
                  <a:t>ECe, дСм/м</a:t>
                </a:r>
              </a:p>
            </c:rich>
          </c:tx>
          <c:overlay val="0"/>
        </c:title>
        <c:numFmt formatCode="0.0" sourceLinked="0"/>
        <c:majorTickMark val="none"/>
        <c:minorTickMark val="none"/>
        <c:tickLblPos val="nextTo"/>
        <c:spPr>
          <a:ln w="12700" cap="flat">
            <a:solidFill>
              <a:srgbClr val="BFC6C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crossBetween val="midCat"/>
        <c:majorUnit val="0.1"/>
      </c:valAx>
      <c:valAx>
        <c:axId val="2094734552"/>
        <c:scaling>
          <c:orientation val="minMax"/>
          <c:max val="1.2E-2"/>
          <c:min val="0"/>
        </c:scaling>
        <c:delete val="0"/>
        <c:axPos val="l"/>
        <c:majorGridlines>
          <c:spPr>
            <a:ln w="9525" cap="flat">
              <a:solidFill>
                <a:srgbClr val="E3E7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A4A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A4A"/>
                    </a:solidFill>
                    <a:latin typeface="+mn-lt"/>
                  </a:rPr>
                  <a:t>MB, м³/м³</a:t>
                </a:r>
              </a:p>
            </c:rich>
          </c:tx>
          <c:overlay val="0"/>
        </c:title>
        <c:numFmt formatCode="0.00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midCat"/>
        <c:majorUnit val="2E-3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Прогноз CRIM</c:v>
                </c:pt>
              </c:strCache>
            </c:strRef>
          </c:tx>
          <c:spPr>
            <a:solidFill>
              <a:srgbClr val="7D8A8C"/>
            </a:solidFill>
            <a:effectLst/>
          </c:spPr>
          <c:invertIfNegative val="0"/>
          <c:dLbls>
            <c:numFmt formatCode="\+0.000;\-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Группа A</c:v>
                </c:pt>
                <c:pt idx="1">
                  <c:v>Группа B</c:v>
                </c:pt>
                <c:pt idx="2">
                  <c:v>Группа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9.4000000000000004E-3</c:v>
                </c:pt>
                <c:pt idx="1">
                  <c:v>9.4999999999999998E-3</c:v>
                </c:pt>
                <c:pt idx="2">
                  <c:v>9.5999999999999992E-3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88-4A2E-965B-E68C3A658E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Наблюдаемая разность MB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\+0.000;\-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Группа A</c:v>
                </c:pt>
                <c:pt idx="1">
                  <c:v>Группа B</c:v>
                </c:pt>
                <c:pt idx="2">
                  <c:v>Группа 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-2E-3</c:v>
                </c:pt>
                <c:pt idx="1">
                  <c:v>-1E-3</c:v>
                </c:pt>
                <c:pt idx="2">
                  <c:v>-2E-3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88-4A2E-965B-E68C3A658E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C6C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E-2"/>
          <c:min val="-4.0000000000000001E-3"/>
        </c:scaling>
        <c:delete val="0"/>
        <c:axPos val="l"/>
        <c:majorGridlines>
          <c:spPr>
            <a:ln w="9525" cap="flat">
              <a:solidFill>
                <a:srgbClr val="E3E7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A4A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A4A"/>
                    </a:solidFill>
                    <a:latin typeface="+mn-lt"/>
                  </a:rPr>
                  <a:t>Изменение при 1,35 → 1,52 г/см³, м³/м³</a:t>
                </a:r>
              </a:p>
            </c:rich>
          </c:tx>
          <c:overlay val="0"/>
        </c:title>
        <c:numFmt formatCode="0.0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4.0000000000000001E-3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33333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7603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Уважаемый председатель, уважаемые коллеги! Представляю доклад о систематической погрешности заводской калибровки датчиков влажности CS616 в незасолённых почвах разного гранулометрического состава. Работа выполнена коллективом авторов Кубанского государственного аграрного университета.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управления орошением нужны непрерывные данные о влажности почвы, и один из самых распространённых инструментов для этого — рефлектометрический датчик CS616 компании Campbell Scientific. Влажность он рассчитывает по заводскому уравнению из периода выходного сигнала. Паспортный предел погрешности — плюс-минус 0,025 кубического метра на кубический метр; дальше я буду называть погрешность и влажность без единиц. Этот предел установлен в основном на супесях и более лёгких почвах. В тяжёлых почвах электропроводность порового раствора и поверхностная проводимость глин удлиняют период сигнала, и датчик может завышать влажность, причём тем сильнее, чем влажнее почва. В почвах Краснодарского края физической глины бывает до 65 %, а количественных оценок этой погрешности для чернозёмов региона в литературе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работы — экспериментально оценить систематическую погрешность заводской калибровки в незасолённых почвах трёх гранулометрических групп при двух плотностях сложения и определить вклад каждого фактора и их взаимодействия. Мы предполагали, что погрешность определяется прежде всего содержанием физической глины и нелинейно растёт к насыщению, а влияние плотности значимо и зависит от гранулометрического состава.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Исследованы три почвы виноградников Краснодарского края: чернозём обыкновенный с 10–20 % физической глины — группа A, чернозём типичный с 40–50 % — группа B и лугово-чернозёмная почва с 50–65 % — группа C. Все почвы незасолённые. Почву набивали в колонки высотой 300 мм до плотности 1,35 и 1,52 г/см³, по три колонки на вариант, — всего шесть вариантов. Колонки насыщали снизу и ступенчато высушивали при 20 °C; в анализ вошли десять равновесных уровней влажности. Эталоном служил термостатно-весовой метод. По разности показаний датчика и эталона рассчитаны средняя систематическая погрешность MB и среднеквадратическая погрешность RMSE, выполнены дисперсионный и регрессионный анализ.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результат: во всех шести вариантах RMSE составила от 0,006 до 0,014, то есть ниже принятого критерия 0,02. При этом погрешность растёт с содержанием физической глины: от группы A к группе C RMSE увеличивается примерно вдвое. MB во всех вариантах положительна, то есть датчик завышает влажность. В группе A она статистически не отличается от нуля, а в группах B и C завышение составляет в среднем от 0,006 до 0,010. Различие групп A и B чувствительно к округлению исходных значений, поэтому p-значения мы рассматриваем как описательные.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Внутри каждого варианта погрешность определяется влажностью. В сухой почве она близка к нулю во всех группах, а при увлажнении кривые расходятся: в интервале влажности от 0,20 до 0,40 погрешность выросла на 0,008 в группе A и на 0,021 в группе C, то есть в 2,6 раза больше. Наибольшее значение среди анализируемых уровней, плюс 0,027 в группе C, превысило паспортный предел всего на 0,002 — меньше, чем неопределённость эталонного метода.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Различия между вариантами объясняют около 10 % общей изменчивости погрешности: гранулометрический состав — 9 %, плотность — 1 %. Остальные 90 % — это изменение погрешности с влажностью внутри вариантов. Поэтому в общем дисперсионном анализе влияние гранулометрического состава формально незначимо, p = 0,074. Но если сравнивать группы при одинаковой влажности, порядок A, B, C сохраняется на каждом уровне, и эффект значим: p = 0,013, а по критерию Фридмана p = 0,004.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 чего зависит уровень погрешности? MB линейно растёт с максимальной гигроскопической влажностью — показателем удельной поверхности почвы, R² = 0,88. Но с электропроводностью вытяжки она связана не менее тесно, R² = 0,96, а эти два показателя коррелируют между собой. Поэтому разделить вклад поверхностной проводимости глин и проводимости порового раствора по нашим данным нельзя.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Влияние плотности оказалось неожиданным. Модель CRIM предсказывает, что уплотнение до 1,52 г/см³ увеличит показания примерно на 0,01. Фактически во всех группах MB немного уменьшилась, на 0,001–0,002; эффект незначим, и доверительный интервал исключает прогноз модели. Возможная причина — более низкая электропроводность в плотных вариантах. Взаимодействия факторов нет. Почва группы C при высокой плотности набухла на 8,3 % по объёму, но при расчёте эталона по фактическому объёму колонки дополнительной погрешности от набухания не выявлено.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Выводы. Первый: заводская калибровка CS616 пригодна для исследованных незасолённых почв, если допустима RMSE 0,02. Второй: в почвах с 40–65 % физической глины датчик систематически завышает влажность, в среднем на 0,006–0,010 и до 0,027 во влажной почве. Третий: гипотеза подтверждена частично. Связь с гранулометрическим составом и нелинейный рост с влажностью подтвердились, но значимого влияния плотности нет, а вклад гранулометрического состава не отделён от вклада электропроводности. Оговорюсь, что это лабораторные данные, и каждая группа представлена одной почвой.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Практические рекомендации. Для лёгких почв, сходных с почвой группы A, заводскую калибровку можно использовать без коррекции. Для тяжёлых почв, если важны пороги полива вблизи наименьшей влагоёмкости, нужна калибровка под конкретную почву или проверка термостатно-весовым методом 1–2 раза за сезон. Постоянная поправка не годится, потому что погрешность растёт с влажностью. Спасибо за внимание!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B2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097280"/>
            <a:ext cx="7498080" cy="2651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977640"/>
            <a:ext cx="74980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Датчики CS616: погрешность заводской калибровки · Кубанский ГАУ,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2B2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097280"/>
            <a:ext cx="7498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Систематическая погрешность заводской калибровки датчиков влажности CS616 в незасолённых почвах разного гранулометрического состава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97764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D9A441"/>
                </a:solidFill>
              </a:rPr>
              <a:t>Экспериментальная оценка и статистический анализ</a:t>
            </a:r>
            <a:endParaRPr lang="en-US" sz="1600" dirty="0"/>
          </a:p>
          <a:p>
            <a:pPr marL="0" indent="0" algn="l">
              <a:buNone/>
            </a:pPr>
            <a:r>
              <a:rPr lang="en-US" sz="1000" dirty="0">
                <a:solidFill>
                  <a:schemeClr val="bg2"/>
                </a:solidFill>
              </a:rPr>
              <a:t> 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chemeClr val="bg2"/>
                </a:solidFill>
              </a:rPr>
              <a:t>Вербицкий А. Ю., Приходько И. А., Болдырева Л. М., Кесафоти Х. Е.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Кубанский государственный аграрный университет имени И. Т. Трубилина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Краснодар, 2026</a:t>
            </a:r>
            <a:endParaRPr lang="en-US" sz="1600" dirty="0"/>
          </a:p>
        </p:txBody>
      </p:sp>
      <p:sp>
        <p:nvSpPr>
          <p:cNvPr id="4" name="Слой почвы A"/>
          <p:cNvSpPr/>
          <p:nvPr/>
        </p:nvSpPr>
        <p:spPr>
          <a:xfrm>
            <a:off x="9052560" y="201168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D9A441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5" name="Метка слоя A"/>
          <p:cNvSpPr txBox="1"/>
          <p:nvPr/>
        </p:nvSpPr>
        <p:spPr>
          <a:xfrm>
            <a:off x="108813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6" name="Слой почвы B"/>
          <p:cNvSpPr/>
          <p:nvPr/>
        </p:nvSpPr>
        <p:spPr>
          <a:xfrm>
            <a:off x="9052560" y="342900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9C6644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7" name="Метка слоя B"/>
          <p:cNvSpPr txBox="1"/>
          <p:nvPr/>
        </p:nvSpPr>
        <p:spPr>
          <a:xfrm>
            <a:off x="108813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8" name="Слой почвы C"/>
          <p:cNvSpPr/>
          <p:nvPr/>
        </p:nvSpPr>
        <p:spPr>
          <a:xfrm>
            <a:off x="9052560" y="484632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3E2C23"/>
          </a:solidFill>
          <a:ln w="12700">
            <a:solidFill>
              <a:srgbClr val="5A4A3C"/>
            </a:solidFill>
            <a:prstDash val="solid"/>
          </a:ln>
        </p:spPr>
      </p:sp>
      <p:sp>
        <p:nvSpPr>
          <p:cNvPr id="9" name="Метка слоя C"/>
          <p:cNvSpPr txBox="1"/>
          <p:nvPr/>
        </p:nvSpPr>
        <p:spPr>
          <a:xfrm>
            <a:off x="1088136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10" name="Корпус датчика"/>
          <p:cNvSpPr/>
          <p:nvPr/>
        </p:nvSpPr>
        <p:spPr>
          <a:xfrm>
            <a:off x="9555480" y="1188720"/>
            <a:ext cx="914400" cy="594360"/>
          </a:xfrm>
          <a:prstGeom prst="roundRect">
            <a:avLst>
              <a:gd name="adj" fmla="val 12308"/>
            </a:avLst>
          </a:prstGeom>
          <a:solidFill>
            <a:srgbClr val="D5DCDE"/>
          </a:solidFill>
          <a:ln w="12700">
            <a:solidFill>
              <a:srgbClr val="D5DCDE"/>
            </a:solidFill>
            <a:prstDash val="solid"/>
          </a:ln>
        </p:spPr>
      </p:sp>
      <p:sp>
        <p:nvSpPr>
          <p:cNvPr id="11" name="Подпись датчика"/>
          <p:cNvSpPr txBox="1"/>
          <p:nvPr/>
        </p:nvSpPr>
        <p:spPr>
          <a:xfrm>
            <a:off x="9555480" y="11887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CS616</a:t>
            </a:r>
            <a:endParaRPr lang="en-US" sz="1300" dirty="0"/>
          </a:p>
        </p:txBody>
      </p:sp>
      <p:sp>
        <p:nvSpPr>
          <p:cNvPr id="12" name="Стержень 1"/>
          <p:cNvSpPr/>
          <p:nvPr/>
        </p:nvSpPr>
        <p:spPr>
          <a:xfrm>
            <a:off x="9784080" y="1783080"/>
            <a:ext cx="73152" cy="3931920"/>
          </a:xfrm>
          <a:prstGeom prst="rect">
            <a:avLst/>
          </a:prstGeom>
          <a:solidFill>
            <a:srgbClr val="D5DCDE"/>
          </a:solidFill>
          <a:ln w="12700">
            <a:solidFill>
              <a:srgbClr val="D5DCDE"/>
            </a:solidFill>
            <a:prstDash val="solid"/>
          </a:ln>
        </p:spPr>
      </p:sp>
      <p:sp>
        <p:nvSpPr>
          <p:cNvPr id="13" name="Стержень 2"/>
          <p:cNvSpPr/>
          <p:nvPr/>
        </p:nvSpPr>
        <p:spPr>
          <a:xfrm>
            <a:off x="10168128" y="1783080"/>
            <a:ext cx="73152" cy="3931920"/>
          </a:xfrm>
          <a:prstGeom prst="rect">
            <a:avLst/>
          </a:prstGeom>
          <a:solidFill>
            <a:srgbClr val="D5DCDE"/>
          </a:solidFill>
          <a:ln w="12700">
            <a:solidFill>
              <a:srgbClr val="D5DCD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Риск завышения влажности в тяжёлых почвах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Датчик CS616 рассчитывает объёмную влажность θ по периоду выходного сигнала τ с помощью заводского квадратичного уравнения.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Паспортный предел погрешности установлен в основном на супесях и более лёгких почвах.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Для чернозёмов Краснодарского края количественных оценок этой погрешности в литературе нет.</a:t>
            </a:r>
            <a:endParaRPr lang="en-US" sz="1800" dirty="0"/>
          </a:p>
        </p:txBody>
      </p:sp>
      <p:sp>
        <p:nvSpPr>
          <p:cNvPr id="4" name="Карточка факта 1"/>
          <p:cNvSpPr/>
          <p:nvPr/>
        </p:nvSpPr>
        <p:spPr>
          <a:xfrm>
            <a:off x="6766560" y="1371600"/>
            <a:ext cx="484632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5DC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949440" y="148132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±0,025 м³/м³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509760" y="148132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паспортный предел погрешности заводской калибровки</a:t>
            </a:r>
            <a:endParaRPr lang="en-US" sz="1400" dirty="0"/>
          </a:p>
        </p:txBody>
      </p:sp>
      <p:sp>
        <p:nvSpPr>
          <p:cNvPr id="7" name="Карточка факта 2"/>
          <p:cNvSpPr/>
          <p:nvPr/>
        </p:nvSpPr>
        <p:spPr>
          <a:xfrm>
            <a:off x="6766560" y="2606040"/>
            <a:ext cx="484632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D5DC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49440" y="271576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C66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 65 %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509760" y="2715768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физической глины (&lt; 0,01 мм) в исследованных почвах края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Ожидаемый механизм завышения θ</a:t>
            </a:r>
            <a:endParaRPr lang="en-US" sz="1800" dirty="0"/>
          </a:p>
        </p:txBody>
      </p:sp>
      <p:sp>
        <p:nvSpPr>
          <p:cNvPr id="11" name="Шаг механизма 1"/>
          <p:cNvSpPr/>
          <p:nvPr/>
        </p:nvSpPr>
        <p:spPr>
          <a:xfrm>
            <a:off x="548640" y="4572000"/>
            <a:ext cx="3611880" cy="1417320"/>
          </a:xfrm>
          <a:prstGeom prst="chevron">
            <a:avLst/>
          </a:prstGeom>
          <a:solidFill>
            <a:srgbClr val="3E2C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45720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Электропроводность порового раствора и поверхностная проводимость глин</a:t>
            </a:r>
            <a:endParaRPr lang="en-US" sz="1400" dirty="0"/>
          </a:p>
        </p:txBody>
      </p:sp>
      <p:sp>
        <p:nvSpPr>
          <p:cNvPr id="13" name="Шаг механизма 2"/>
          <p:cNvSpPr/>
          <p:nvPr/>
        </p:nvSpPr>
        <p:spPr>
          <a:xfrm>
            <a:off x="4251960" y="4572000"/>
            <a:ext cx="3611880" cy="1417320"/>
          </a:xfrm>
          <a:prstGeom prst="chevron">
            <a:avLst/>
          </a:prstGeom>
          <a:solidFill>
            <a:srgbClr val="9C66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45720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Диэлектрические потери, удлинение периода сигнала τ</a:t>
            </a:r>
            <a:endParaRPr lang="en-US" sz="1400" dirty="0"/>
          </a:p>
        </p:txBody>
      </p:sp>
      <p:sp>
        <p:nvSpPr>
          <p:cNvPr id="15" name="Шаг механизма 3"/>
          <p:cNvSpPr/>
          <p:nvPr/>
        </p:nvSpPr>
        <p:spPr>
          <a:xfrm>
            <a:off x="7955280" y="4572000"/>
            <a:ext cx="3611880" cy="1417320"/>
          </a:xfrm>
          <a:prstGeom prst="chevron">
            <a:avLst/>
          </a:prstGeom>
          <a:solidFill>
            <a:srgbClr val="C855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41080" y="45720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Завышение θ, растущее по мере увлажнения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и гипотеза исследования</a:t>
            </a:r>
            <a:endParaRPr lang="en-US" sz="2800" dirty="0"/>
          </a:p>
        </p:txBody>
      </p:sp>
      <p:sp>
        <p:nvSpPr>
          <p:cNvPr id="3" name="Карточка Цель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 w="9525">
            <a:solidFill>
              <a:srgbClr val="D5DC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Фон значка Цель"/>
          <p:cNvSpPr/>
          <p:nvPr/>
        </p:nvSpPr>
        <p:spPr>
          <a:xfrm>
            <a:off x="914400" y="1783080"/>
            <a:ext cx="914400" cy="914400"/>
          </a:xfrm>
          <a:prstGeom prst="ellipse">
            <a:avLst/>
          </a:prstGeom>
          <a:solidFill>
            <a:srgbClr val="EEF2F3"/>
          </a:solidFill>
          <a:ln w="12700">
            <a:solidFill>
              <a:srgbClr val="EEF2F3"/>
            </a:solidFill>
            <a:prstDash val="solid"/>
          </a:ln>
        </p:spPr>
      </p:sp>
      <p:pic>
        <p:nvPicPr>
          <p:cNvPr id="5" name="Значок Цель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98424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5740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97180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Экспериментально оценить систематическую погрешность заводской калибровки CS616 в незасолённых почвах трёх гранулометрических групп при двух уровнях плотности сложения и определить вклад гранулометрического состава, плотности и их взаимодействия в изменчивость погрешности.</a:t>
            </a:r>
            <a:endParaRPr lang="en-US" sz="1800" dirty="0"/>
          </a:p>
        </p:txBody>
      </p:sp>
      <p:sp>
        <p:nvSpPr>
          <p:cNvPr id="8" name="Карточка Гипотеза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 w="9525">
            <a:solidFill>
              <a:srgbClr val="D5DC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Фон значка Гипотеза"/>
          <p:cNvSpPr/>
          <p:nvPr/>
        </p:nvSpPr>
        <p:spPr>
          <a:xfrm>
            <a:off x="6583680" y="1783080"/>
            <a:ext cx="914400" cy="914400"/>
          </a:xfrm>
          <a:prstGeom prst="ellipse">
            <a:avLst/>
          </a:prstGeom>
          <a:solidFill>
            <a:srgbClr val="EEF2F3"/>
          </a:solidFill>
          <a:ln w="12700">
            <a:solidFill>
              <a:srgbClr val="EEF2F3"/>
            </a:solidFill>
            <a:prstDash val="solid"/>
          </a:ln>
        </p:spPr>
      </p:sp>
      <p:pic>
        <p:nvPicPr>
          <p:cNvPr id="10" name="Значок Гипотеза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1984248"/>
            <a:ext cx="512064" cy="5120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2668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Гипотеза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297180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Погрешность Δθ = θCS616 − θэт определяется прежде всего содержанием физической глины и нелинейно растёт по мере приближения к насыщению; влияние плотности сложения значимо и зависит от гранулометрического состава.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Объекты и методы</a:t>
            </a:r>
            <a:endParaRPr lang="en-US" sz="2800" dirty="0"/>
          </a:p>
        </p:txBody>
      </p:sp>
      <p:sp>
        <p:nvSpPr>
          <p:cNvPr id="3" name="Почва A"/>
          <p:cNvSpPr/>
          <p:nvPr/>
        </p:nvSpPr>
        <p:spPr>
          <a:xfrm>
            <a:off x="548640" y="132588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5DC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Значок группы A"/>
          <p:cNvSpPr/>
          <p:nvPr/>
        </p:nvSpPr>
        <p:spPr>
          <a:xfrm>
            <a:off x="822960" y="1508760"/>
            <a:ext cx="685800" cy="6858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5" name="Значок группы A text"/>
          <p:cNvSpPr txBox="1"/>
          <p:nvPr/>
        </p:nvSpPr>
        <p:spPr>
          <a:xfrm>
            <a:off x="82296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508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Чернозём обыкновенный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Физическая глина: </a:t>
            </a:r>
            <a:r>
              <a:rPr lang="en-US" sz="1400" b="1" dirty="0">
                <a:solidFill>
                  <a:schemeClr val="tx1"/>
                </a:solidFill>
              </a:rPr>
              <a:t>10–20 %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МГ: </a:t>
            </a:r>
            <a:r>
              <a:rPr lang="en-US" sz="1400" b="1" dirty="0">
                <a:solidFill>
                  <a:schemeClr val="tx1"/>
                </a:solidFill>
              </a:rPr>
              <a:t>2,1–2,3 %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ECe, дСм/м: </a:t>
            </a:r>
            <a:r>
              <a:rPr lang="en-US" sz="1400" b="1" dirty="0">
                <a:solidFill>
                  <a:schemeClr val="tx1"/>
                </a:solidFill>
              </a:rPr>
              <a:t>0,28–0,35</a:t>
            </a:r>
            <a:endParaRPr lang="en-US" sz="1400" dirty="0"/>
          </a:p>
        </p:txBody>
      </p:sp>
      <p:sp>
        <p:nvSpPr>
          <p:cNvPr id="8" name="Почва B"/>
          <p:cNvSpPr/>
          <p:nvPr/>
        </p:nvSpPr>
        <p:spPr>
          <a:xfrm>
            <a:off x="4297680" y="132588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5DC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Значок группы B"/>
          <p:cNvSpPr/>
          <p:nvPr/>
        </p:nvSpPr>
        <p:spPr>
          <a:xfrm>
            <a:off x="4572000" y="1508760"/>
            <a:ext cx="685800" cy="685800"/>
          </a:xfrm>
          <a:prstGeom prst="ellipse">
            <a:avLst/>
          </a:prstGeom>
          <a:solidFill>
            <a:srgbClr val="9C6644"/>
          </a:solidFill>
          <a:ln w="12700">
            <a:solidFill>
              <a:srgbClr val="9C6644"/>
            </a:solidFill>
            <a:prstDash val="solid"/>
          </a:ln>
        </p:spPr>
      </p:sp>
      <p:sp>
        <p:nvSpPr>
          <p:cNvPr id="10" name="Значок группы B text"/>
          <p:cNvSpPr txBox="1"/>
          <p:nvPr/>
        </p:nvSpPr>
        <p:spPr>
          <a:xfrm>
            <a:off x="457200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508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Чернозём типичный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774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Физическая глина: </a:t>
            </a:r>
            <a:r>
              <a:rPr lang="en-US" sz="1400" b="1" dirty="0">
                <a:solidFill>
                  <a:schemeClr val="tx1"/>
                </a:solidFill>
              </a:rPr>
              <a:t>40–50 %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МГ: </a:t>
            </a:r>
            <a:r>
              <a:rPr lang="en-US" sz="1400" b="1" dirty="0">
                <a:solidFill>
                  <a:schemeClr val="tx1"/>
                </a:solidFill>
              </a:rPr>
              <a:t>6,5–6,8 %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ECe, дСм/м: </a:t>
            </a:r>
            <a:r>
              <a:rPr lang="en-US" sz="1400" b="1" dirty="0">
                <a:solidFill>
                  <a:schemeClr val="tx1"/>
                </a:solidFill>
              </a:rPr>
              <a:t>0,45–0,52</a:t>
            </a:r>
            <a:endParaRPr lang="en-US" sz="1400" dirty="0"/>
          </a:p>
        </p:txBody>
      </p:sp>
      <p:sp>
        <p:nvSpPr>
          <p:cNvPr id="13" name="Почва C"/>
          <p:cNvSpPr/>
          <p:nvPr/>
        </p:nvSpPr>
        <p:spPr>
          <a:xfrm>
            <a:off x="8046720" y="132588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5DC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Значок группы C"/>
          <p:cNvSpPr/>
          <p:nvPr/>
        </p:nvSpPr>
        <p:spPr>
          <a:xfrm>
            <a:off x="8321040" y="1508760"/>
            <a:ext cx="685800" cy="685800"/>
          </a:xfrm>
          <a:prstGeom prst="ellipse">
            <a:avLst/>
          </a:prstGeom>
          <a:solidFill>
            <a:srgbClr val="3E2C23"/>
          </a:solidFill>
          <a:ln w="12700">
            <a:solidFill>
              <a:srgbClr val="3E2C23"/>
            </a:solidFill>
            <a:prstDash val="solid"/>
          </a:ln>
        </p:spPr>
      </p:sp>
      <p:sp>
        <p:nvSpPr>
          <p:cNvPr id="15" name="Значок группы C text"/>
          <p:cNvSpPr txBox="1"/>
          <p:nvPr/>
        </p:nvSpPr>
        <p:spPr>
          <a:xfrm>
            <a:off x="832104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1508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Лугово-чернозёмная почва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3774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Физическая глина: </a:t>
            </a:r>
            <a:r>
              <a:rPr lang="en-US" sz="1400" b="1" dirty="0">
                <a:solidFill>
                  <a:schemeClr val="tx1"/>
                </a:solidFill>
              </a:rPr>
              <a:t>50–65 %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МГ: </a:t>
            </a:r>
            <a:r>
              <a:rPr lang="en-US" sz="1400" b="1" dirty="0">
                <a:solidFill>
                  <a:schemeClr val="tx1"/>
                </a:solidFill>
              </a:rPr>
              <a:t>11,1–11,4 %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ECe, дСм/м: </a:t>
            </a:r>
            <a:r>
              <a:rPr lang="en-US" sz="1400" b="1" dirty="0">
                <a:solidFill>
                  <a:schemeClr val="tx1"/>
                </a:solidFill>
              </a:rPr>
              <a:t>0,49–0,61</a:t>
            </a:r>
            <a:endParaRPr lang="en-US" sz="1400" dirty="0"/>
          </a:p>
        </p:txBody>
      </p:sp>
      <p:sp>
        <p:nvSpPr>
          <p:cNvPr id="18" name="Шаг схемы 1"/>
          <p:cNvSpPr/>
          <p:nvPr/>
        </p:nvSpPr>
        <p:spPr>
          <a:xfrm>
            <a:off x="548640" y="39776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EEF2F3"/>
          </a:solidFill>
          <a:ln w="12700">
            <a:solidFill>
              <a:srgbClr val="EEF2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97764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9776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chemeClr val="tx1"/>
                </a:solidFill>
              </a:rPr>
              <a:t>почвы</a:t>
            </a:r>
            <a:r>
              <a:rPr lang="en-US" sz="1300" dirty="0">
                <a:solidFill>
                  <a:schemeClr val="tx1"/>
                </a:solidFill>
              </a:rPr>
              <a:t> </a:t>
            </a:r>
            <a:endParaRPr lang="ru-RU" sz="13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300" dirty="0" smtClean="0">
                <a:solidFill>
                  <a:schemeClr val="tx1"/>
                </a:solidFill>
              </a:rPr>
              <a:t>(</a:t>
            </a:r>
            <a:r>
              <a:rPr lang="en-US" sz="1300" dirty="0">
                <a:solidFill>
                  <a:schemeClr val="tx1"/>
                </a:solidFill>
              </a:rPr>
              <a:t>группы A, B, C)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3977640"/>
            <a:ext cx="228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D8A8C"/>
                </a:solidFill>
              </a:rPr>
              <a:t>×</a:t>
            </a:r>
            <a:endParaRPr lang="en-US" sz="2200" dirty="0"/>
          </a:p>
        </p:txBody>
      </p:sp>
      <p:sp>
        <p:nvSpPr>
          <p:cNvPr id="22" name="Шаг схемы 2"/>
          <p:cNvSpPr/>
          <p:nvPr/>
        </p:nvSpPr>
        <p:spPr>
          <a:xfrm>
            <a:off x="3383280" y="39776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EEF2F3"/>
          </a:solidFill>
          <a:ln w="12700">
            <a:solidFill>
              <a:srgbClr val="EEF2F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20440" y="397764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4389120" y="39776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плотности: </a:t>
            </a:r>
            <a:endParaRPr lang="ru-RU" sz="13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300" dirty="0" smtClean="0">
                <a:solidFill>
                  <a:schemeClr val="tx1"/>
                </a:solidFill>
              </a:rPr>
              <a:t>1,35 </a:t>
            </a:r>
            <a:r>
              <a:rPr lang="en-US" sz="1300" dirty="0">
                <a:solidFill>
                  <a:schemeClr val="tx1"/>
                </a:solidFill>
              </a:rPr>
              <a:t>и 1,52 г/см³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3977640"/>
            <a:ext cx="228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D8A8C"/>
                </a:solidFill>
              </a:rPr>
              <a:t>×</a:t>
            </a:r>
            <a:endParaRPr lang="en-US" sz="2200" dirty="0"/>
          </a:p>
        </p:txBody>
      </p:sp>
      <p:sp>
        <p:nvSpPr>
          <p:cNvPr id="26" name="Шаг схемы 3"/>
          <p:cNvSpPr/>
          <p:nvPr/>
        </p:nvSpPr>
        <p:spPr>
          <a:xfrm>
            <a:off x="6217920" y="39776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EEF2F3"/>
          </a:solidFill>
          <a:ln w="12700">
            <a:solidFill>
              <a:srgbClr val="EEF2F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55080" y="397764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39776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колонки на вариант, 152 × 300 мм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823960" y="3977640"/>
            <a:ext cx="228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D8A8C"/>
                </a:solidFill>
              </a:rPr>
              <a:t>×</a:t>
            </a:r>
            <a:endParaRPr lang="en-US" sz="2200" dirty="0"/>
          </a:p>
        </p:txBody>
      </p:sp>
      <p:sp>
        <p:nvSpPr>
          <p:cNvPr id="30" name="Шаг схемы 4"/>
          <p:cNvSpPr/>
          <p:nvPr/>
        </p:nvSpPr>
        <p:spPr>
          <a:xfrm>
            <a:off x="9052560" y="39776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EEF2F3"/>
          </a:solidFill>
          <a:ln w="12700">
            <a:solidFill>
              <a:srgbClr val="EEF2F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89720" y="397764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0" y="397764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уровней θ </a:t>
            </a:r>
            <a:endParaRPr lang="ru-RU" sz="13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300" dirty="0" err="1" smtClean="0">
                <a:solidFill>
                  <a:schemeClr val="tx1"/>
                </a:solidFill>
              </a:rPr>
              <a:t>при</a:t>
            </a:r>
            <a:r>
              <a:rPr lang="en-US" sz="1300" dirty="0" smtClean="0">
                <a:solidFill>
                  <a:schemeClr val="tx1"/>
                </a:solidFill>
              </a:rPr>
              <a:t> </a:t>
            </a:r>
            <a:r>
              <a:rPr lang="en-US" sz="1300" dirty="0">
                <a:solidFill>
                  <a:schemeClr val="tx1"/>
                </a:solidFill>
              </a:rPr>
              <a:t>сушке, 20 °C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257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Эталон: </a:t>
            </a:r>
            <a:r>
              <a:rPr lang="en-US" sz="1500" dirty="0">
                <a:solidFill>
                  <a:schemeClr val="tx1"/>
                </a:solidFill>
              </a:rPr>
              <a:t>термостатно-весовой метод (U = 0,005 м³/м³). МГ — максимальная гигроскопическая влажность.  </a:t>
            </a:r>
            <a:r>
              <a:rPr lang="en-US" sz="1500" b="1" dirty="0">
                <a:solidFill>
                  <a:schemeClr val="tx1"/>
                </a:solidFill>
              </a:rPr>
              <a:t>Оценки: </a:t>
            </a:r>
            <a:r>
              <a:rPr lang="en-US" sz="1500" dirty="0">
                <a:solidFill>
                  <a:schemeClr val="tx1"/>
                </a:solidFill>
              </a:rPr>
              <a:t>MB и RMSE погрешности Δθ; t-критерий; двухфакторный дисперсионный анализ; сравнение групп при одинаковой θ (критерий Фридмана); регрессия.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 ниже 0,02 м³/м³ во всех вариантах</a:t>
            </a:r>
            <a:endParaRPr lang="en-US" sz="2800" dirty="0"/>
          </a:p>
        </p:txBody>
      </p:sp>
      <p:graphicFrame>
        <p:nvGraphicFramePr>
          <p:cNvPr id="3" name="Диаграмма MB и RMSE"/>
          <p:cNvGraphicFramePr/>
          <p:nvPr/>
        </p:nvGraphicFramePr>
        <p:xfrm>
          <a:off x="457200" y="1234440"/>
          <a:ext cx="7040880" cy="4983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Итог 1"/>
          <p:cNvSpPr/>
          <p:nvPr/>
        </p:nvSpPr>
        <p:spPr>
          <a:xfrm>
            <a:off x="7818120" y="1325880"/>
            <a:ext cx="37947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5DC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046720" y="14356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0,006–0,014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0116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RMSE во всех шести вариантах, м³/м³</a:t>
            </a:r>
            <a:endParaRPr lang="en-US" sz="1300" dirty="0"/>
          </a:p>
        </p:txBody>
      </p:sp>
      <p:sp>
        <p:nvSpPr>
          <p:cNvPr id="7" name="Итог 2"/>
          <p:cNvSpPr/>
          <p:nvPr/>
        </p:nvSpPr>
        <p:spPr>
          <a:xfrm>
            <a:off x="7818120" y="2880360"/>
            <a:ext cx="37947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5DC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046720" y="29900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+0,006…+0,010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35661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MB в группах B и C: датчик завышает θ (p = 0,014–0,035)</a:t>
            </a:r>
            <a:endParaRPr lang="en-US" sz="1300" dirty="0"/>
          </a:p>
        </p:txBody>
      </p:sp>
      <p:sp>
        <p:nvSpPr>
          <p:cNvPr id="10" name="Итог 3"/>
          <p:cNvSpPr/>
          <p:nvPr/>
        </p:nvSpPr>
        <p:spPr>
          <a:xfrm>
            <a:off x="7818120" y="4434840"/>
            <a:ext cx="37947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5DC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046720" y="45445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5120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MB в группе A не отличается от нуля (p = 0,066 и 0,32)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Погрешность нелинейно растёт с влажностью</a:t>
            </a:r>
            <a:endParaRPr lang="en-US" sz="2800" dirty="0"/>
          </a:p>
        </p:txBody>
      </p:sp>
      <p:graphicFrame>
        <p:nvGraphicFramePr>
          <p:cNvPr id="3" name="Диаграмма зависимости погрешности от влажности"/>
          <p:cNvGraphicFramePr/>
          <p:nvPr/>
        </p:nvGraphicFramePr>
        <p:xfrm>
          <a:off x="457200" y="1234440"/>
          <a:ext cx="7223760" cy="4983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Прирост погрешности"/>
          <p:cNvSpPr/>
          <p:nvPr/>
        </p:nvSpPr>
        <p:spPr>
          <a:xfrm>
            <a:off x="8001000" y="1325880"/>
            <a:ext cx="361188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9525">
            <a:solidFill>
              <a:srgbClr val="D5DC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0" y="1463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Прирост Δθ при θ 0,20 → 0,40 м³/м³</a:t>
            </a:r>
            <a:endParaRPr lang="en-US" sz="1500" dirty="0"/>
          </a:p>
        </p:txBody>
      </p:sp>
      <p:sp>
        <p:nvSpPr>
          <p:cNvPr id="6" name="Прирост A"/>
          <p:cNvSpPr/>
          <p:nvPr/>
        </p:nvSpPr>
        <p:spPr>
          <a:xfrm>
            <a:off x="8229600" y="2103120"/>
            <a:ext cx="411480" cy="4114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Прирост A text"/>
          <p:cNvSpPr txBox="1"/>
          <p:nvPr/>
        </p:nvSpPr>
        <p:spPr>
          <a:xfrm>
            <a:off x="822960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+0,008 м³/м³</a:t>
            </a:r>
            <a:endParaRPr lang="en-US" sz="1800" dirty="0"/>
          </a:p>
        </p:txBody>
      </p:sp>
      <p:sp>
        <p:nvSpPr>
          <p:cNvPr id="9" name="Прирост B"/>
          <p:cNvSpPr/>
          <p:nvPr/>
        </p:nvSpPr>
        <p:spPr>
          <a:xfrm>
            <a:off x="8229600" y="2651760"/>
            <a:ext cx="411480" cy="411480"/>
          </a:xfrm>
          <a:prstGeom prst="ellipse">
            <a:avLst/>
          </a:prstGeom>
          <a:solidFill>
            <a:srgbClr val="9C6644"/>
          </a:solidFill>
          <a:ln w="12700">
            <a:solidFill>
              <a:srgbClr val="9C6644"/>
            </a:solidFill>
            <a:prstDash val="solid"/>
          </a:ln>
        </p:spPr>
      </p:sp>
      <p:sp>
        <p:nvSpPr>
          <p:cNvPr id="10" name="Прирост B text"/>
          <p:cNvSpPr txBox="1"/>
          <p:nvPr/>
        </p:nvSpPr>
        <p:spPr>
          <a:xfrm>
            <a:off x="822960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2651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+0,014 м³/м³</a:t>
            </a:r>
            <a:endParaRPr lang="en-US" sz="1800" dirty="0"/>
          </a:p>
        </p:txBody>
      </p:sp>
      <p:sp>
        <p:nvSpPr>
          <p:cNvPr id="12" name="Прирост C"/>
          <p:cNvSpPr/>
          <p:nvPr/>
        </p:nvSpPr>
        <p:spPr>
          <a:xfrm>
            <a:off x="8229600" y="3200400"/>
            <a:ext cx="411480" cy="411480"/>
          </a:xfrm>
          <a:prstGeom prst="ellipse">
            <a:avLst/>
          </a:prstGeom>
          <a:solidFill>
            <a:srgbClr val="3E2C23"/>
          </a:solidFill>
          <a:ln w="12700">
            <a:solidFill>
              <a:srgbClr val="3E2C23"/>
            </a:solidFill>
            <a:prstDash val="solid"/>
          </a:ln>
        </p:spPr>
      </p:sp>
      <p:sp>
        <p:nvSpPr>
          <p:cNvPr id="13" name="Прирост C text"/>
          <p:cNvSpPr txBox="1"/>
          <p:nvPr/>
        </p:nvSpPr>
        <p:spPr>
          <a:xfrm>
            <a:off x="82296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778240" y="3200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+0,021 м³/м³</a:t>
            </a:r>
            <a:endParaRPr lang="en-US" sz="1800" dirty="0"/>
          </a:p>
        </p:txBody>
      </p:sp>
      <p:sp>
        <p:nvSpPr>
          <p:cNvPr id="15" name="Максимум погрешности"/>
          <p:cNvSpPr/>
          <p:nvPr/>
        </p:nvSpPr>
        <p:spPr>
          <a:xfrm>
            <a:off x="8001000" y="4069080"/>
            <a:ext cx="361188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D5DC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229600" y="4206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+0,027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48463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максимум среди 10 анализируемых уровней (C, θ = 0,40): выше паспортного предела на 0,002, т. е. меньше U эталона (0,005)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Различия вариантов — около 10 % изменчивости</a:t>
            </a:r>
            <a:endParaRPr lang="en-US" sz="2800" dirty="0"/>
          </a:p>
        </p:txBody>
      </p:sp>
      <p:graphicFrame>
        <p:nvGraphicFramePr>
          <p:cNvPr id="3" name="Кольцевая диаграмма долей"/>
          <p:cNvGraphicFramePr/>
          <p:nvPr/>
        </p:nvGraphicFramePr>
        <p:xfrm>
          <a:off x="457200" y="1325880"/>
          <a:ext cx="38404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691640" y="2880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η²</a:t>
            </a:r>
            <a:endParaRPr lang="en-US" sz="3000" dirty="0"/>
          </a:p>
        </p:txBody>
      </p:sp>
      <p:sp>
        <p:nvSpPr>
          <p:cNvPr id="5" name="Легенда 1"/>
          <p:cNvSpPr/>
          <p:nvPr/>
        </p:nvSpPr>
        <p:spPr>
          <a:xfrm>
            <a:off x="457200" y="5394960"/>
            <a:ext cx="201168" cy="201168"/>
          </a:xfrm>
          <a:prstGeom prst="rect">
            <a:avLst/>
          </a:prstGeom>
          <a:solidFill>
            <a:srgbClr val="9C6644"/>
          </a:solidFill>
          <a:ln w="12700">
            <a:solidFill>
              <a:srgbClr val="9C66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5303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9,1 %  </a:t>
            </a:r>
            <a:r>
              <a:rPr lang="en-US" sz="1200" dirty="0">
                <a:solidFill>
                  <a:schemeClr val="tx2"/>
                </a:solidFill>
              </a:rPr>
              <a:t>Гранулометрический состав</a:t>
            </a:r>
            <a:endParaRPr lang="en-US" sz="1200" dirty="0"/>
          </a:p>
        </p:txBody>
      </p:sp>
      <p:sp>
        <p:nvSpPr>
          <p:cNvPr id="7" name="Легенда 2"/>
          <p:cNvSpPr/>
          <p:nvPr/>
        </p:nvSpPr>
        <p:spPr>
          <a:xfrm>
            <a:off x="3520440" y="5394960"/>
            <a:ext cx="201168" cy="20116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813048" y="5303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1,0 %  </a:t>
            </a:r>
            <a:r>
              <a:rPr lang="en-US" sz="1200" dirty="0">
                <a:solidFill>
                  <a:schemeClr val="tx2"/>
                </a:solidFill>
              </a:rPr>
              <a:t>Плотность сложения</a:t>
            </a:r>
            <a:endParaRPr lang="en-US" sz="1200" dirty="0"/>
          </a:p>
        </p:txBody>
      </p:sp>
      <p:sp>
        <p:nvSpPr>
          <p:cNvPr id="9" name="Легенда 3"/>
          <p:cNvSpPr/>
          <p:nvPr/>
        </p:nvSpPr>
        <p:spPr>
          <a:xfrm>
            <a:off x="457200" y="5852160"/>
            <a:ext cx="201168" cy="201168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5760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0,1 %  </a:t>
            </a:r>
            <a:r>
              <a:rPr lang="en-US" sz="1200" dirty="0">
                <a:solidFill>
                  <a:schemeClr val="tx2"/>
                </a:solidFill>
              </a:rPr>
              <a:t>Взаимодействие</a:t>
            </a:r>
            <a:endParaRPr lang="en-US" sz="1200" dirty="0"/>
          </a:p>
        </p:txBody>
      </p:sp>
      <p:sp>
        <p:nvSpPr>
          <p:cNvPr id="11" name="Легенда 4"/>
          <p:cNvSpPr/>
          <p:nvPr/>
        </p:nvSpPr>
        <p:spPr>
          <a:xfrm>
            <a:off x="3520440" y="5852160"/>
            <a:ext cx="201168" cy="201168"/>
          </a:xfrm>
          <a:prstGeom prst="rect">
            <a:avLst/>
          </a:prstGeom>
          <a:solidFill>
            <a:srgbClr val="BFC6C8"/>
          </a:solidFill>
          <a:ln w="12700">
            <a:solidFill>
              <a:srgbClr val="BFC6C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813048" y="5760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89,8 %  </a:t>
            </a:r>
            <a:r>
              <a:rPr lang="en-US" sz="1200" dirty="0">
                <a:solidFill>
                  <a:schemeClr val="tx2"/>
                </a:solidFill>
              </a:rPr>
              <a:t>Внутри </a:t>
            </a:r>
            <a:r>
              <a:rPr lang="en-US" sz="1200" dirty="0" err="1">
                <a:solidFill>
                  <a:schemeClr val="tx2"/>
                </a:solidFill>
              </a:rPr>
              <a:t>вариантов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endParaRPr lang="ru-RU" sz="1200" dirty="0" smtClean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chemeClr val="tx2"/>
                </a:solidFill>
              </a:rPr>
              <a:t>(</a:t>
            </a:r>
            <a:r>
              <a:rPr lang="en-US" sz="1200" dirty="0">
                <a:solidFill>
                  <a:schemeClr val="tx2"/>
                </a:solidFill>
              </a:rPr>
              <a:t>зависимость от θ)</a:t>
            </a:r>
            <a:endParaRPr lang="en-US" sz="1200" dirty="0"/>
          </a:p>
        </p:txBody>
      </p:sp>
      <p:sp>
        <p:nvSpPr>
          <p:cNvPr id="13" name="Сравнение 1"/>
          <p:cNvSpPr/>
          <p:nvPr/>
        </p:nvSpPr>
        <p:spPr>
          <a:xfrm>
            <a:off x="6720840" y="1325880"/>
            <a:ext cx="48920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D5DC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995160" y="1508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7D8A8C"/>
                </a:solidFill>
              </a:rPr>
              <a:t>Общий дисперсионный анализ (N = 60)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205740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Гранулометрический состав: F(2; 54) = 2,74; p = 0,074 — незначимо, т. к. 90 % изменчивости — зависимость от θ</a:t>
            </a:r>
            <a:endParaRPr lang="en-US" sz="1500" dirty="0"/>
          </a:p>
        </p:txBody>
      </p:sp>
      <p:sp>
        <p:nvSpPr>
          <p:cNvPr id="16" name="Сравнение 2"/>
          <p:cNvSpPr/>
          <p:nvPr/>
        </p:nvSpPr>
        <p:spPr>
          <a:xfrm>
            <a:off x="6720840" y="3657600"/>
            <a:ext cx="489204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rgbClr val="D5DC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995160" y="3840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7A8C"/>
                </a:solidFill>
              </a:rPr>
              <a:t>При одинаковой θ (6 уровней)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995160" y="438912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Порядок A &lt; B ≤ C на каждом уровне: F(2; 10) = 6,92; p = 0,013; критерий Фридмана: χ² = 11,27; p = 0,004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720840" y="60350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</a:rPr>
              <a:t>p-значения описательные: уровни θ — последовательные состояния одних и тех же колонок.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Уровень погрешности связан и с МГ, и с ECe</a:t>
            </a:r>
            <a:endParaRPr lang="en-US" sz="2800" dirty="0"/>
          </a:p>
        </p:txBody>
      </p:sp>
      <p:graphicFrame>
        <p:nvGraphicFramePr>
          <p:cNvPr id="3" name="Диаграмма Максимальная гигроскопичность, %"/>
          <p:cNvGraphicFramePr/>
          <p:nvPr/>
        </p:nvGraphicFramePr>
        <p:xfrm>
          <a:off x="457200" y="1325880"/>
          <a:ext cx="54864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Диаграмма ECe, дСм/м"/>
          <p:cNvGraphicFramePr/>
          <p:nvPr/>
        </p:nvGraphicFramePr>
        <p:xfrm>
          <a:off x="6172200" y="1325880"/>
          <a:ext cx="54864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Вывод слайда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EF2F3"/>
          </a:solidFill>
          <a:ln w="12700">
            <a:solidFill>
              <a:srgbClr val="EEF2F3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7240" y="55321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МГ и ECe коррелируют (r = 0,88), </a:t>
            </a:r>
            <a:r>
              <a:rPr lang="en-US" sz="1500" dirty="0">
                <a:solidFill>
                  <a:schemeClr val="tx1"/>
                </a:solidFill>
              </a:rPr>
              <a:t>поэтому вклады поверхностной проводимости глин и проводимости порового раствора разделить нельзя.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Плотность: эффект мал и обратен прогнозу CRIM</a:t>
            </a:r>
            <a:endParaRPr lang="en-US" sz="2800" dirty="0"/>
          </a:p>
        </p:txBody>
      </p:sp>
      <p:graphicFrame>
        <p:nvGraphicFramePr>
          <p:cNvPr id="3" name="Диаграмма влияния плотности"/>
          <p:cNvGraphicFramePr/>
          <p:nvPr/>
        </p:nvGraphicFramePr>
        <p:xfrm>
          <a:off x="457200" y="1234440"/>
          <a:ext cx="6766560" cy="4983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Статистика плотности"/>
          <p:cNvSpPr/>
          <p:nvPr/>
        </p:nvSpPr>
        <p:spPr>
          <a:xfrm>
            <a:off x="7543800" y="1325880"/>
            <a:ext cx="406908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5DC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0" y="146304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Плотность: p = 0,43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95 % ДИ эффекта: −0,006…+0,003 м³/м³ (исключает прогноз CRIM)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Взаимодействие: p = 0,98</a:t>
            </a:r>
            <a:endParaRPr lang="en-US" sz="1500" dirty="0"/>
          </a:p>
        </p:txBody>
      </p:sp>
      <p:sp>
        <p:nvSpPr>
          <p:cNvPr id="6" name="Набухание"/>
          <p:cNvSpPr/>
          <p:nvPr/>
        </p:nvSpPr>
        <p:spPr>
          <a:xfrm>
            <a:off x="7543800" y="3566160"/>
            <a:ext cx="4069080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9525">
            <a:solidFill>
              <a:srgbClr val="D5DC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Значок набухания"/>
          <p:cNvSpPr/>
          <p:nvPr/>
        </p:nvSpPr>
        <p:spPr>
          <a:xfrm>
            <a:off x="7772400" y="3749040"/>
            <a:ext cx="548640" cy="548640"/>
          </a:xfrm>
          <a:prstGeom prst="ellipse">
            <a:avLst/>
          </a:prstGeom>
          <a:solidFill>
            <a:srgbClr val="3E2C23"/>
          </a:solidFill>
          <a:ln w="12700">
            <a:solidFill>
              <a:srgbClr val="3E2C23"/>
            </a:solidFill>
            <a:prstDash val="solid"/>
          </a:ln>
        </p:spPr>
      </p:sp>
      <p:sp>
        <p:nvSpPr>
          <p:cNvPr id="8" name="Значок набухания text"/>
          <p:cNvSpPr txBox="1"/>
          <p:nvPr/>
        </p:nvSpPr>
        <p:spPr>
          <a:xfrm>
            <a:off x="77724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3749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Набухание, 1,52 г/см³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443484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Объёмная деформация 8,3 %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θmax = 0,460 &gt; исходной пористости 0,415 м³/м³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 фактическому объёму колонки дополнительной погрешности не выявлено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3" name="Вывод 1"/>
          <p:cNvSpPr/>
          <p:nvPr/>
        </p:nvSpPr>
        <p:spPr>
          <a:xfrm>
            <a:off x="548640" y="1371600"/>
            <a:ext cx="3520440" cy="365760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D5DC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Номер вывода 1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5" name="Номер вывода 1 text"/>
          <p:cNvSpPr txBox="1"/>
          <p:nvPr/>
        </p:nvSpPr>
        <p:spPr>
          <a:xfrm>
            <a:off x="82296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7A8C"/>
                </a:solidFill>
              </a:rPr>
              <a:t>Заводская калибровка пригодна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для исследованных незасолённых почв, если допустима RMSE 0,02 м³/м³ (получено 0,006–0,014).</a:t>
            </a:r>
            <a:endParaRPr lang="en-US" sz="1500" dirty="0"/>
          </a:p>
        </p:txBody>
      </p:sp>
      <p:sp>
        <p:nvSpPr>
          <p:cNvPr id="8" name="Вывод 2"/>
          <p:cNvSpPr/>
          <p:nvPr/>
        </p:nvSpPr>
        <p:spPr>
          <a:xfrm>
            <a:off x="4297680" y="1371600"/>
            <a:ext cx="3520440" cy="365760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D5DC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Номер вывода 2"/>
          <p:cNvSpPr/>
          <p:nvPr/>
        </p:nvSpPr>
        <p:spPr>
          <a:xfrm>
            <a:off x="4572000" y="1600200"/>
            <a:ext cx="731520" cy="7315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0" name="Номер вывода 2 text"/>
          <p:cNvSpPr txBox="1"/>
          <p:nvPr/>
        </p:nvSpPr>
        <p:spPr>
          <a:xfrm>
            <a:off x="457200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514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C8553D"/>
                </a:solidFill>
              </a:rPr>
              <a:t>В тяжёлых почвах — завышение θ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4290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При 40–65 % физической глины в среднем на 0,006–0,010 м³/м³, во влажной почве до 0,027 м³/м³.</a:t>
            </a:r>
            <a:endParaRPr lang="en-US" sz="1500" dirty="0"/>
          </a:p>
        </p:txBody>
      </p:sp>
      <p:sp>
        <p:nvSpPr>
          <p:cNvPr id="13" name="Вывод 3"/>
          <p:cNvSpPr/>
          <p:nvPr/>
        </p:nvSpPr>
        <p:spPr>
          <a:xfrm>
            <a:off x="8046720" y="1371600"/>
            <a:ext cx="3520440" cy="365760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D5DCD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Номер вывода 3"/>
          <p:cNvSpPr/>
          <p:nvPr/>
        </p:nvSpPr>
        <p:spPr>
          <a:xfrm>
            <a:off x="8321040" y="1600200"/>
            <a:ext cx="731520" cy="731520"/>
          </a:xfrm>
          <a:prstGeom prst="ellipse">
            <a:avLst/>
          </a:prstGeom>
          <a:solidFill>
            <a:srgbClr val="9C6644"/>
          </a:solidFill>
          <a:ln w="12700">
            <a:solidFill>
              <a:srgbClr val="9C6644"/>
            </a:solidFill>
            <a:prstDash val="solid"/>
          </a:ln>
        </p:spPr>
      </p:sp>
      <p:sp>
        <p:nvSpPr>
          <p:cNvPr id="15" name="Номер вывода 3 text"/>
          <p:cNvSpPr txBox="1"/>
          <p:nvPr/>
        </p:nvSpPr>
        <p:spPr>
          <a:xfrm>
            <a:off x="83210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514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9C6644"/>
                </a:solidFill>
              </a:rPr>
              <a:t>Гипотеза подтверждена частично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4290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Связь с гранулометрическим составом и нелинейный рост с θ подтвердились; влияние плотности и взаимодействие не выявлены; вклад текстуры не отделён от ECe.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Ограничения: лабораторные условия (20 °C), средние по трём колонкам, каждая группа представлена одной почвой; p-значения описательные.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Рекомендации для практики</a:t>
            </a:r>
            <a:endParaRPr lang="en-US" sz="2800" dirty="0"/>
          </a:p>
        </p:txBody>
      </p:sp>
      <p:sp>
        <p:nvSpPr>
          <p:cNvPr id="3" name="Круг рекомендации 1"/>
          <p:cNvSpPr/>
          <p:nvPr/>
        </p:nvSpPr>
        <p:spPr>
          <a:xfrm>
            <a:off x="548640" y="1371600"/>
            <a:ext cx="822960" cy="8229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4" name="Значок рекомендации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72768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5331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Лёгкие почвы (10–20 % физической глины)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7830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5DCDE"/>
                </a:solidFill>
              </a:rPr>
              <a:t>Заводскую калибровку можно использовать без коррекции.</a:t>
            </a:r>
            <a:endParaRPr lang="en-US" sz="1500" dirty="0"/>
          </a:p>
        </p:txBody>
      </p:sp>
      <p:sp>
        <p:nvSpPr>
          <p:cNvPr id="7" name="Круг рекомендации 2"/>
          <p:cNvSpPr/>
          <p:nvPr/>
        </p:nvSpPr>
        <p:spPr>
          <a:xfrm>
            <a:off x="548640" y="2697480"/>
            <a:ext cx="822960" cy="822960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pic>
        <p:nvPicPr>
          <p:cNvPr id="8" name="Значок рекомендации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898648"/>
            <a:ext cx="420624" cy="4206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67919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Тяжёлые почвы (40–65 % физической глины)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31089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5DCDE"/>
                </a:solidFill>
              </a:rPr>
              <a:t>Калибровка под конкретную почву или термостатно-весовая проверка 1–2 раза за сезон, если важны пороги полива. Постоянная поправка не годится: Δθ растёт с θ.</a:t>
            </a:r>
            <a:endParaRPr lang="en-US" sz="1500" dirty="0"/>
          </a:p>
        </p:txBody>
      </p:sp>
      <p:sp>
        <p:nvSpPr>
          <p:cNvPr id="11" name="Круг рекомендации 3"/>
          <p:cNvSpPr/>
          <p:nvPr/>
        </p:nvSpPr>
        <p:spPr>
          <a:xfrm>
            <a:off x="548640" y="4023360"/>
            <a:ext cx="822960" cy="822960"/>
          </a:xfrm>
          <a:prstGeom prst="ellipse">
            <a:avLst/>
          </a:prstGeom>
          <a:solidFill>
            <a:srgbClr val="9C6644"/>
          </a:solidFill>
          <a:ln w="12700">
            <a:solidFill>
              <a:srgbClr val="9C6644"/>
            </a:solidFill>
            <a:prstDash val="solid"/>
          </a:ln>
        </p:spPr>
      </p:sp>
      <p:pic>
        <p:nvPicPr>
          <p:cNvPr id="12" name="Значок рекомендации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224528"/>
            <a:ext cx="420624" cy="4206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40050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Набухающие почвы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1645920" y="44348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5DCDE"/>
                </a:solidFill>
              </a:rPr>
              <a:t>При лабораторной калибровке контролировать подъём поверхности и считать эталон по фактическому объёму.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616 Chernozem">
  <a:themeElements>
    <a:clrScheme name="CS616 Chernozem">
      <a:dk1>
        <a:srgbClr val="2B2118"/>
      </a:dk1>
      <a:lt1>
        <a:srgbClr val="FFFFFF"/>
      </a:lt1>
      <a:dk2>
        <a:srgbClr val="5A4A3C"/>
      </a:dk2>
      <a:lt2>
        <a:srgbClr val="EEF2F3"/>
      </a:lt2>
      <a:accent1>
        <a:srgbClr val="1F7A8C"/>
      </a:accent1>
      <a:accent2>
        <a:srgbClr val="C8553D"/>
      </a:accent2>
      <a:accent3>
        <a:srgbClr val="D9A441"/>
      </a:accent3>
      <a:accent4>
        <a:srgbClr val="9C6644"/>
      </a:accent4>
      <a:accent5>
        <a:srgbClr val="3E2C23"/>
      </a:accent5>
      <a:accent6>
        <a:srgbClr val="7D8A8C"/>
      </a:accent6>
      <a:hlink>
        <a:srgbClr val="1F7A8C"/>
      </a:hlink>
      <a:folHlink>
        <a:srgbClr val="5A4A3C"/>
      </a:folHlink>
    </a:clrScheme>
    <a:fontScheme name="CS616 Chernoze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1790</Words>
  <Application>Microsoft Office PowerPoint</Application>
  <PresentationFormat>Широкоэкранный</PresentationFormat>
  <Paragraphs>160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CS616 Chernozem</vt:lpstr>
      <vt:lpstr>Систематическая погрешность заводской калибровки датчиков влажности CS616 в незасолённых почвах разного гранулометрического состава</vt:lpstr>
      <vt:lpstr>Риск завышения влажности в тяжёлых почвах</vt:lpstr>
      <vt:lpstr>Цель и гипотеза исследования</vt:lpstr>
      <vt:lpstr>Объекты и методы</vt:lpstr>
      <vt:lpstr>RMSE ниже 0,02 м³/м³ во всех вариантах</vt:lpstr>
      <vt:lpstr>Погрешность нелинейно растёт с влажностью</vt:lpstr>
      <vt:lpstr>Различия вариантов — около 10 % изменчивости</vt:lpstr>
      <vt:lpstr>Уровень погрешности связан и с МГ, и с ECe</vt:lpstr>
      <vt:lpstr>Плотность: эффект мал и обратен прогнозу CRIM</vt:lpstr>
      <vt:lpstr>Выводы</vt:lpstr>
      <vt:lpstr>Рекомендации для практики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Систематическая погрешность заводской калибровки датчиков CS616</dc:title>
  <dc:subject>PptxGenJS Presentation</dc:subject>
  <dc:creator>Вербицкий А. Ю., Приходько И. А., Болдырева Л. М., Кесафоти Х. Е.</dc:creator>
  <cp:lastModifiedBy>Lena</cp:lastModifiedBy>
  <cp:revision>3</cp:revision>
  <dcterms:created xsi:type="dcterms:W3CDTF">2026-10-07T16:54:30Z</dcterms:created>
  <dcterms:modified xsi:type="dcterms:W3CDTF">2026-10-07T17:10:49Z</dcterms:modified>
</cp:coreProperties>
</file>